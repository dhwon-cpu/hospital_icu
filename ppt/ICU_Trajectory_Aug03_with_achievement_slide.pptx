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8" r:id="rId1"/>
  </p:sldMasterIdLst>
  <p:notesMasterIdLst>
    <p:notesMasterId r:id="rId19"/>
  </p:notesMasterIdLst>
  <p:sldIdLst>
    <p:sldId id="265" r:id="rId2"/>
    <p:sldId id="271" r:id="rId3"/>
    <p:sldId id="283" r:id="rId4"/>
    <p:sldId id="272" r:id="rId5"/>
    <p:sldId id="273" r:id="rId6"/>
    <p:sldId id="274" r:id="rId7"/>
    <p:sldId id="275" r:id="rId8"/>
    <p:sldId id="276" r:id="rId9"/>
    <p:sldId id="277" r:id="rId10"/>
    <p:sldId id="267" r:id="rId11"/>
    <p:sldId id="278" r:id="rId12"/>
    <p:sldId id="261" r:id="rId13"/>
    <p:sldId id="279" r:id="rId14"/>
    <p:sldId id="280" r:id="rId15"/>
    <p:sldId id="281" r:id="rId16"/>
    <p:sldId id="284" r:id="rId17"/>
    <p:sldId id="28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793" autoAdjust="0"/>
    <p:restoredTop sz="92567"/>
  </p:normalViewPr>
  <p:slideViewPr>
    <p:cSldViewPr snapToGrid="0">
      <p:cViewPr varScale="1">
        <p:scale>
          <a:sx n="113" d="100"/>
          <a:sy n="113" d="100"/>
        </p:scale>
        <p:origin x="184" y="2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Silhouette</c:v>
                </c:pt>
              </c:strCache>
            </c:strRef>
          </c:tx>
          <c:spPr>
            <a:solidFill>
              <a:srgbClr val="0E7C7B"/>
            </a:solidFill>
            <a:effectLst/>
          </c:spPr>
          <c:invertIfNegative val="0"/>
          <c:dLbls>
            <c:numFmt formatCode="#,##0" sourceLinked="0"/>
            <c:spPr>
              <a:noFill/>
              <a:ln>
                <a:noFill/>
              </a:ln>
              <a:effectLst/>
            </c:spPr>
            <c:txPr>
              <a:bodyPr/>
              <a:lstStyle/>
              <a:p>
                <a:pPr>
                  <a:defRPr sz="1100" b="0" i="0" u="none" strike="noStrike">
                    <a:solidFill>
                      <a:srgbClr val="0F2A4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k=2</c:v>
                </c:pt>
                <c:pt idx="1">
                  <c:v>k=3</c:v>
                </c:pt>
                <c:pt idx="2">
                  <c:v>k=4</c:v>
                </c:pt>
                <c:pt idx="3">
                  <c:v>k=5</c:v>
                </c:pt>
                <c:pt idx="4">
                  <c:v>k=6</c:v>
                </c:pt>
              </c:strCache>
            </c:strRef>
          </c:cat>
          <c:val>
            <c:numRef>
              <c:f>Sheet1!$B$2:$B$6</c:f>
              <c:numCache>
                <c:formatCode>General</c:formatCode>
                <c:ptCount val="5"/>
                <c:pt idx="0">
                  <c:v>0.38500000000000001</c:v>
                </c:pt>
                <c:pt idx="1">
                  <c:v>0.191</c:v>
                </c:pt>
                <c:pt idx="2">
                  <c:v>0.214</c:v>
                </c:pt>
                <c:pt idx="3">
                  <c:v>0.14299999999999999</c:v>
                </c:pt>
                <c:pt idx="4">
                  <c:v>0.14699999999999999</c:v>
                </c:pt>
              </c:numCache>
            </c:numRef>
          </c:val>
          <c:extLst>
            <c:ext xmlns:c16="http://schemas.microsoft.com/office/drawing/2014/chart" uri="{C3380CC4-5D6E-409C-BE32-E72D297353CC}">
              <c16:uniqueId val="{00000000-537D-094E-9BBB-7D3FF8109AF3}"/>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472"/>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4E8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647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3C0535-08A9-E441-A804-6078D7585AE3}" type="datetimeFigureOut">
              <a:rPr lang="en-US" smtClean="0"/>
              <a:t>8/5/26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01C1BE-C6A4-8C48-B958-A22CC1A2765F}" type="slidenum">
              <a:rPr lang="en-US" smtClean="0"/>
              <a:t>‹#›</a:t>
            </a:fld>
            <a:endParaRPr lang="en-US"/>
          </a:p>
        </p:txBody>
      </p:sp>
    </p:spTree>
    <p:extLst>
      <p:ext uri="{BB962C8B-B14F-4D97-AF65-F5344CB8AC3E}">
        <p14:creationId xmlns:p14="http://schemas.microsoft.com/office/powerpoint/2010/main" val="22678852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SLIDES 1–3 — WHY THIS PROJECT</a:t>
            </a:r>
          </a:p>
          <a:p>
            <a:r>
              <a:rPr lang="en-CA" dirty="0"/>
              <a:t>Good afternoon.</a:t>
            </a:r>
          </a:p>
          <a:p>
            <a:r>
              <a:rPr lang="en-CA" dirty="0"/>
              <a:t>Imagine two ICU patients with the same lactate or creatinine value at this moment. A single result makes them look similar. But one may be recovering while the other is deteriorating. A snapshot tells us where a patient is; it does not always tell us where that patient is going.</a:t>
            </a:r>
          </a:p>
          <a:p>
            <a:r>
              <a:rPr lang="en-CA" dirty="0"/>
              <a:t>Real-time vital signs are essential for minute-to-minute monitoring. Serial laboratory results add a complementary view: the biochemical direction of perfusion, renal function, inflammation, and coagulation. This project was developed to place that direction beside vital-sign monitoring and support earlier recognition of improvement or deterioration.</a:t>
            </a:r>
          </a:p>
          <a:p>
            <a:r>
              <a:rPr lang="en-CA" dirty="0"/>
              <a:t>Using the first twenty-four hours of ICU data, I converted four routine markers—lactate, creatinine, white blood cell count, and platelets—from isolated values into rates of change. I then examined whether these changes formed reproducible patient phenotypes and whether those phenotypes were associated with one-, three-, and seven-day mortality.</a:t>
            </a:r>
          </a:p>
          <a:p>
            <a:r>
              <a:rPr lang="en-CA" dirty="0"/>
              <a:t>SLIDES 4–7 — FROM MIMIC-IV TO THE COHORT</a:t>
            </a:r>
          </a:p>
          <a:p>
            <a:r>
              <a:rPr lang="en-CA" dirty="0"/>
              <a:t>The </a:t>
            </a:r>
            <a:r>
              <a:rPr lang="en-CA" dirty="0" err="1"/>
              <a:t>Streamlit</a:t>
            </a:r>
            <a:r>
              <a:rPr lang="en-CA" dirty="0"/>
              <a:t> application is the visible result, but it rests on extensive data engineering.</a:t>
            </a:r>
          </a:p>
          <a:p>
            <a:r>
              <a:rPr lang="en-CA" dirty="0"/>
              <a:t>I began with the complete MIMIC-IV version 3.1 database in Docker and PostgreSQL—about 433 million chart-event rows and 158 million laboratory-event rows. I validated the schemas, keys, indexes, and row counts. So the project began with the complete relational source, not a prepared sample.</a:t>
            </a:r>
          </a:p>
          <a:p>
            <a:r>
              <a:rPr lang="en-CA" dirty="0"/>
              <a:t>The cohort was defined before modelling: adults aged eighteen or older who remained in the ICU for at least twenty-four hours. This produced 74,829 ICU stays. Requiring lactate and at least two of the other three laboratory trajectories produced 24,799 eligible stays, with 24,034 complete cases for sensitivity analysis.</a:t>
            </a:r>
          </a:p>
          <a:p>
            <a:r>
              <a:rPr lang="en-CA" dirty="0"/>
              <a:t>The first twenty-four hours contained millions of measurements across hundreds of raw laboratory labels. After harmonizing labels, units, timestamps, and repeated measurements, I focused on four interpretable markers: lactate for perfusion, creatinine for renal function, white blood cells for inflammation, and platelets for coagulation.</a:t>
            </a:r>
          </a:p>
          <a:p>
            <a:r>
              <a:rPr lang="en-CA" dirty="0"/>
              <a:t>SLIDES 8–12 — FROM TRAJECTORY TO OUTCOME</a:t>
            </a:r>
          </a:p>
          <a:p>
            <a:r>
              <a:rPr lang="en-CA" dirty="0"/>
              <a:t>For each marker, I created an initial level and a normalized change. Clustering used only the four change variables because the purpose was to group patients by direction, not baseline severity. Initial levels were reintroduced later for adjustment.</a:t>
            </a:r>
          </a:p>
          <a:p>
            <a:r>
              <a:rPr lang="en-CA" dirty="0"/>
              <a:t>K-means clustering was tested from two through six clusters. Two clusters gave the clearest and most reproducible separation. The complete-case sensitivity analysis achieved an adjusted Rand index of 0.998 and 99.97 percent membership agreement, indicating that imputation did not create the structure.</a:t>
            </a:r>
          </a:p>
          <a:p>
            <a:r>
              <a:rPr lang="en-CA" dirty="0"/>
              <a:t>RBT represented 76.3 percent of patients and generally showed lactate clearance with stable or improving secondary markers. RIWT represented 23.7 percent and showed absent lactate clearance with worsening creatinine, white blood cells, and platelets. These are risk patterns, not clinical diagnoses.</a:t>
            </a:r>
          </a:p>
          <a:p>
            <a:r>
              <a:rPr lang="en-CA" dirty="0"/>
              <a:t>I then compared the phenotypes on one-, three-, and seven-day mortality, adjusting for age, sex, ICU type, and initial laboratory levels. RIWT consistently showed higher mortality. At seven days, mortality was 12.11 percent in RIWT versus 8.85 percent in RBT, and the fully adjusted odds ratio was 2.14. The one-day finding remains exploratory because its outcome window overlaps the twenty-four-hour feature window.</a:t>
            </a:r>
          </a:p>
          <a:p>
            <a:r>
              <a:rPr lang="en-CA" dirty="0"/>
              <a:t>SLIDES 13–14 — CONCLUSION</a:t>
            </a:r>
          </a:p>
          <a:p>
            <a:r>
              <a:rPr lang="en-CA" dirty="0"/>
              <a:t>Finally, the validated database, reproducible processing, phenotype model, mortality model, and </a:t>
            </a:r>
            <a:r>
              <a:rPr lang="en-CA" dirty="0" err="1"/>
              <a:t>Streamlit</a:t>
            </a:r>
            <a:r>
              <a:rPr lang="en-CA" dirty="0"/>
              <a:t> interface were connected into one workflow. This tool does not replace clinical judgment or real-time vital monitoring. It places biochemical direction beside the patient’s current physiological state.</a:t>
            </a:r>
          </a:p>
          <a:p>
            <a:r>
              <a:rPr lang="en-CA" dirty="0"/>
              <a:t>The message is simple: two patients can have the same value today but be moving in different directions—and therefore carry different risks. This project turns routine laboratory results into that missing direction of travel. External, multi-centre validation is the next step before clinical deployment. Thank you.</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28634595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Title and end-to-end framing.</a:t>
            </a:r>
          </a:p>
          <a:p>
            <a:endParaRPr/>
          </a:p>
          <a:p>
            <a:r>
              <a:t>[Sources]</a:t>
            </a:r>
          </a:p>
          <a:p>
            <a:r>
              <a:t>- /Users/dh/Desktop/BI_ICU_3_Aug03.pdf (pp. 1–6, 137–141)</a:t>
            </a:r>
          </a:p>
          <a:p>
            <a:r>
              <a:t>- User-provided visual reference image (visual style only)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Business need, trajectory classification, Streamlit inputs, and predicted mortality workflow.</a:t>
            </a:r>
          </a:p>
          <a:p>
            <a:endParaRPr/>
          </a:p>
          <a:p>
            <a:r>
              <a:t>[Sources]</a:t>
            </a:r>
          </a:p>
          <a:p>
            <a:r>
              <a:t>- /Users/dh/Desktop/BI_ICU_3_Aug03.pdf (pp. 1, 137–141)</a:t>
            </a:r>
          </a:p>
          <a:p>
            <a:r>
              <a:t>- User-provided visual reference image (visual style only)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Narrative roadmap; the business-need summary transitions directly into the detailed data-processing work.</a:t>
            </a:r>
          </a:p>
          <a:p>
            <a:endParaRPr/>
          </a:p>
          <a:p>
            <a:r>
              <a:t>[Sources]</a:t>
            </a:r>
          </a:p>
          <a:p>
            <a:r>
              <a:t>- /Users/dh/Desktop/BI_ICU_3_Aug03.pdf (pp. 1–6, 20–90, 137–141)</a:t>
            </a:r>
          </a:p>
          <a:p>
            <a:r>
              <a:t>- User-provided visual reference image (visual style only)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Full MIMIC-IV relational database build, published row-count checks, and demo cross-check.</a:t>
            </a:r>
          </a:p>
          <a:p>
            <a:endParaRPr/>
          </a:p>
          <a:p>
            <a:r>
              <a:t>[Sources]</a:t>
            </a:r>
          </a:p>
          <a:p>
            <a:r>
              <a:t>- /Users/dh/Desktop/BI_ICU_3_Aug03.pdf (pp. 1–2, 20–47, 144–145)</a:t>
            </a:r>
          </a:p>
          <a:p>
            <a:r>
              <a:t>- User-provided visual reference image (visual style only)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Adult ICU cohort, ≥24-hour stay rule, primary trajectory eligibility, and complete-case sensitivity cohort.</a:t>
            </a:r>
          </a:p>
          <a:p>
            <a:endParaRPr/>
          </a:p>
          <a:p>
            <a:r>
              <a:t>[Sources]</a:t>
            </a:r>
          </a:p>
          <a:p>
            <a:r>
              <a:t>- /Users/dh/Desktop/BI_ICU_3_Aug03.pdf (pp. 1–2, 82–90)</a:t>
            </a:r>
          </a:p>
          <a:p>
            <a:r>
              <a:t>- User-provided visual reference image (visual style only)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19.56M measurements, 473 raw labels, eight core variables, and four final biomarkers.</a:t>
            </a:r>
          </a:p>
          <a:p>
            <a:endParaRPr/>
          </a:p>
          <a:p>
            <a:r>
              <a:t>[Sources]</a:t>
            </a:r>
          </a:p>
          <a:p>
            <a:r>
              <a:t>- /Users/dh/Desktop/BI_ICU_3_Aug03.pdf (pp. 1–2, 11–12, 20–80, 144–146)</a:t>
            </a:r>
          </a:p>
          <a:p>
            <a:r>
              <a:t>- User-provided visual reference image (visual style only)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Eight engineered columns, pure four-change clustering inputs, and exact primary/complete cohort availability logic.</a:t>
            </a:r>
          </a:p>
          <a:p>
            <a:endParaRPr/>
          </a:p>
          <a:p>
            <a:r>
              <a:t>[Sources]</a:t>
            </a:r>
          </a:p>
          <a:p>
            <a:r>
              <a:t>- /Users/dh/Desktop/BI_ICU_3_Aug03.pdf (pp. 82–90, 145–146)</a:t>
            </a:r>
          </a:p>
          <a:p>
            <a:r>
              <a:t>- User-provided visual reference image (visual style only)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Pure-trajectory K-means selection, phenotype characterization, and complete-case reproducibility.</a:t>
            </a:r>
          </a:p>
          <a:p>
            <a:endParaRPr/>
          </a:p>
          <a:p>
            <a:r>
              <a:t>[Sources]</a:t>
            </a:r>
          </a:p>
          <a:p>
            <a:r>
              <a:t>- /Users/dh/Desktop/BI_ICU_3_Aug03.pdf (pp. 2–3, 89–118, 145–148)</a:t>
            </a:r>
          </a:p>
          <a:p>
            <a:r>
              <a:t>- User-provided visual reference image (visual style only)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Observed mortality by RBT/RIWT, sequential adjusted models, 1/3/7-day outcomes, and covariate timing.</a:t>
            </a:r>
          </a:p>
          <a:p>
            <a:endParaRPr/>
          </a:p>
          <a:p>
            <a:r>
              <a:t>[Sources]</a:t>
            </a:r>
          </a:p>
          <a:p>
            <a:r>
              <a:t>- /Users/dh/Desktop/BI_ICU_3_Aug03.pdf (pp. 3–5, 13–17, 137–149)</a:t>
            </a:r>
          </a:p>
          <a:p>
            <a:r>
              <a:t>- User-provided visual reference image (visual style only)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PostgreSQL-to-Python-to-Streamlit infrastructure, app inputs, coefficients, and recommended operational controls.</a:t>
            </a:r>
          </a:p>
          <a:p>
            <a:endParaRPr/>
          </a:p>
          <a:p>
            <a:r>
              <a:t>[Sources]</a:t>
            </a:r>
          </a:p>
          <a:p>
            <a:r>
              <a:t>- /Users/dh/Desktop/BI_ICU_3_Aug03.pdf (pp. 4–5, 137–149)</a:t>
            </a:r>
          </a:p>
          <a:p>
            <a:r>
              <a:t>- User-provided visual reference image (visual style only)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Final synthesis of the four connected stages and the engineering effort beneath the Streamlit output.</a:t>
            </a:r>
          </a:p>
          <a:p>
            <a:endParaRPr/>
          </a:p>
          <a:p>
            <a:r>
              <a:t>[Sources]</a:t>
            </a:r>
          </a:p>
          <a:p>
            <a:r>
              <a:t>- /Users/dh/Desktop/BI_ICU_3_Aug03.pdf (pp. 1–6, 20–149)</a:t>
            </a:r>
          </a:p>
          <a:p>
            <a:r>
              <a:t>- User-provided visual reference image (visual style only)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EF58D-B62B-40BB-83AA-9D07CFC4ED26}"/>
              </a:ext>
            </a:extLst>
          </p:cNvPr>
          <p:cNvSpPr>
            <a:spLocks noGrp="1"/>
          </p:cNvSpPr>
          <p:nvPr>
            <p:ph type="ctrTitle"/>
          </p:nvPr>
        </p:nvSpPr>
        <p:spPr>
          <a:xfrm>
            <a:off x="612648" y="557783"/>
            <a:ext cx="10969752" cy="3130807"/>
          </a:xfrm>
        </p:spPr>
        <p:txBody>
          <a:bodyPr anchor="b">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66AC06D3-F571-4213-A2A4-6A1915120CED}"/>
              </a:ext>
            </a:extLst>
          </p:cNvPr>
          <p:cNvSpPr>
            <a:spLocks noGrp="1"/>
          </p:cNvSpPr>
          <p:nvPr>
            <p:ph type="subTitle" idx="1"/>
          </p:nvPr>
        </p:nvSpPr>
        <p:spPr>
          <a:xfrm>
            <a:off x="612648" y="3902206"/>
            <a:ext cx="10969752" cy="2240529"/>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75A10580-AD31-4B8F-8448-55A666AC1725}"/>
              </a:ext>
            </a:extLst>
          </p:cNvPr>
          <p:cNvSpPr>
            <a:spLocks noGrp="1"/>
          </p:cNvSpPr>
          <p:nvPr>
            <p:ph type="dt" sz="half" idx="10"/>
          </p:nvPr>
        </p:nvSpPr>
        <p:spPr/>
        <p:txBody>
          <a:bodyPr/>
          <a:lstStyle/>
          <a:p>
            <a:fld id="{79C5A860-F335-4252-AA00-24FB67ED2982}" type="datetime1">
              <a:rPr lang="en-US" smtClean="0"/>
              <a:t>8/5/26</a:t>
            </a:fld>
            <a:endParaRPr lang="en-US"/>
          </a:p>
        </p:txBody>
      </p:sp>
      <p:sp>
        <p:nvSpPr>
          <p:cNvPr id="5" name="Footer Placeholder 4">
            <a:extLst>
              <a:ext uri="{FF2B5EF4-FFF2-40B4-BE49-F238E27FC236}">
                <a16:creationId xmlns:a16="http://schemas.microsoft.com/office/drawing/2014/main" id="{15EC99C8-515A-4FEA-9CD2-6D0BF46CF6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72AF1B-1868-4C05-B6C3-9EBF29A50ADD}"/>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9567201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6D384-B2C5-42A4-9774-A931C39BA5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8D736C-5FCC-43BC-B824-A90F2CC5D1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4A3A50-B922-45BE-945D-7ED3EBD83F7C}"/>
              </a:ext>
            </a:extLst>
          </p:cNvPr>
          <p:cNvSpPr>
            <a:spLocks noGrp="1"/>
          </p:cNvSpPr>
          <p:nvPr>
            <p:ph type="dt" sz="half" idx="10"/>
          </p:nvPr>
        </p:nvSpPr>
        <p:spPr/>
        <p:txBody>
          <a:bodyPr/>
          <a:lstStyle/>
          <a:p>
            <a:fld id="{D04BC802-30E3-4658-9CCA-F873646FEC67}" type="datetime1">
              <a:rPr lang="en-US" smtClean="0"/>
              <a:t>8/5/26</a:t>
            </a:fld>
            <a:endParaRPr lang="en-US"/>
          </a:p>
        </p:txBody>
      </p:sp>
      <p:sp>
        <p:nvSpPr>
          <p:cNvPr id="5" name="Footer Placeholder 4">
            <a:extLst>
              <a:ext uri="{FF2B5EF4-FFF2-40B4-BE49-F238E27FC236}">
                <a16:creationId xmlns:a16="http://schemas.microsoft.com/office/drawing/2014/main" id="{64241F78-20DE-4D53-BB25-79E5C4E1AB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643084-C669-4FDF-87D4-F22D36BB827D}"/>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7825131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6C559-800C-489A-9174-7901F92B0D47}"/>
              </a:ext>
            </a:extLst>
          </p:cNvPr>
          <p:cNvSpPr>
            <a:spLocks noGrp="1"/>
          </p:cNvSpPr>
          <p:nvPr>
            <p:ph type="title"/>
          </p:nvPr>
        </p:nvSpPr>
        <p:spPr>
          <a:xfrm>
            <a:off x="612648" y="557784"/>
            <a:ext cx="10969752" cy="3146400"/>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142B5C3-320B-4CFD-B6A7-A28C7E435B41}"/>
              </a:ext>
            </a:extLst>
          </p:cNvPr>
          <p:cNvSpPr>
            <a:spLocks noGrp="1"/>
          </p:cNvSpPr>
          <p:nvPr>
            <p:ph type="body" idx="1"/>
          </p:nvPr>
        </p:nvSpPr>
        <p:spPr>
          <a:xfrm>
            <a:off x="612648" y="3902207"/>
            <a:ext cx="10969752" cy="2187443"/>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FCA372-3F42-4113-A73B-5FDCF93CB5BC}"/>
              </a:ext>
            </a:extLst>
          </p:cNvPr>
          <p:cNvSpPr>
            <a:spLocks noGrp="1"/>
          </p:cNvSpPr>
          <p:nvPr>
            <p:ph type="dt" sz="half" idx="10"/>
          </p:nvPr>
        </p:nvSpPr>
        <p:spPr/>
        <p:txBody>
          <a:bodyPr/>
          <a:lstStyle/>
          <a:p>
            <a:fld id="{0AB227A3-19CE-4153-81CE-64EB7AB094B3}" type="datetime1">
              <a:rPr lang="en-US" smtClean="0"/>
              <a:t>8/5/26</a:t>
            </a:fld>
            <a:endParaRPr lang="en-US"/>
          </a:p>
        </p:txBody>
      </p:sp>
      <p:sp>
        <p:nvSpPr>
          <p:cNvPr id="5" name="Footer Placeholder 4">
            <a:extLst>
              <a:ext uri="{FF2B5EF4-FFF2-40B4-BE49-F238E27FC236}">
                <a16:creationId xmlns:a16="http://schemas.microsoft.com/office/drawing/2014/main" id="{F0DA1197-0C78-4878-B086-5D206EA491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B83D8-FD42-44FF-AA20-944A519CC0B2}"/>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5286144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685AA-B5C7-4E3D-85FA-94F3C73E59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3AFEEA-6F3F-4630-A950-61C05D2FAFBC}"/>
              </a:ext>
            </a:extLst>
          </p:cNvPr>
          <p:cNvSpPr>
            <a:spLocks noGrp="1"/>
          </p:cNvSpPr>
          <p:nvPr>
            <p:ph sz="half" idx="1"/>
          </p:nvPr>
        </p:nvSpPr>
        <p:spPr>
          <a:xfrm>
            <a:off x="609600" y="2081369"/>
            <a:ext cx="5410200" cy="40955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0AC36817-B869-4D19-9EE8-A3166B0E1591}"/>
              </a:ext>
            </a:extLst>
          </p:cNvPr>
          <p:cNvSpPr>
            <a:spLocks noGrp="1"/>
          </p:cNvSpPr>
          <p:nvPr>
            <p:ph sz="half" idx="2"/>
          </p:nvPr>
        </p:nvSpPr>
        <p:spPr>
          <a:xfrm>
            <a:off x="6172202" y="2081369"/>
            <a:ext cx="5410200" cy="40955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FC074146-2374-4321-AEBB-3E9B09D7796D}"/>
              </a:ext>
            </a:extLst>
          </p:cNvPr>
          <p:cNvSpPr>
            <a:spLocks noGrp="1"/>
          </p:cNvSpPr>
          <p:nvPr>
            <p:ph type="dt" sz="half" idx="10"/>
          </p:nvPr>
        </p:nvSpPr>
        <p:spPr/>
        <p:txBody>
          <a:bodyPr/>
          <a:lstStyle/>
          <a:p>
            <a:fld id="{B819A100-10F6-477E-8847-29D479EF1C92}" type="datetime1">
              <a:rPr lang="en-US" smtClean="0"/>
              <a:t>8/5/26</a:t>
            </a:fld>
            <a:endParaRPr lang="en-US"/>
          </a:p>
        </p:txBody>
      </p:sp>
      <p:sp>
        <p:nvSpPr>
          <p:cNvPr id="6" name="Footer Placeholder 5">
            <a:extLst>
              <a:ext uri="{FF2B5EF4-FFF2-40B4-BE49-F238E27FC236}">
                <a16:creationId xmlns:a16="http://schemas.microsoft.com/office/drawing/2014/main" id="{2C42337B-B902-4DC2-BB94-02B8A75492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4AD585-B83C-4ECF-AF42-8DDF6996B79D}"/>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1952606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A9ADB-3495-481F-BB4E-9C7128B17B1F}"/>
              </a:ext>
            </a:extLst>
          </p:cNvPr>
          <p:cNvSpPr>
            <a:spLocks noGrp="1"/>
          </p:cNvSpPr>
          <p:nvPr>
            <p:ph type="title"/>
          </p:nvPr>
        </p:nvSpPr>
        <p:spPr>
          <a:xfrm>
            <a:off x="609600" y="365125"/>
            <a:ext cx="10745788"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ED6FF4C-26CB-4281-A2F7-6CBE45186791}"/>
              </a:ext>
            </a:extLst>
          </p:cNvPr>
          <p:cNvSpPr>
            <a:spLocks noGrp="1"/>
          </p:cNvSpPr>
          <p:nvPr>
            <p:ph type="body" idx="1"/>
          </p:nvPr>
        </p:nvSpPr>
        <p:spPr>
          <a:xfrm>
            <a:off x="609600" y="1895096"/>
            <a:ext cx="5387975" cy="823912"/>
          </a:xfrm>
        </p:spPr>
        <p:txBody>
          <a:bodyPr anchor="b"/>
          <a:lstStyle>
            <a:lvl1pPr marL="0" indent="0">
              <a:buNone/>
              <a:defRPr sz="24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2E72A9-F222-45B4-9355-C04C05864139}"/>
              </a:ext>
            </a:extLst>
          </p:cNvPr>
          <p:cNvSpPr>
            <a:spLocks noGrp="1"/>
          </p:cNvSpPr>
          <p:nvPr>
            <p:ph sz="half" idx="2"/>
          </p:nvPr>
        </p:nvSpPr>
        <p:spPr>
          <a:xfrm>
            <a:off x="609600" y="2842211"/>
            <a:ext cx="5387975" cy="33474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4A699F6E-77AD-4EBC-BAF9-5A43CDEC41E2}"/>
              </a:ext>
            </a:extLst>
          </p:cNvPr>
          <p:cNvSpPr>
            <a:spLocks noGrp="1"/>
          </p:cNvSpPr>
          <p:nvPr>
            <p:ph type="body" sz="quarter" idx="3"/>
          </p:nvPr>
        </p:nvSpPr>
        <p:spPr>
          <a:xfrm>
            <a:off x="6167890" y="1895096"/>
            <a:ext cx="5414510" cy="823912"/>
          </a:xfrm>
        </p:spPr>
        <p:txBody>
          <a:bodyPr anchor="b"/>
          <a:lstStyle>
            <a:lvl1pPr marL="0" indent="0">
              <a:buNone/>
              <a:defRPr sz="24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F77677-7169-4591-B047-0678815F48E6}"/>
              </a:ext>
            </a:extLst>
          </p:cNvPr>
          <p:cNvSpPr>
            <a:spLocks noGrp="1"/>
          </p:cNvSpPr>
          <p:nvPr>
            <p:ph sz="quarter" idx="4"/>
          </p:nvPr>
        </p:nvSpPr>
        <p:spPr>
          <a:xfrm>
            <a:off x="6167890" y="2842211"/>
            <a:ext cx="5414510" cy="33474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482A6EB-0285-4FA4-A00C-A7F716084FD3}"/>
              </a:ext>
            </a:extLst>
          </p:cNvPr>
          <p:cNvSpPr>
            <a:spLocks noGrp="1"/>
          </p:cNvSpPr>
          <p:nvPr>
            <p:ph type="dt" sz="half" idx="10"/>
          </p:nvPr>
        </p:nvSpPr>
        <p:spPr/>
        <p:txBody>
          <a:bodyPr/>
          <a:lstStyle/>
          <a:p>
            <a:fld id="{5DF128AB-198A-495F-8475-FDB360C9873F}" type="datetime1">
              <a:rPr lang="en-US" smtClean="0"/>
              <a:t>8/5/26</a:t>
            </a:fld>
            <a:endParaRPr lang="en-US"/>
          </a:p>
        </p:txBody>
      </p:sp>
      <p:sp>
        <p:nvSpPr>
          <p:cNvPr id="8" name="Footer Placeholder 7">
            <a:extLst>
              <a:ext uri="{FF2B5EF4-FFF2-40B4-BE49-F238E27FC236}">
                <a16:creationId xmlns:a16="http://schemas.microsoft.com/office/drawing/2014/main" id="{86D39526-82B8-402C-8A2B-82EF8F3F3A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5EC9E6-6FF1-4541-9CB1-A2FF9D852169}"/>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7526317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70F54-6CED-4251-A0A6-32CCD1213F8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572C8E6-49D6-46A5-8DC3-B0D8E683C9CB}"/>
              </a:ext>
            </a:extLst>
          </p:cNvPr>
          <p:cNvSpPr>
            <a:spLocks noGrp="1"/>
          </p:cNvSpPr>
          <p:nvPr>
            <p:ph type="dt" sz="half" idx="10"/>
          </p:nvPr>
        </p:nvSpPr>
        <p:spPr/>
        <p:txBody>
          <a:bodyPr/>
          <a:lstStyle/>
          <a:p>
            <a:fld id="{021A235E-F8FD-479F-9FC7-18BE84110877}" type="datetime1">
              <a:rPr lang="en-US" smtClean="0"/>
              <a:t>8/5/26</a:t>
            </a:fld>
            <a:endParaRPr lang="en-US"/>
          </a:p>
        </p:txBody>
      </p:sp>
      <p:sp>
        <p:nvSpPr>
          <p:cNvPr id="4" name="Footer Placeholder 3">
            <a:extLst>
              <a:ext uri="{FF2B5EF4-FFF2-40B4-BE49-F238E27FC236}">
                <a16:creationId xmlns:a16="http://schemas.microsoft.com/office/drawing/2014/main" id="{AB883CBA-77CD-4490-A5F3-BAA8FC254A3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EA5FF79-61B6-4693-8547-95B1F2F7A194}"/>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3606944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BDCB94-13E9-41CB-88F0-D30A1791DCBA}"/>
              </a:ext>
            </a:extLst>
          </p:cNvPr>
          <p:cNvSpPr>
            <a:spLocks noGrp="1"/>
          </p:cNvSpPr>
          <p:nvPr>
            <p:ph type="dt" sz="half" idx="10"/>
          </p:nvPr>
        </p:nvSpPr>
        <p:spPr/>
        <p:txBody>
          <a:bodyPr/>
          <a:lstStyle/>
          <a:p>
            <a:fld id="{E890F09B-68DA-462E-9DB4-4C9ADAB8CBCC}" type="datetime1">
              <a:rPr lang="en-US" smtClean="0"/>
              <a:t>8/5/26</a:t>
            </a:fld>
            <a:endParaRPr lang="en-US"/>
          </a:p>
        </p:txBody>
      </p:sp>
      <p:sp>
        <p:nvSpPr>
          <p:cNvPr id="3" name="Footer Placeholder 2">
            <a:extLst>
              <a:ext uri="{FF2B5EF4-FFF2-40B4-BE49-F238E27FC236}">
                <a16:creationId xmlns:a16="http://schemas.microsoft.com/office/drawing/2014/main" id="{244795A4-736C-426D-8559-5AD5892756A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B2A2ACD-17F3-4C16-8E77-86EC92CCD552}"/>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562979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FCB2E-B68A-48F9-8B20-CDED818FB6E0}"/>
              </a:ext>
            </a:extLst>
          </p:cNvPr>
          <p:cNvSpPr>
            <a:spLocks noGrp="1"/>
          </p:cNvSpPr>
          <p:nvPr>
            <p:ph type="title"/>
          </p:nvPr>
        </p:nvSpPr>
        <p:spPr>
          <a:xfrm>
            <a:off x="612649" y="457199"/>
            <a:ext cx="4970822" cy="2660205"/>
          </a:xfrm>
        </p:spPr>
        <p:txBody>
          <a:bodyPr anchor="b">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D081C83-64B5-4BFD-A163-75C2EA7F8973}"/>
              </a:ext>
            </a:extLst>
          </p:cNvPr>
          <p:cNvSpPr>
            <a:spLocks noGrp="1"/>
          </p:cNvSpPr>
          <p:nvPr>
            <p:ph idx="1"/>
          </p:nvPr>
        </p:nvSpPr>
        <p:spPr>
          <a:xfrm>
            <a:off x="6096000" y="457200"/>
            <a:ext cx="5483352" cy="5744003"/>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25D44AD-E361-48A3-936D-DDA0D5144510}"/>
              </a:ext>
            </a:extLst>
          </p:cNvPr>
          <p:cNvSpPr>
            <a:spLocks noGrp="1"/>
          </p:cNvSpPr>
          <p:nvPr>
            <p:ph type="body" sz="half" idx="2"/>
          </p:nvPr>
        </p:nvSpPr>
        <p:spPr>
          <a:xfrm>
            <a:off x="612649" y="3329989"/>
            <a:ext cx="4970822" cy="2871216"/>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EED06C-E016-489C-8863-EA1BE998BC48}"/>
              </a:ext>
            </a:extLst>
          </p:cNvPr>
          <p:cNvSpPr>
            <a:spLocks noGrp="1"/>
          </p:cNvSpPr>
          <p:nvPr>
            <p:ph type="dt" sz="half" idx="10"/>
          </p:nvPr>
        </p:nvSpPr>
        <p:spPr/>
        <p:txBody>
          <a:bodyPr/>
          <a:lstStyle/>
          <a:p>
            <a:fld id="{17AC4E36-FABE-47EB-AA7F-C19A93824617}" type="datetime1">
              <a:rPr lang="en-US" smtClean="0"/>
              <a:t>8/5/26</a:t>
            </a:fld>
            <a:endParaRPr lang="en-US"/>
          </a:p>
        </p:txBody>
      </p:sp>
      <p:sp>
        <p:nvSpPr>
          <p:cNvPr id="6" name="Footer Placeholder 5">
            <a:extLst>
              <a:ext uri="{FF2B5EF4-FFF2-40B4-BE49-F238E27FC236}">
                <a16:creationId xmlns:a16="http://schemas.microsoft.com/office/drawing/2014/main" id="{359161F0-D253-49A7-9A08-7A0A228146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42C61A-B326-40A7-A286-90D0544BBC34}"/>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40742086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2DF6F-D00F-4CE4-8701-B0062734611B}"/>
              </a:ext>
            </a:extLst>
          </p:cNvPr>
          <p:cNvSpPr>
            <a:spLocks noGrp="1"/>
          </p:cNvSpPr>
          <p:nvPr>
            <p:ph type="title"/>
          </p:nvPr>
        </p:nvSpPr>
        <p:spPr>
          <a:xfrm>
            <a:off x="612649" y="457199"/>
            <a:ext cx="4970822" cy="2667485"/>
          </a:xfrm>
        </p:spPr>
        <p:txBody>
          <a:bodyPr anchor="b">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0A0FF7AB-F851-4425-8407-996C920E6847}"/>
              </a:ext>
            </a:extLst>
          </p:cNvPr>
          <p:cNvSpPr>
            <a:spLocks noGrp="1"/>
          </p:cNvSpPr>
          <p:nvPr>
            <p:ph type="pic" idx="1"/>
          </p:nvPr>
        </p:nvSpPr>
        <p:spPr>
          <a:xfrm>
            <a:off x="6096000" y="457199"/>
            <a:ext cx="5483352" cy="540385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A2ED6CF5-154F-4615-8CDC-E2BFA61FABE2}"/>
              </a:ext>
            </a:extLst>
          </p:cNvPr>
          <p:cNvSpPr>
            <a:spLocks noGrp="1"/>
          </p:cNvSpPr>
          <p:nvPr>
            <p:ph type="body" sz="half" idx="2"/>
          </p:nvPr>
        </p:nvSpPr>
        <p:spPr>
          <a:xfrm>
            <a:off x="612649" y="3322708"/>
            <a:ext cx="4970822" cy="254628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A5C400-0D13-495F-8C4E-EC3CDF5F22AF}"/>
              </a:ext>
            </a:extLst>
          </p:cNvPr>
          <p:cNvSpPr>
            <a:spLocks noGrp="1"/>
          </p:cNvSpPr>
          <p:nvPr>
            <p:ph type="dt" sz="half" idx="10"/>
          </p:nvPr>
        </p:nvSpPr>
        <p:spPr/>
        <p:txBody>
          <a:bodyPr/>
          <a:lstStyle/>
          <a:p>
            <a:fld id="{F199CE6B-5DE6-4A2D-B72E-5E8969F9F56F}" type="datetime1">
              <a:rPr lang="en-US" smtClean="0"/>
              <a:t>8/5/26</a:t>
            </a:fld>
            <a:endParaRPr lang="en-US"/>
          </a:p>
        </p:txBody>
      </p:sp>
      <p:sp>
        <p:nvSpPr>
          <p:cNvPr id="6" name="Footer Placeholder 5">
            <a:extLst>
              <a:ext uri="{FF2B5EF4-FFF2-40B4-BE49-F238E27FC236}">
                <a16:creationId xmlns:a16="http://schemas.microsoft.com/office/drawing/2014/main" id="{4CB290D7-98AC-45E5-A7D6-73520AFC73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94276C-2BD2-4C4F-AC04-DD3D73768A5D}"/>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0002857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170B0-C1C5-4976-80E8-6B4F90EB362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097593EE-493E-4BCE-8992-24CA63E1E0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80919F-FDDD-42FB-8422-A0665D558D00}"/>
              </a:ext>
            </a:extLst>
          </p:cNvPr>
          <p:cNvSpPr>
            <a:spLocks noGrp="1"/>
          </p:cNvSpPr>
          <p:nvPr>
            <p:ph type="dt" sz="half" idx="10"/>
          </p:nvPr>
        </p:nvSpPr>
        <p:spPr/>
        <p:txBody>
          <a:bodyPr/>
          <a:lstStyle/>
          <a:p>
            <a:fld id="{46AB1048-0047-48CA-88BA-D69B470942CF}" type="datetime1">
              <a:rPr lang="en-US" smtClean="0"/>
              <a:t>8/5/26</a:t>
            </a:fld>
            <a:endParaRPr lang="en-US"/>
          </a:p>
        </p:txBody>
      </p:sp>
      <p:sp>
        <p:nvSpPr>
          <p:cNvPr id="5" name="Footer Placeholder 4">
            <a:extLst>
              <a:ext uri="{FF2B5EF4-FFF2-40B4-BE49-F238E27FC236}">
                <a16:creationId xmlns:a16="http://schemas.microsoft.com/office/drawing/2014/main" id="{A216D38A-35F8-4667-A1F4-49644471E9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9CC230-78B7-487B-9C95-CB00868F6F1F}"/>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8086004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4CB826-D9AA-4689-B8C0-38D999F0D065}"/>
              </a:ext>
            </a:extLst>
          </p:cNvPr>
          <p:cNvSpPr>
            <a:spLocks noGrp="1"/>
          </p:cNvSpPr>
          <p:nvPr>
            <p:ph type="title" orient="vert"/>
          </p:nvPr>
        </p:nvSpPr>
        <p:spPr>
          <a:xfrm>
            <a:off x="8724900" y="557784"/>
            <a:ext cx="2854452" cy="5643420"/>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A61F1CDD-16FB-45E0-9887-24374C567647}"/>
              </a:ext>
            </a:extLst>
          </p:cNvPr>
          <p:cNvSpPr>
            <a:spLocks noGrp="1"/>
          </p:cNvSpPr>
          <p:nvPr>
            <p:ph type="body" orient="vert" idx="1"/>
          </p:nvPr>
        </p:nvSpPr>
        <p:spPr>
          <a:xfrm>
            <a:off x="612648" y="557784"/>
            <a:ext cx="7734300" cy="56434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846397-BBD2-4426-B1F5-FD6EA3CDC866}"/>
              </a:ext>
            </a:extLst>
          </p:cNvPr>
          <p:cNvSpPr>
            <a:spLocks noGrp="1"/>
          </p:cNvSpPr>
          <p:nvPr>
            <p:ph type="dt" sz="half" idx="10"/>
          </p:nvPr>
        </p:nvSpPr>
        <p:spPr/>
        <p:txBody>
          <a:bodyPr/>
          <a:lstStyle/>
          <a:p>
            <a:fld id="{5BD83879-648C-49A9-81A2-0EF5946532D0}" type="datetime1">
              <a:rPr lang="en-US" smtClean="0"/>
              <a:t>8/5/26</a:t>
            </a:fld>
            <a:endParaRPr lang="en-US"/>
          </a:p>
        </p:txBody>
      </p:sp>
      <p:sp>
        <p:nvSpPr>
          <p:cNvPr id="5" name="Footer Placeholder 4">
            <a:extLst>
              <a:ext uri="{FF2B5EF4-FFF2-40B4-BE49-F238E27FC236}">
                <a16:creationId xmlns:a16="http://schemas.microsoft.com/office/drawing/2014/main" id="{FDAB91E4-73D0-4ACD-8F54-00EE6FB1D6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B28C61-59FE-44D6-A7D6-AAD292232778}"/>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3427539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6420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5044197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42E603F-28B7-4831-BF23-65FBAB13D5FB}"/>
              </a:ext>
            </a:extLst>
          </p:cNvPr>
          <p:cNvSpPr/>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reeform: Shape 7">
            <a:extLst>
              <a:ext uri="{FF2B5EF4-FFF2-40B4-BE49-F238E27FC236}">
                <a16:creationId xmlns:a16="http://schemas.microsoft.com/office/drawing/2014/main" id="{4D39700F-2B10-4402-A7DD-06EE2245880D}"/>
              </a:ext>
              <a:ext uri="{C183D7F6-B498-43B3-948B-1728B52AA6E4}">
                <adec:decorative xmlns:adec="http://schemas.microsoft.com/office/drawing/2017/decorative" val="1"/>
              </a:ext>
            </a:extLst>
          </p:cNvPr>
          <p:cNvSpPr/>
          <p:nvPr/>
        </p:nvSpPr>
        <p:spPr>
          <a:xfrm>
            <a:off x="-1" y="232968"/>
            <a:ext cx="9560477" cy="6625032"/>
          </a:xfrm>
          <a:custGeom>
            <a:avLst/>
            <a:gdLst>
              <a:gd name="connsiteX0" fmla="*/ 8831314 w 9263816"/>
              <a:gd name="connsiteY0" fmla="*/ 5943878 h 6858000"/>
              <a:gd name="connsiteX1" fmla="*/ 9179783 w 9263816"/>
              <a:gd name="connsiteY1" fmla="*/ 6086141 h 6858000"/>
              <a:gd name="connsiteX2" fmla="*/ 9260887 w 9263816"/>
              <a:gd name="connsiteY2" fmla="*/ 6279156 h 6858000"/>
              <a:gd name="connsiteX3" fmla="*/ 8925621 w 9263816"/>
              <a:gd name="connsiteY3" fmla="*/ 6708712 h 6858000"/>
              <a:gd name="connsiteX4" fmla="*/ 8496050 w 9263816"/>
              <a:gd name="connsiteY4" fmla="*/ 6373449 h 6858000"/>
              <a:gd name="connsiteX5" fmla="*/ 8831314 w 9263816"/>
              <a:gd name="connsiteY5" fmla="*/ 5943878 h 6858000"/>
              <a:gd name="connsiteX6" fmla="*/ 7397485 w 9263816"/>
              <a:gd name="connsiteY6" fmla="*/ 5931706 h 6858000"/>
              <a:gd name="connsiteX7" fmla="*/ 7917779 w 9263816"/>
              <a:gd name="connsiteY7" fmla="*/ 6191864 h 6858000"/>
              <a:gd name="connsiteX8" fmla="*/ 8013467 w 9263816"/>
              <a:gd name="connsiteY8" fmla="*/ 6375784 h 6858000"/>
              <a:gd name="connsiteX9" fmla="*/ 8021879 w 9263816"/>
              <a:gd name="connsiteY9" fmla="*/ 6753751 h 6858000"/>
              <a:gd name="connsiteX10" fmla="*/ 7981316 w 9263816"/>
              <a:gd name="connsiteY10" fmla="*/ 6858000 h 6858000"/>
              <a:gd name="connsiteX11" fmla="*/ 6819486 w 9263816"/>
              <a:gd name="connsiteY11" fmla="*/ 6858000 h 6858000"/>
              <a:gd name="connsiteX12" fmla="*/ 6785199 w 9263816"/>
              <a:gd name="connsiteY12" fmla="*/ 6781101 h 6858000"/>
              <a:gd name="connsiteX13" fmla="*/ 7196747 w 9263816"/>
              <a:gd name="connsiteY13" fmla="*/ 5964309 h 6858000"/>
              <a:gd name="connsiteX14" fmla="*/ 7397485 w 9263816"/>
              <a:gd name="connsiteY14" fmla="*/ 5931706 h 6858000"/>
              <a:gd name="connsiteX15" fmla="*/ 1505570 w 9263816"/>
              <a:gd name="connsiteY15" fmla="*/ 227178 h 6858000"/>
              <a:gd name="connsiteX16" fmla="*/ 2026489 w 9263816"/>
              <a:gd name="connsiteY16" fmla="*/ 392370 h 6858000"/>
              <a:gd name="connsiteX17" fmla="*/ 2444553 w 9263816"/>
              <a:gd name="connsiteY17" fmla="*/ 1654853 h 6858000"/>
              <a:gd name="connsiteX18" fmla="*/ 3183153 w 9263816"/>
              <a:gd name="connsiteY18" fmla="*/ 2116208 h 6858000"/>
              <a:gd name="connsiteX19" fmla="*/ 4288384 w 9263816"/>
              <a:gd name="connsiteY19" fmla="*/ 1291908 h 6858000"/>
              <a:gd name="connsiteX20" fmla="*/ 5472602 w 9263816"/>
              <a:gd name="connsiteY20" fmla="*/ 1697818 h 6858000"/>
              <a:gd name="connsiteX21" fmla="*/ 5844697 w 9263816"/>
              <a:gd name="connsiteY21" fmla="*/ 3444791 h 6858000"/>
              <a:gd name="connsiteX22" fmla="*/ 6715674 w 9263816"/>
              <a:gd name="connsiteY22" fmla="*/ 4065208 h 6858000"/>
              <a:gd name="connsiteX23" fmla="*/ 8130429 w 9263816"/>
              <a:gd name="connsiteY23" fmla="*/ 4101787 h 6858000"/>
              <a:gd name="connsiteX24" fmla="*/ 8624630 w 9263816"/>
              <a:gd name="connsiteY24" fmla="*/ 4686202 h 6858000"/>
              <a:gd name="connsiteX25" fmla="*/ 8623843 w 9263816"/>
              <a:gd name="connsiteY25" fmla="*/ 4685749 h 6858000"/>
              <a:gd name="connsiteX26" fmla="*/ 8646859 w 9263816"/>
              <a:gd name="connsiteY26" fmla="*/ 4835156 h 6858000"/>
              <a:gd name="connsiteX27" fmla="*/ 8079403 w 9263816"/>
              <a:gd name="connsiteY27" fmla="*/ 5661624 h 6858000"/>
              <a:gd name="connsiteX28" fmla="*/ 6833105 w 9263816"/>
              <a:gd name="connsiteY28" fmla="*/ 5397208 h 6858000"/>
              <a:gd name="connsiteX29" fmla="*/ 5900832 w 9263816"/>
              <a:gd name="connsiteY29" fmla="*/ 5944462 h 6858000"/>
              <a:gd name="connsiteX30" fmla="*/ 6067212 w 9263816"/>
              <a:gd name="connsiteY30" fmla="*/ 6811916 h 6858000"/>
              <a:gd name="connsiteX31" fmla="*/ 6089565 w 9263816"/>
              <a:gd name="connsiteY31" fmla="*/ 6858000 h 6858000"/>
              <a:gd name="connsiteX32" fmla="*/ 0 w 9263816"/>
              <a:gd name="connsiteY32" fmla="*/ 6858000 h 6858000"/>
              <a:gd name="connsiteX33" fmla="*/ 0 w 9263816"/>
              <a:gd name="connsiteY33" fmla="*/ 2181377 h 6858000"/>
              <a:gd name="connsiteX34" fmla="*/ 73069 w 9263816"/>
              <a:gd name="connsiteY34" fmla="*/ 2215839 h 6858000"/>
              <a:gd name="connsiteX35" fmla="*/ 335445 w 9263816"/>
              <a:gd name="connsiteY35" fmla="*/ 2237140 h 6858000"/>
              <a:gd name="connsiteX36" fmla="*/ 752878 w 9263816"/>
              <a:gd name="connsiteY36" fmla="*/ 1445285 h 6858000"/>
              <a:gd name="connsiteX37" fmla="*/ 1202551 w 9263816"/>
              <a:gd name="connsiteY37" fmla="*/ 314229 h 6858000"/>
              <a:gd name="connsiteX38" fmla="*/ 1505570 w 9263816"/>
              <a:gd name="connsiteY38" fmla="*/ 227178 h 6858000"/>
              <a:gd name="connsiteX39" fmla="*/ 3142509 w 9263816"/>
              <a:gd name="connsiteY39" fmla="*/ 68854 h 6858000"/>
              <a:gd name="connsiteX40" fmla="*/ 3490978 w 9263816"/>
              <a:gd name="connsiteY40" fmla="*/ 211117 h 6858000"/>
              <a:gd name="connsiteX41" fmla="*/ 3572083 w 9263816"/>
              <a:gd name="connsiteY41" fmla="*/ 404131 h 6858000"/>
              <a:gd name="connsiteX42" fmla="*/ 3236814 w 9263816"/>
              <a:gd name="connsiteY42" fmla="*/ 833688 h 6858000"/>
              <a:gd name="connsiteX43" fmla="*/ 2807245 w 9263816"/>
              <a:gd name="connsiteY43" fmla="*/ 498425 h 6858000"/>
              <a:gd name="connsiteX44" fmla="*/ 3142509 w 9263816"/>
              <a:gd name="connsiteY44" fmla="*/ 68854 h 6858000"/>
              <a:gd name="connsiteX45" fmla="*/ 0 w 9263816"/>
              <a:gd name="connsiteY45" fmla="*/ 0 h 6858000"/>
              <a:gd name="connsiteX46" fmla="*/ 39858 w 9263816"/>
              <a:gd name="connsiteY46" fmla="*/ 0 h 6858000"/>
              <a:gd name="connsiteX47" fmla="*/ 65022 w 9263816"/>
              <a:gd name="connsiteY47" fmla="*/ 5834 h 6858000"/>
              <a:gd name="connsiteX48" fmla="*/ 389258 w 9263816"/>
              <a:gd name="connsiteY48" fmla="*/ 235630 h 6858000"/>
              <a:gd name="connsiteX49" fmla="*/ 485484 w 9263816"/>
              <a:gd name="connsiteY49" fmla="*/ 420070 h 6858000"/>
              <a:gd name="connsiteX50" fmla="*/ 74229 w 9263816"/>
              <a:gd name="connsiteY50" fmla="*/ 1237955 h 6858000"/>
              <a:gd name="connsiteX51" fmla="*/ 0 w 9263816"/>
              <a:gd name="connsiteY51" fmla="*/ 125447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9263816" h="6858000">
                <a:moveTo>
                  <a:pt x="8831314" y="5943878"/>
                </a:moveTo>
                <a:cubicBezTo>
                  <a:pt x="8964281" y="5927490"/>
                  <a:pt x="9096260" y="5981362"/>
                  <a:pt x="9179783" y="6086141"/>
                </a:cubicBezTo>
                <a:cubicBezTo>
                  <a:pt x="9224074" y="6141769"/>
                  <a:pt x="9252211" y="6208560"/>
                  <a:pt x="9260887" y="6279156"/>
                </a:cubicBezTo>
                <a:cubicBezTo>
                  <a:pt x="9286897" y="6490362"/>
                  <a:pt x="9136845" y="6682672"/>
                  <a:pt x="8925621" y="6708712"/>
                </a:cubicBezTo>
                <a:cubicBezTo>
                  <a:pt x="8714398" y="6734766"/>
                  <a:pt x="8522062" y="6584655"/>
                  <a:pt x="8496050" y="6373449"/>
                </a:cubicBezTo>
                <a:cubicBezTo>
                  <a:pt x="8470038" y="6162229"/>
                  <a:pt x="8620090" y="5969920"/>
                  <a:pt x="8831314" y="5943878"/>
                </a:cubicBezTo>
                <a:close/>
                <a:moveTo>
                  <a:pt x="7397485" y="5931706"/>
                </a:moveTo>
                <a:cubicBezTo>
                  <a:pt x="7598431" y="5931157"/>
                  <a:pt x="7792965" y="6024548"/>
                  <a:pt x="7917779" y="6191864"/>
                </a:cubicBezTo>
                <a:cubicBezTo>
                  <a:pt x="7959204" y="6247714"/>
                  <a:pt x="7991530" y="6309792"/>
                  <a:pt x="8013467" y="6375784"/>
                </a:cubicBezTo>
                <a:cubicBezTo>
                  <a:pt x="8055425" y="6502973"/>
                  <a:pt x="8055748" y="6633888"/>
                  <a:pt x="8021879" y="6753751"/>
                </a:cubicBezTo>
                <a:lnTo>
                  <a:pt x="7981316" y="6858000"/>
                </a:lnTo>
                <a:lnTo>
                  <a:pt x="6819486" y="6858000"/>
                </a:lnTo>
                <a:lnTo>
                  <a:pt x="6785199" y="6781101"/>
                </a:lnTo>
                <a:cubicBezTo>
                  <a:pt x="6673307" y="6441922"/>
                  <a:pt x="6857485" y="6076251"/>
                  <a:pt x="7196747" y="5964309"/>
                </a:cubicBezTo>
                <a:cubicBezTo>
                  <a:pt x="7262809" y="5942509"/>
                  <a:pt x="7330503" y="5931889"/>
                  <a:pt x="7397485" y="5931706"/>
                </a:cubicBezTo>
                <a:close/>
                <a:moveTo>
                  <a:pt x="1505570" y="227178"/>
                </a:moveTo>
                <a:cubicBezTo>
                  <a:pt x="1691018" y="218628"/>
                  <a:pt x="1889853" y="275403"/>
                  <a:pt x="2026489" y="392370"/>
                </a:cubicBezTo>
                <a:cubicBezTo>
                  <a:pt x="2369898" y="685965"/>
                  <a:pt x="2078266" y="1147857"/>
                  <a:pt x="2444553" y="1654853"/>
                </a:cubicBezTo>
                <a:cubicBezTo>
                  <a:pt x="2492906" y="1721679"/>
                  <a:pt x="2800482" y="2144546"/>
                  <a:pt x="3183153" y="2116208"/>
                </a:cubicBezTo>
                <a:cubicBezTo>
                  <a:pt x="3673561" y="2080541"/>
                  <a:pt x="3723222" y="1441614"/>
                  <a:pt x="4288384" y="1291908"/>
                </a:cubicBezTo>
                <a:cubicBezTo>
                  <a:pt x="4689065" y="1185875"/>
                  <a:pt x="5207943" y="1366633"/>
                  <a:pt x="5472602" y="1697818"/>
                </a:cubicBezTo>
                <a:cubicBezTo>
                  <a:pt x="5891294" y="2221754"/>
                  <a:pt x="5408012" y="2790179"/>
                  <a:pt x="5844697" y="3444791"/>
                </a:cubicBezTo>
                <a:cubicBezTo>
                  <a:pt x="6149900" y="3902467"/>
                  <a:pt x="6672672" y="4053594"/>
                  <a:pt x="6715674" y="4065208"/>
                </a:cubicBezTo>
                <a:cubicBezTo>
                  <a:pt x="7326423" y="4232519"/>
                  <a:pt x="7677158" y="3817020"/>
                  <a:pt x="8130429" y="4101787"/>
                </a:cubicBezTo>
                <a:cubicBezTo>
                  <a:pt x="8226340" y="4161985"/>
                  <a:pt x="8536372" y="4356819"/>
                  <a:pt x="8624630" y="4686202"/>
                </a:cubicBezTo>
                <a:lnTo>
                  <a:pt x="8623843" y="4685749"/>
                </a:lnTo>
                <a:cubicBezTo>
                  <a:pt x="8636924" y="4734567"/>
                  <a:pt x="8644635" y="4784678"/>
                  <a:pt x="8646859" y="4835156"/>
                </a:cubicBezTo>
                <a:cubicBezTo>
                  <a:pt x="8662596" y="5196604"/>
                  <a:pt x="8398383" y="5562326"/>
                  <a:pt x="8079403" y="5661624"/>
                </a:cubicBezTo>
                <a:cubicBezTo>
                  <a:pt x="7649807" y="5795217"/>
                  <a:pt x="7430996" y="5350293"/>
                  <a:pt x="6833105" y="5397208"/>
                </a:cubicBezTo>
                <a:cubicBezTo>
                  <a:pt x="6519033" y="5421527"/>
                  <a:pt x="6056658" y="5595550"/>
                  <a:pt x="5900832" y="5944462"/>
                </a:cubicBezTo>
                <a:cubicBezTo>
                  <a:pt x="5770548" y="6236600"/>
                  <a:pt x="5916359" y="6515160"/>
                  <a:pt x="6067212" y="6811916"/>
                </a:cubicBezTo>
                <a:lnTo>
                  <a:pt x="6089565" y="6858000"/>
                </a:lnTo>
                <a:lnTo>
                  <a:pt x="0" y="6858000"/>
                </a:lnTo>
                <a:lnTo>
                  <a:pt x="0" y="2181377"/>
                </a:lnTo>
                <a:lnTo>
                  <a:pt x="73069" y="2215839"/>
                </a:lnTo>
                <a:cubicBezTo>
                  <a:pt x="165116" y="2251829"/>
                  <a:pt x="254486" y="2263171"/>
                  <a:pt x="335445" y="2237140"/>
                </a:cubicBezTo>
                <a:cubicBezTo>
                  <a:pt x="594718" y="2153707"/>
                  <a:pt x="688441" y="1733807"/>
                  <a:pt x="752878" y="1445285"/>
                </a:cubicBezTo>
                <a:cubicBezTo>
                  <a:pt x="925059" y="674068"/>
                  <a:pt x="975076" y="456292"/>
                  <a:pt x="1202551" y="314229"/>
                </a:cubicBezTo>
                <a:cubicBezTo>
                  <a:pt x="1287853" y="260956"/>
                  <a:pt x="1394302" y="232308"/>
                  <a:pt x="1505570" y="227178"/>
                </a:cubicBezTo>
                <a:close/>
                <a:moveTo>
                  <a:pt x="3142509" y="68854"/>
                </a:moveTo>
                <a:cubicBezTo>
                  <a:pt x="3275474" y="52467"/>
                  <a:pt x="3407455" y="106339"/>
                  <a:pt x="3490978" y="211117"/>
                </a:cubicBezTo>
                <a:cubicBezTo>
                  <a:pt x="3535271" y="266744"/>
                  <a:pt x="3563404" y="333535"/>
                  <a:pt x="3572083" y="404131"/>
                </a:cubicBezTo>
                <a:cubicBezTo>
                  <a:pt x="3598092" y="615337"/>
                  <a:pt x="3448040" y="807648"/>
                  <a:pt x="3236814" y="833688"/>
                </a:cubicBezTo>
                <a:cubicBezTo>
                  <a:pt x="3025594" y="859741"/>
                  <a:pt x="2833255" y="709631"/>
                  <a:pt x="2807245" y="498425"/>
                </a:cubicBezTo>
                <a:cubicBezTo>
                  <a:pt x="2781232" y="287207"/>
                  <a:pt x="2931283" y="94896"/>
                  <a:pt x="3142509" y="68854"/>
                </a:cubicBezTo>
                <a:close/>
                <a:moveTo>
                  <a:pt x="0" y="0"/>
                </a:moveTo>
                <a:lnTo>
                  <a:pt x="39858" y="0"/>
                </a:lnTo>
                <a:lnTo>
                  <a:pt x="65022" y="5834"/>
                </a:lnTo>
                <a:cubicBezTo>
                  <a:pt x="191545" y="45606"/>
                  <a:pt x="305874" y="124173"/>
                  <a:pt x="389258" y="235630"/>
                </a:cubicBezTo>
                <a:cubicBezTo>
                  <a:pt x="430983" y="291600"/>
                  <a:pt x="463360" y="353876"/>
                  <a:pt x="485484" y="420070"/>
                </a:cubicBezTo>
                <a:cubicBezTo>
                  <a:pt x="597711" y="759508"/>
                  <a:pt x="413661" y="1125662"/>
                  <a:pt x="74229" y="1237955"/>
                </a:cubicBezTo>
                <a:lnTo>
                  <a:pt x="0" y="1254477"/>
                </a:lnTo>
                <a:close/>
              </a:path>
            </a:pathLst>
          </a:custGeom>
          <a:solidFill>
            <a:schemeClr val="bg1"/>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Placeholder 1">
            <a:extLst>
              <a:ext uri="{FF2B5EF4-FFF2-40B4-BE49-F238E27FC236}">
                <a16:creationId xmlns:a16="http://schemas.microsoft.com/office/drawing/2014/main" id="{B760C036-BBCE-4F9E-AD56-DD36D4407B25}"/>
              </a:ext>
            </a:extLst>
          </p:cNvPr>
          <p:cNvSpPr>
            <a:spLocks noGrp="1"/>
          </p:cNvSpPr>
          <p:nvPr>
            <p:ph type="title"/>
          </p:nvPr>
        </p:nvSpPr>
        <p:spPr>
          <a:xfrm>
            <a:off x="609600" y="557784"/>
            <a:ext cx="10972800" cy="132556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3A5D7EC-1E6A-473F-B5A4-18CDFB6CF95A}"/>
              </a:ext>
            </a:extLst>
          </p:cNvPr>
          <p:cNvSpPr>
            <a:spLocks noGrp="1"/>
          </p:cNvSpPr>
          <p:nvPr>
            <p:ph type="body" idx="1"/>
          </p:nvPr>
        </p:nvSpPr>
        <p:spPr>
          <a:xfrm>
            <a:off x="609600" y="2106204"/>
            <a:ext cx="10972800" cy="403653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F9981C7-34D5-49A4-949D-715FD4BD8FE0}"/>
              </a:ext>
            </a:extLst>
          </p:cNvPr>
          <p:cNvSpPr>
            <a:spLocks noGrp="1"/>
          </p:cNvSpPr>
          <p:nvPr>
            <p:ph type="dt" sz="half" idx="2"/>
          </p:nvPr>
        </p:nvSpPr>
        <p:spPr>
          <a:xfrm>
            <a:off x="609600" y="6356350"/>
            <a:ext cx="2743200" cy="365125"/>
          </a:xfrm>
          <a:prstGeom prst="rect">
            <a:avLst/>
          </a:prstGeom>
        </p:spPr>
        <p:txBody>
          <a:bodyPr vert="horz" lIns="91440" tIns="45720" rIns="91440" bIns="45720" rtlCol="0" anchor="ctr"/>
          <a:lstStyle>
            <a:lvl1pPr algn="l">
              <a:defRPr lang="en-US" sz="800" kern="1200" cap="all" spc="200" smtClean="0">
                <a:solidFill>
                  <a:schemeClr val="tx1"/>
                </a:solidFill>
                <a:latin typeface="+mn-lt"/>
                <a:ea typeface="+mn-ea"/>
                <a:cs typeface="Segoe UI Semilight" panose="020B0402040204020203" pitchFamily="34" charset="0"/>
              </a:defRPr>
            </a:lvl1pPr>
          </a:lstStyle>
          <a:p>
            <a:fld id="{F481A142-DA77-4A5F-AD1F-14E6C18F0F5F}" type="datetime1">
              <a:rPr lang="en-US" smtClean="0"/>
              <a:t>8/5/26</a:t>
            </a:fld>
            <a:endParaRPr lang="en-US" dirty="0"/>
          </a:p>
        </p:txBody>
      </p:sp>
      <p:sp>
        <p:nvSpPr>
          <p:cNvPr id="5" name="Footer Placeholder 4">
            <a:extLst>
              <a:ext uri="{FF2B5EF4-FFF2-40B4-BE49-F238E27FC236}">
                <a16:creationId xmlns:a16="http://schemas.microsoft.com/office/drawing/2014/main" id="{FA85CE6E-733D-4C60-B40B-C7C10CB5AF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en-US" sz="800" kern="1200" cap="all" spc="200" dirty="0">
                <a:solidFill>
                  <a:schemeClr val="tx1"/>
                </a:solidFill>
                <a:latin typeface="+mn-lt"/>
                <a:ea typeface="+mn-ea"/>
                <a:cs typeface="Segoe UI Semilight" panose="020B0402040204020203" pitchFamily="34" charset="0"/>
              </a:defRPr>
            </a:lvl1pPr>
          </a:lstStyle>
          <a:p>
            <a:endParaRPr lang="en-US" dirty="0"/>
          </a:p>
        </p:txBody>
      </p:sp>
      <p:sp>
        <p:nvSpPr>
          <p:cNvPr id="6" name="Slide Number Placeholder 5">
            <a:extLst>
              <a:ext uri="{FF2B5EF4-FFF2-40B4-BE49-F238E27FC236}">
                <a16:creationId xmlns:a16="http://schemas.microsoft.com/office/drawing/2014/main" id="{92D80D8B-7909-4114-8EBA-C3086DC62B08}"/>
              </a:ext>
            </a:extLst>
          </p:cNvPr>
          <p:cNvSpPr>
            <a:spLocks noGrp="1"/>
          </p:cNvSpPr>
          <p:nvPr>
            <p:ph type="sldNum" sz="quarter" idx="4"/>
          </p:nvPr>
        </p:nvSpPr>
        <p:spPr>
          <a:xfrm>
            <a:off x="10134600" y="6356350"/>
            <a:ext cx="1447800" cy="365125"/>
          </a:xfrm>
          <a:prstGeom prst="rect">
            <a:avLst/>
          </a:prstGeom>
        </p:spPr>
        <p:txBody>
          <a:bodyPr vert="horz" lIns="91440" tIns="45720" rIns="91440" bIns="45720" rtlCol="0" anchor="ctr"/>
          <a:lstStyle>
            <a:lvl1pPr algn="r">
              <a:defRPr lang="en-US" sz="800" kern="1200" cap="all" spc="200" smtClean="0">
                <a:solidFill>
                  <a:schemeClr val="tx1"/>
                </a:solidFill>
                <a:latin typeface="+mn-lt"/>
                <a:ea typeface="+mn-ea"/>
                <a:cs typeface="Segoe UI Semilight" panose="020B0402040204020203" pitchFamily="34" charset="0"/>
              </a:defRPr>
            </a:lvl1pPr>
          </a:lstStyle>
          <a:p>
            <a:fld id="{1F646F3F-274D-499B-ABBE-824EB4ABDC3D}" type="slidenum">
              <a:rPr lang="en-US" smtClean="0"/>
              <a:pPr/>
              <a:t>‹#›</a:t>
            </a:fld>
            <a:endParaRPr lang="en-US"/>
          </a:p>
        </p:txBody>
      </p:sp>
    </p:spTree>
    <p:extLst>
      <p:ext uri="{BB962C8B-B14F-4D97-AF65-F5344CB8AC3E}">
        <p14:creationId xmlns:p14="http://schemas.microsoft.com/office/powerpoint/2010/main" val="4261145137"/>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1" r:id="rId6"/>
    <p:sldLayoutId id="2147483777" r:id="rId7"/>
    <p:sldLayoutId id="2147483778" r:id="rId8"/>
    <p:sldLayoutId id="2147483779" r:id="rId9"/>
    <p:sldLayoutId id="2147483780" r:id="rId10"/>
    <p:sldLayoutId id="2147483782" r:id="rId11"/>
    <p:sldLayoutId id="2147483789" r:id="rId12"/>
    <p:sldLayoutId id="2147483790" r:id="rId13"/>
  </p:sldLayoutIdLst>
  <p:hf sldNum="0" hdr="0" ftr="0" dt="0"/>
  <p:txStyles>
    <p:titleStyle>
      <a:lvl1pPr algn="l" defTabSz="914400" rtl="0" eaLnBrk="1" latinLnBrk="0" hangingPunct="1">
        <a:lnSpc>
          <a:spcPct val="10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Clr>
          <a:schemeClr val="accent5"/>
        </a:buClr>
        <a:buFont typeface="Avenir Next LT Pro" panose="020B0504020202020204" pitchFamily="34" charset="0"/>
        <a:buNone/>
        <a:defRPr sz="2000" kern="1200">
          <a:solidFill>
            <a:schemeClr val="tx1"/>
          </a:solidFill>
          <a:latin typeface="+mn-lt"/>
          <a:ea typeface="+mn-ea"/>
          <a:cs typeface="+mn-cs"/>
        </a:defRPr>
      </a:lvl1pPr>
      <a:lvl2pPr marL="228600" indent="0" algn="l" defTabSz="914400" rtl="0" eaLnBrk="1" latinLnBrk="0" hangingPunct="1">
        <a:lnSpc>
          <a:spcPct val="110000"/>
        </a:lnSpc>
        <a:spcBef>
          <a:spcPts val="500"/>
        </a:spcBef>
        <a:buClr>
          <a:schemeClr val="accent5"/>
        </a:buClr>
        <a:buFont typeface="Avenir Next LT Pro" panose="020B0504020202020204" pitchFamily="34" charset="0"/>
        <a:buNone/>
        <a:defRPr sz="1800" kern="1200">
          <a:solidFill>
            <a:schemeClr val="tx1"/>
          </a:solidFill>
          <a:latin typeface="+mn-lt"/>
          <a:ea typeface="+mn-ea"/>
          <a:cs typeface="+mn-cs"/>
        </a:defRPr>
      </a:lvl2pPr>
      <a:lvl3pPr marL="457200" indent="0" algn="l" defTabSz="914400" rtl="0" eaLnBrk="1" latinLnBrk="0" hangingPunct="1">
        <a:lnSpc>
          <a:spcPct val="110000"/>
        </a:lnSpc>
        <a:spcBef>
          <a:spcPts val="500"/>
        </a:spcBef>
        <a:buClr>
          <a:schemeClr val="accent5"/>
        </a:buClr>
        <a:buFont typeface="Avenir Next LT Pro" panose="020B0504020202020204" pitchFamily="34" charset="0"/>
        <a:buNone/>
        <a:defRPr sz="1600" kern="1200">
          <a:solidFill>
            <a:schemeClr val="tx1"/>
          </a:solidFill>
          <a:latin typeface="+mn-lt"/>
          <a:ea typeface="+mn-ea"/>
          <a:cs typeface="+mn-cs"/>
        </a:defRPr>
      </a:lvl3pPr>
      <a:lvl4pPr marL="685800" indent="0" algn="l" defTabSz="914400" rtl="0" eaLnBrk="1" latinLnBrk="0" hangingPunct="1">
        <a:lnSpc>
          <a:spcPct val="110000"/>
        </a:lnSpc>
        <a:spcBef>
          <a:spcPts val="500"/>
        </a:spcBef>
        <a:buClr>
          <a:schemeClr val="accent5"/>
        </a:buClr>
        <a:buFont typeface="Avenir Next LT Pro" panose="020B05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10000"/>
        </a:lnSpc>
        <a:spcBef>
          <a:spcPts val="500"/>
        </a:spcBef>
        <a:buClr>
          <a:schemeClr val="accent5"/>
        </a:buClr>
        <a:buFont typeface="Avenir Next LT Pro" panose="020B05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F2A43"/>
          </a:solidFill>
          <a:ln/>
        </p:spPr>
        <p:txBody>
          <a:bodyPr/>
          <a:lstStyle/>
          <a:p>
            <a:endParaRPr lang="en-US"/>
          </a:p>
        </p:txBody>
      </p:sp>
      <p:sp>
        <p:nvSpPr>
          <p:cNvPr id="3" name="Shape 1"/>
          <p:cNvSpPr/>
          <p:nvPr/>
        </p:nvSpPr>
        <p:spPr>
          <a:xfrm>
            <a:off x="8778240" y="-2011680"/>
            <a:ext cx="5943600" cy="5943600"/>
          </a:xfrm>
          <a:prstGeom prst="ellipse">
            <a:avLst/>
          </a:prstGeom>
          <a:solidFill>
            <a:srgbClr val="1E4266"/>
          </a:solidFill>
          <a:ln/>
        </p:spPr>
        <p:txBody>
          <a:bodyPr/>
          <a:lstStyle/>
          <a:p>
            <a:endParaRPr lang="en-US"/>
          </a:p>
        </p:txBody>
      </p:sp>
      <p:sp>
        <p:nvSpPr>
          <p:cNvPr id="4" name="Shape 2"/>
          <p:cNvSpPr/>
          <p:nvPr/>
        </p:nvSpPr>
        <p:spPr>
          <a:xfrm>
            <a:off x="10607040" y="4206240"/>
            <a:ext cx="3657600" cy="3657600"/>
          </a:xfrm>
          <a:prstGeom prst="ellipse">
            <a:avLst/>
          </a:prstGeom>
          <a:solidFill>
            <a:srgbClr val="0E7C7B"/>
          </a:solidFill>
          <a:ln/>
        </p:spPr>
        <p:txBody>
          <a:bodyPr/>
          <a:lstStyle/>
          <a:p>
            <a:endParaRPr lang="en-US"/>
          </a:p>
        </p:txBody>
      </p:sp>
      <p:sp>
        <p:nvSpPr>
          <p:cNvPr id="5" name="Text 3"/>
          <p:cNvSpPr/>
          <p:nvPr/>
        </p:nvSpPr>
        <p:spPr>
          <a:xfrm>
            <a:off x="640080" y="1417320"/>
            <a:ext cx="8686800" cy="365760"/>
          </a:xfrm>
          <a:prstGeom prst="rect">
            <a:avLst/>
          </a:prstGeom>
          <a:noFill/>
          <a:ln/>
        </p:spPr>
        <p:txBody>
          <a:bodyPr wrap="square" rtlCol="0" anchor="ctr"/>
          <a:lstStyle/>
          <a:p>
            <a:pPr marL="0" indent="0">
              <a:buNone/>
            </a:pPr>
            <a:r>
              <a:rPr lang="en-US" sz="1400" b="1" kern="0" spc="200" dirty="0">
                <a:solidFill>
                  <a:srgbClr val="0E7C7B"/>
                </a:solidFill>
                <a:latin typeface="Georgia" pitchFamily="34" charset="0"/>
                <a:ea typeface="Georgia" pitchFamily="34" charset="-122"/>
                <a:cs typeface="Georgia" pitchFamily="34" charset="-120"/>
              </a:rPr>
              <a:t>EARLY BIOCHEMICAL TRAJECTORY PHENOTYPING</a:t>
            </a:r>
            <a:endParaRPr lang="en-US" sz="1400" dirty="0"/>
          </a:p>
        </p:txBody>
      </p:sp>
      <p:sp>
        <p:nvSpPr>
          <p:cNvPr id="6" name="Text 4"/>
          <p:cNvSpPr/>
          <p:nvPr/>
        </p:nvSpPr>
        <p:spPr>
          <a:xfrm>
            <a:off x="640080" y="1874520"/>
            <a:ext cx="8778240" cy="1828800"/>
          </a:xfrm>
          <a:prstGeom prst="rect">
            <a:avLst/>
          </a:prstGeom>
          <a:noFill/>
          <a:ln/>
        </p:spPr>
        <p:txBody>
          <a:bodyPr wrap="square" rtlCol="0" anchor="ctr"/>
          <a:lstStyle/>
          <a:p>
            <a:pPr marL="0" indent="0">
              <a:lnSpc>
                <a:spcPct val="115000"/>
              </a:lnSpc>
              <a:buNone/>
            </a:pPr>
            <a:r>
              <a:rPr lang="en-US" sz="3400" b="1" dirty="0">
                <a:solidFill>
                  <a:srgbClr val="FFFFFF"/>
                </a:solidFill>
                <a:latin typeface="Georgia" pitchFamily="34" charset="0"/>
                <a:ea typeface="Georgia" pitchFamily="34" charset="-122"/>
                <a:cs typeface="Georgia" pitchFamily="34" charset="-120"/>
              </a:rPr>
              <a:t>What direction a patient is moving</a:t>
            </a:r>
            <a:endParaRPr lang="en-US" sz="3400" dirty="0"/>
          </a:p>
          <a:p>
            <a:pPr marL="0" indent="0">
              <a:lnSpc>
                <a:spcPct val="115000"/>
              </a:lnSpc>
              <a:buNone/>
            </a:pPr>
            <a:r>
              <a:rPr lang="en-US" sz="3400" b="1" dirty="0">
                <a:solidFill>
                  <a:srgbClr val="FFFFFF"/>
                </a:solidFill>
                <a:latin typeface="Georgia" pitchFamily="34" charset="0"/>
                <a:ea typeface="Georgia" pitchFamily="34" charset="-122"/>
                <a:cs typeface="Georgia" pitchFamily="34" charset="-120"/>
              </a:rPr>
              <a:t>predicts more than where they are.</a:t>
            </a:r>
            <a:endParaRPr lang="en-US" sz="3400" dirty="0"/>
          </a:p>
        </p:txBody>
      </p:sp>
      <p:sp>
        <p:nvSpPr>
          <p:cNvPr id="7" name="Text 5"/>
          <p:cNvSpPr/>
          <p:nvPr/>
        </p:nvSpPr>
        <p:spPr>
          <a:xfrm>
            <a:off x="640080" y="3749040"/>
            <a:ext cx="8046720" cy="731520"/>
          </a:xfrm>
          <a:prstGeom prst="rect">
            <a:avLst/>
          </a:prstGeom>
          <a:noFill/>
          <a:ln/>
        </p:spPr>
        <p:txBody>
          <a:bodyPr wrap="square" rtlCol="0" anchor="ctr"/>
          <a:lstStyle/>
          <a:p>
            <a:pPr marL="0" indent="0">
              <a:buNone/>
            </a:pPr>
            <a:r>
              <a:rPr lang="en-US" sz="1500" dirty="0">
                <a:solidFill>
                  <a:srgbClr val="C9D6E3"/>
                </a:solidFill>
                <a:latin typeface="Georgia" pitchFamily="34" charset="0"/>
                <a:ea typeface="Georgia" pitchFamily="34" charset="-122"/>
                <a:cs typeface="Georgia" pitchFamily="34" charset="-120"/>
              </a:rPr>
              <a:t>Unsupervised phenotyping of first-24-hour ICU biochemistry and its association with short-term mortality — MIMIC-IV v3.1</a:t>
            </a:r>
            <a:endParaRPr lang="en-US" sz="1500" dirty="0"/>
          </a:p>
        </p:txBody>
      </p:sp>
      <p:sp>
        <p:nvSpPr>
          <p:cNvPr id="8" name="Text 6"/>
          <p:cNvSpPr/>
          <p:nvPr/>
        </p:nvSpPr>
        <p:spPr>
          <a:xfrm>
            <a:off x="640080" y="5943600"/>
            <a:ext cx="7315200" cy="320040"/>
          </a:xfrm>
          <a:prstGeom prst="rect">
            <a:avLst/>
          </a:prstGeom>
          <a:noFill/>
          <a:ln/>
        </p:spPr>
        <p:txBody>
          <a:bodyPr wrap="square" rtlCol="0" anchor="ctr"/>
          <a:lstStyle/>
          <a:p>
            <a:pPr marL="0" indent="0">
              <a:buNone/>
            </a:pPr>
            <a:r>
              <a:rPr lang="en-US" sz="1200" dirty="0">
                <a:solidFill>
                  <a:srgbClr val="8FA3B8"/>
                </a:solidFill>
              </a:rPr>
              <a:t>CST2213 Business Intelligence · Programming-2 Advanced Concepts · Final Project</a:t>
            </a:r>
            <a:endParaRPr lang="en-US" sz="1200" dirty="0"/>
          </a:p>
        </p:txBody>
      </p:sp>
      <p:sp>
        <p:nvSpPr>
          <p:cNvPr id="9" name="Text 7"/>
          <p:cNvSpPr/>
          <p:nvPr/>
        </p:nvSpPr>
        <p:spPr>
          <a:xfrm>
            <a:off x="640080" y="6263640"/>
            <a:ext cx="7315200" cy="320040"/>
          </a:xfrm>
          <a:prstGeom prst="rect">
            <a:avLst/>
          </a:prstGeom>
          <a:noFill/>
          <a:ln/>
        </p:spPr>
        <p:txBody>
          <a:bodyPr wrap="square" rtlCol="0" anchor="ctr"/>
          <a:lstStyle/>
          <a:p>
            <a:pPr marL="0" indent="0">
              <a:buNone/>
            </a:pPr>
            <a:r>
              <a:rPr lang="en-US" sz="1200" dirty="0">
                <a:solidFill>
                  <a:srgbClr val="8FA3B8"/>
                </a:solidFill>
              </a:rPr>
              <a:t>ICU-Trajectory-Lab · July 2026</a:t>
            </a:r>
            <a:endParaRPr lang="en-US" sz="1200" dirty="0"/>
          </a:p>
        </p:txBody>
      </p:sp>
    </p:spTree>
    <p:extLst>
      <p:ext uri="{BB962C8B-B14F-4D97-AF65-F5344CB8AC3E}">
        <p14:creationId xmlns:p14="http://schemas.microsoft.com/office/powerpoint/2010/main" val="9242734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AA9E6E49-F682-4435-97BF-CD113A2346B5}"/>
              </a:ext>
            </a:extLst>
          </p:cNvPr>
          <p:cNvSpPr>
            <a:spLocks noGrp="1"/>
          </p:cNvSpPr>
          <p:nvPr/>
        </p:nvSpPr>
        <p:spPr>
          <a:xfrm>
            <a:off x="624840" y="792480"/>
            <a:ext cx="8382000" cy="685800"/>
          </a:xfrm>
          <a:prstGeom prst="rect">
            <a:avLst/>
          </a:prstGeom>
          <a:noFill/>
          <a:ln w="0">
            <a:noFill/>
            <a:prstDash val="solid"/>
          </a:ln>
        </p:spPr>
        <p:txBody>
          <a:bodyPr anchor="t">
            <a:normAutofit/>
          </a:bodyPr>
          <a:lstStyle/>
          <a:p>
            <a:pPr algn="l">
              <a:lnSpc>
                <a:spcPct val="108000"/>
              </a:lnSpc>
              <a:buNone/>
              <a:defRPr sz="4650" b="1" i="0">
                <a:solidFill>
                  <a:srgbClr val="111111"/>
                </a:solidFill>
                <a:latin typeface="Georgia"/>
                <a:ea typeface="Georgia"/>
                <a:cs typeface="Georgia"/>
              </a:defRPr>
            </a:pPr>
            <a:r>
              <a:rPr sz="3720" b="1" dirty="0">
                <a:solidFill>
                  <a:srgbClr val="111111"/>
                </a:solidFill>
                <a:latin typeface="Georgia"/>
                <a:ea typeface="Georgia"/>
                <a:cs typeface="Georgia"/>
              </a:rPr>
              <a:t>ICU Trajectory Intelligence</a:t>
            </a:r>
          </a:p>
        </p:txBody>
      </p:sp>
      <p:sp>
        <p:nvSpPr>
          <p:cNvPr id="2" name="Rectangle 1">
            <a:extLst>
              <a:ext uri="{FF2B5EF4-FFF2-40B4-BE49-F238E27FC236}">
                <a16:creationId xmlns:a16="http://schemas.microsoft.com/office/drawing/2014/main" id="{FC08506A-A9C5-4530-9389-5C9D6F5FF00F}"/>
              </a:ext>
            </a:extLst>
          </p:cNvPr>
          <p:cNvSpPr>
            <a:spLocks noGrp="1"/>
          </p:cNvSpPr>
          <p:nvPr/>
        </p:nvSpPr>
        <p:spPr>
          <a:xfrm>
            <a:off x="655320" y="1676400"/>
            <a:ext cx="7620000" cy="533400"/>
          </a:xfrm>
          <a:prstGeom prst="rect">
            <a:avLst/>
          </a:prstGeom>
          <a:noFill/>
          <a:ln w="0">
            <a:noFill/>
            <a:prstDash val="solid"/>
          </a:ln>
        </p:spPr>
        <p:txBody>
          <a:bodyPr anchor="t">
            <a:noAutofit/>
          </a:bodyPr>
          <a:lstStyle/>
          <a:p>
            <a:pPr algn="l">
              <a:lnSpc>
                <a:spcPct val="110000"/>
              </a:lnSpc>
              <a:buNone/>
              <a:defRPr sz="2025" b="0" i="0">
                <a:solidFill>
                  <a:srgbClr val="5A5A5A"/>
                </a:solidFill>
                <a:latin typeface="Aptos"/>
                <a:ea typeface="Aptos"/>
                <a:cs typeface="Aptos"/>
              </a:defRPr>
            </a:pPr>
            <a:r>
              <a:rPr sz="1620">
                <a:solidFill>
                  <a:srgbClr val="5A5A5A"/>
                </a:solidFill>
                <a:latin typeface="Aptos"/>
                <a:ea typeface="Aptos"/>
                <a:cs typeface="Aptos"/>
              </a:rPr>
              <a:t>How a full MIMIC-IV data build became a four-biomarker Streamlit risk workflow</a:t>
            </a:r>
          </a:p>
        </p:txBody>
      </p:sp>
      <p:sp>
        <p:nvSpPr>
          <p:cNvPr id="4" name="Straight Connector 3">
            <a:extLst>
              <a:ext uri="{FF2B5EF4-FFF2-40B4-BE49-F238E27FC236}">
                <a16:creationId xmlns:a16="http://schemas.microsoft.com/office/drawing/2014/main" id="{71F1F7CC-A52E-4761-9A7F-9316D5211DB9}"/>
              </a:ext>
            </a:extLst>
          </p:cNvPr>
          <p:cNvSpPr>
            <a:spLocks noGrp="1"/>
          </p:cNvSpPr>
          <p:nvPr/>
        </p:nvSpPr>
        <p:spPr>
          <a:xfrm>
            <a:off x="952500" y="4343400"/>
            <a:ext cx="10287000" cy="0"/>
          </a:xfrm>
          <a:prstGeom prst="line">
            <a:avLst/>
          </a:prstGeom>
          <a:noFill/>
          <a:ln w="19050">
            <a:solidFill>
              <a:srgbClr val="B9B9B9"/>
            </a:solidFill>
            <a:prstDash val="solid"/>
          </a:ln>
        </p:spPr>
        <p:txBody>
          <a:bodyPr/>
          <a:lstStyle/>
          <a:p>
            <a:endParaRPr lang="en-US" sz="1440"/>
          </a:p>
        </p:txBody>
      </p:sp>
      <p:sp>
        <p:nvSpPr>
          <p:cNvPr id="5" name="Oval 4">
            <a:extLst>
              <a:ext uri="{FF2B5EF4-FFF2-40B4-BE49-F238E27FC236}">
                <a16:creationId xmlns:a16="http://schemas.microsoft.com/office/drawing/2014/main" id="{7E3886A6-C8F3-4441-A27A-0D9E9A7EB406}"/>
              </a:ext>
            </a:extLst>
          </p:cNvPr>
          <p:cNvSpPr>
            <a:spLocks noGrp="1"/>
          </p:cNvSpPr>
          <p:nvPr/>
        </p:nvSpPr>
        <p:spPr>
          <a:xfrm>
            <a:off x="1219200" y="3962400"/>
            <a:ext cx="762000" cy="762000"/>
          </a:xfrm>
          <a:prstGeom prst="ellipse">
            <a:avLst/>
          </a:prstGeom>
          <a:solidFill>
            <a:srgbClr val="FFFFFF"/>
          </a:solidFill>
          <a:ln w="19050">
            <a:solidFill>
              <a:srgbClr val="1484D6"/>
            </a:solidFill>
            <a:prstDash val="solid"/>
          </a:ln>
        </p:spPr>
        <p:txBody>
          <a:bodyPr anchor="ctr">
            <a:normAutofit/>
          </a:bodyPr>
          <a:lstStyle/>
          <a:p>
            <a:pPr algn="ctr">
              <a:defRPr sz="1350" b="1">
                <a:solidFill>
                  <a:srgbClr val="1484D6"/>
                </a:solidFill>
              </a:defRPr>
            </a:pPr>
            <a:r>
              <a:rPr sz="1080" b="1">
                <a:solidFill>
                  <a:srgbClr val="1484D6"/>
                </a:solidFill>
              </a:rPr>
              <a:t>LAC</a:t>
            </a:r>
          </a:p>
        </p:txBody>
      </p:sp>
      <p:sp>
        <p:nvSpPr>
          <p:cNvPr id="6" name="Rectangle 5">
            <a:extLst>
              <a:ext uri="{FF2B5EF4-FFF2-40B4-BE49-F238E27FC236}">
                <a16:creationId xmlns:a16="http://schemas.microsoft.com/office/drawing/2014/main" id="{C07816E0-4184-46EE-A17A-99D597720456}"/>
              </a:ext>
            </a:extLst>
          </p:cNvPr>
          <p:cNvSpPr>
            <a:spLocks noGrp="1"/>
          </p:cNvSpPr>
          <p:nvPr/>
        </p:nvSpPr>
        <p:spPr>
          <a:xfrm>
            <a:off x="1143000" y="4800600"/>
            <a:ext cx="914400" cy="182880"/>
          </a:xfrm>
          <a:prstGeom prst="rect">
            <a:avLst/>
          </a:prstGeom>
          <a:noFill/>
          <a:ln w="0">
            <a:noFill/>
            <a:prstDash val="solid"/>
          </a:ln>
        </p:spPr>
        <p:txBody>
          <a:bodyPr anchor="t">
            <a:noAutofit/>
          </a:bodyPr>
          <a:lstStyle/>
          <a:p>
            <a:pPr algn="ctr">
              <a:lnSpc>
                <a:spcPct val="108000"/>
              </a:lnSpc>
              <a:buNone/>
              <a:defRPr sz="1200" b="1" i="0">
                <a:solidFill>
                  <a:srgbClr val="1484D6"/>
                </a:solidFill>
                <a:latin typeface="Aptos"/>
                <a:ea typeface="Aptos"/>
                <a:cs typeface="Aptos"/>
              </a:defRPr>
            </a:pPr>
            <a:r>
              <a:rPr sz="960" b="1">
                <a:solidFill>
                  <a:srgbClr val="1484D6"/>
                </a:solidFill>
                <a:latin typeface="Aptos"/>
                <a:ea typeface="Aptos"/>
                <a:cs typeface="Aptos"/>
              </a:rPr>
              <a:t>Lactate</a:t>
            </a:r>
          </a:p>
        </p:txBody>
      </p:sp>
      <p:sp>
        <p:nvSpPr>
          <p:cNvPr id="7" name="Oval 6">
            <a:extLst>
              <a:ext uri="{FF2B5EF4-FFF2-40B4-BE49-F238E27FC236}">
                <a16:creationId xmlns:a16="http://schemas.microsoft.com/office/drawing/2014/main" id="{D479CC76-84BD-4A9C-BF44-FB10C1E69084}"/>
              </a:ext>
            </a:extLst>
          </p:cNvPr>
          <p:cNvSpPr>
            <a:spLocks noGrp="1"/>
          </p:cNvSpPr>
          <p:nvPr/>
        </p:nvSpPr>
        <p:spPr>
          <a:xfrm>
            <a:off x="3771900" y="3962400"/>
            <a:ext cx="762000" cy="762000"/>
          </a:xfrm>
          <a:prstGeom prst="ellipse">
            <a:avLst/>
          </a:prstGeom>
          <a:solidFill>
            <a:srgbClr val="FFFFFF"/>
          </a:solidFill>
          <a:ln w="19050">
            <a:solidFill>
              <a:srgbClr val="9552D0"/>
            </a:solidFill>
            <a:prstDash val="solid"/>
          </a:ln>
        </p:spPr>
        <p:txBody>
          <a:bodyPr anchor="ctr">
            <a:normAutofit/>
          </a:bodyPr>
          <a:lstStyle/>
          <a:p>
            <a:pPr algn="ctr">
              <a:defRPr sz="1350" b="1">
                <a:solidFill>
                  <a:srgbClr val="9552D0"/>
                </a:solidFill>
              </a:defRPr>
            </a:pPr>
            <a:r>
              <a:rPr sz="1080" b="1">
                <a:solidFill>
                  <a:srgbClr val="9552D0"/>
                </a:solidFill>
              </a:rPr>
              <a:t>CRE</a:t>
            </a:r>
          </a:p>
        </p:txBody>
      </p:sp>
      <p:sp>
        <p:nvSpPr>
          <p:cNvPr id="8" name="Rectangle 7">
            <a:extLst>
              <a:ext uri="{FF2B5EF4-FFF2-40B4-BE49-F238E27FC236}">
                <a16:creationId xmlns:a16="http://schemas.microsoft.com/office/drawing/2014/main" id="{CCD0BDF0-4FDB-45E1-ACF5-171306737B13}"/>
              </a:ext>
            </a:extLst>
          </p:cNvPr>
          <p:cNvSpPr>
            <a:spLocks noGrp="1"/>
          </p:cNvSpPr>
          <p:nvPr/>
        </p:nvSpPr>
        <p:spPr>
          <a:xfrm>
            <a:off x="3695700" y="4800600"/>
            <a:ext cx="914400" cy="182880"/>
          </a:xfrm>
          <a:prstGeom prst="rect">
            <a:avLst/>
          </a:prstGeom>
          <a:noFill/>
          <a:ln w="0">
            <a:noFill/>
            <a:prstDash val="solid"/>
          </a:ln>
        </p:spPr>
        <p:txBody>
          <a:bodyPr anchor="t">
            <a:noAutofit/>
          </a:bodyPr>
          <a:lstStyle/>
          <a:p>
            <a:pPr algn="ctr">
              <a:lnSpc>
                <a:spcPct val="108000"/>
              </a:lnSpc>
              <a:buNone/>
              <a:defRPr sz="1200" b="1" i="0">
                <a:solidFill>
                  <a:srgbClr val="9552D0"/>
                </a:solidFill>
                <a:latin typeface="Aptos"/>
                <a:ea typeface="Aptos"/>
                <a:cs typeface="Aptos"/>
              </a:defRPr>
            </a:pPr>
            <a:r>
              <a:rPr sz="960" b="1">
                <a:solidFill>
                  <a:srgbClr val="9552D0"/>
                </a:solidFill>
                <a:latin typeface="Aptos"/>
                <a:ea typeface="Aptos"/>
                <a:cs typeface="Aptos"/>
              </a:rPr>
              <a:t>Creatinine</a:t>
            </a:r>
          </a:p>
        </p:txBody>
      </p:sp>
      <p:sp>
        <p:nvSpPr>
          <p:cNvPr id="9" name="Oval 8">
            <a:extLst>
              <a:ext uri="{FF2B5EF4-FFF2-40B4-BE49-F238E27FC236}">
                <a16:creationId xmlns:a16="http://schemas.microsoft.com/office/drawing/2014/main" id="{2A6B3BA8-A2BD-435B-8084-43B5CAC4D6C1}"/>
              </a:ext>
            </a:extLst>
          </p:cNvPr>
          <p:cNvSpPr>
            <a:spLocks noGrp="1"/>
          </p:cNvSpPr>
          <p:nvPr/>
        </p:nvSpPr>
        <p:spPr>
          <a:xfrm>
            <a:off x="6324600" y="3962400"/>
            <a:ext cx="762000" cy="762000"/>
          </a:xfrm>
          <a:prstGeom prst="ellipse">
            <a:avLst/>
          </a:prstGeom>
          <a:solidFill>
            <a:srgbClr val="FFFFFF"/>
          </a:solidFill>
          <a:ln w="19050">
            <a:solidFill>
              <a:srgbClr val="00A870"/>
            </a:solidFill>
            <a:prstDash val="solid"/>
          </a:ln>
        </p:spPr>
        <p:txBody>
          <a:bodyPr anchor="ctr">
            <a:normAutofit/>
          </a:bodyPr>
          <a:lstStyle/>
          <a:p>
            <a:pPr algn="ctr">
              <a:defRPr sz="1350" b="1">
                <a:solidFill>
                  <a:srgbClr val="00A870"/>
                </a:solidFill>
              </a:defRPr>
            </a:pPr>
            <a:r>
              <a:rPr sz="1080" b="1">
                <a:solidFill>
                  <a:srgbClr val="00A870"/>
                </a:solidFill>
              </a:rPr>
              <a:t>WBC</a:t>
            </a:r>
          </a:p>
        </p:txBody>
      </p:sp>
      <p:sp>
        <p:nvSpPr>
          <p:cNvPr id="10" name="Rectangle 9">
            <a:extLst>
              <a:ext uri="{FF2B5EF4-FFF2-40B4-BE49-F238E27FC236}">
                <a16:creationId xmlns:a16="http://schemas.microsoft.com/office/drawing/2014/main" id="{E45FE06F-CF1B-43D5-97DE-7860A537C399}"/>
              </a:ext>
            </a:extLst>
          </p:cNvPr>
          <p:cNvSpPr>
            <a:spLocks noGrp="1"/>
          </p:cNvSpPr>
          <p:nvPr/>
        </p:nvSpPr>
        <p:spPr>
          <a:xfrm>
            <a:off x="6248400" y="4800600"/>
            <a:ext cx="914400" cy="182880"/>
          </a:xfrm>
          <a:prstGeom prst="rect">
            <a:avLst/>
          </a:prstGeom>
          <a:noFill/>
          <a:ln w="0">
            <a:noFill/>
            <a:prstDash val="solid"/>
          </a:ln>
        </p:spPr>
        <p:txBody>
          <a:bodyPr anchor="t">
            <a:noAutofit/>
          </a:bodyPr>
          <a:lstStyle/>
          <a:p>
            <a:pPr algn="ctr">
              <a:lnSpc>
                <a:spcPct val="108000"/>
              </a:lnSpc>
              <a:buNone/>
              <a:defRPr sz="1200" b="1" i="0">
                <a:solidFill>
                  <a:srgbClr val="00A870"/>
                </a:solidFill>
                <a:latin typeface="Aptos"/>
                <a:ea typeface="Aptos"/>
                <a:cs typeface="Aptos"/>
              </a:defRPr>
            </a:pPr>
            <a:r>
              <a:rPr sz="960" b="1">
                <a:solidFill>
                  <a:srgbClr val="00A870"/>
                </a:solidFill>
                <a:latin typeface="Aptos"/>
                <a:ea typeface="Aptos"/>
                <a:cs typeface="Aptos"/>
              </a:rPr>
              <a:t>WBC</a:t>
            </a:r>
          </a:p>
        </p:txBody>
      </p:sp>
      <p:sp>
        <p:nvSpPr>
          <p:cNvPr id="11" name="Oval 10">
            <a:extLst>
              <a:ext uri="{FF2B5EF4-FFF2-40B4-BE49-F238E27FC236}">
                <a16:creationId xmlns:a16="http://schemas.microsoft.com/office/drawing/2014/main" id="{66E1743B-C6C6-4947-B63B-6EAA23E14BA9}"/>
              </a:ext>
            </a:extLst>
          </p:cNvPr>
          <p:cNvSpPr>
            <a:spLocks noGrp="1"/>
          </p:cNvSpPr>
          <p:nvPr/>
        </p:nvSpPr>
        <p:spPr>
          <a:xfrm>
            <a:off x="8877300" y="3962400"/>
            <a:ext cx="762000" cy="762000"/>
          </a:xfrm>
          <a:prstGeom prst="ellipse">
            <a:avLst/>
          </a:prstGeom>
          <a:solidFill>
            <a:srgbClr val="FFFFFF"/>
          </a:solidFill>
          <a:ln w="19050">
            <a:solidFill>
              <a:srgbClr val="EF7D00"/>
            </a:solidFill>
            <a:prstDash val="solid"/>
          </a:ln>
        </p:spPr>
        <p:txBody>
          <a:bodyPr anchor="ctr">
            <a:normAutofit/>
          </a:bodyPr>
          <a:lstStyle/>
          <a:p>
            <a:pPr algn="ctr">
              <a:defRPr sz="1350" b="1">
                <a:solidFill>
                  <a:srgbClr val="EF7D00"/>
                </a:solidFill>
              </a:defRPr>
            </a:pPr>
            <a:r>
              <a:rPr sz="1080" b="1">
                <a:solidFill>
                  <a:srgbClr val="EF7D00"/>
                </a:solidFill>
              </a:rPr>
              <a:t>PLT</a:t>
            </a:r>
          </a:p>
        </p:txBody>
      </p:sp>
      <p:sp>
        <p:nvSpPr>
          <p:cNvPr id="12" name="Rectangle 11">
            <a:extLst>
              <a:ext uri="{FF2B5EF4-FFF2-40B4-BE49-F238E27FC236}">
                <a16:creationId xmlns:a16="http://schemas.microsoft.com/office/drawing/2014/main" id="{6C46468F-45F7-4FDC-AC4B-256A4B1B6859}"/>
              </a:ext>
            </a:extLst>
          </p:cNvPr>
          <p:cNvSpPr>
            <a:spLocks noGrp="1"/>
          </p:cNvSpPr>
          <p:nvPr/>
        </p:nvSpPr>
        <p:spPr>
          <a:xfrm>
            <a:off x="8801100" y="4800600"/>
            <a:ext cx="914400" cy="182880"/>
          </a:xfrm>
          <a:prstGeom prst="rect">
            <a:avLst/>
          </a:prstGeom>
          <a:noFill/>
          <a:ln w="0">
            <a:noFill/>
            <a:prstDash val="solid"/>
          </a:ln>
        </p:spPr>
        <p:txBody>
          <a:bodyPr anchor="t">
            <a:noAutofit/>
          </a:bodyPr>
          <a:lstStyle/>
          <a:p>
            <a:pPr algn="ctr">
              <a:lnSpc>
                <a:spcPct val="108000"/>
              </a:lnSpc>
              <a:buNone/>
              <a:defRPr sz="1200" b="1" i="0">
                <a:solidFill>
                  <a:srgbClr val="EF7D00"/>
                </a:solidFill>
                <a:latin typeface="Aptos"/>
                <a:ea typeface="Aptos"/>
                <a:cs typeface="Aptos"/>
              </a:defRPr>
            </a:pPr>
            <a:r>
              <a:rPr sz="960" b="1">
                <a:solidFill>
                  <a:srgbClr val="EF7D00"/>
                </a:solidFill>
                <a:latin typeface="Aptos"/>
                <a:ea typeface="Aptos"/>
                <a:cs typeface="Aptos"/>
              </a:rPr>
              <a:t>Platelets</a:t>
            </a:r>
          </a:p>
        </p:txBody>
      </p:sp>
      <p:sp>
        <p:nvSpPr>
          <p:cNvPr id="13" name="Rectangle 12">
            <a:extLst>
              <a:ext uri="{FF2B5EF4-FFF2-40B4-BE49-F238E27FC236}">
                <a16:creationId xmlns:a16="http://schemas.microsoft.com/office/drawing/2014/main" id="{94EF07AD-2294-4162-9FBD-1FB121DDB3F0}"/>
              </a:ext>
            </a:extLst>
          </p:cNvPr>
          <p:cNvSpPr>
            <a:spLocks noGrp="1"/>
          </p:cNvSpPr>
          <p:nvPr/>
        </p:nvSpPr>
        <p:spPr>
          <a:xfrm>
            <a:off x="1143000" y="5257799"/>
            <a:ext cx="8915400" cy="365760"/>
          </a:xfrm>
          <a:prstGeom prst="rect">
            <a:avLst/>
          </a:prstGeom>
          <a:noFill/>
          <a:ln w="0">
            <a:noFill/>
            <a:prstDash val="solid"/>
          </a:ln>
        </p:spPr>
        <p:txBody>
          <a:bodyPr anchor="t">
            <a:noAutofit/>
          </a:bodyPr>
          <a:lstStyle/>
          <a:p>
            <a:pPr algn="ctr">
              <a:lnSpc>
                <a:spcPct val="108000"/>
              </a:lnSpc>
              <a:buNone/>
              <a:defRPr sz="2100" b="1" i="0">
                <a:solidFill>
                  <a:srgbClr val="111111"/>
                </a:solidFill>
                <a:latin typeface="Georgia"/>
                <a:ea typeface="Georgia"/>
                <a:cs typeface="Georgia"/>
              </a:defRPr>
            </a:pPr>
            <a:r>
              <a:rPr sz="1680" b="1" dirty="0">
                <a:solidFill>
                  <a:srgbClr val="111111"/>
                </a:solidFill>
                <a:latin typeface="Georgia"/>
                <a:ea typeface="Georgia"/>
                <a:cs typeface="Georgia"/>
              </a:rPr>
              <a:t>Initial → follow-up → rate of change → phenotype → 1/3/7-day mortality</a:t>
            </a:r>
          </a:p>
        </p:txBody>
      </p:sp>
      <p:sp>
        <p:nvSpPr>
          <p:cNvPr id="14" name="Rectangle 13">
            <a:extLst>
              <a:ext uri="{FF2B5EF4-FFF2-40B4-BE49-F238E27FC236}">
                <a16:creationId xmlns:a16="http://schemas.microsoft.com/office/drawing/2014/main" id="{CE2B9D10-4BF1-4608-B2E5-60072473FA03}"/>
              </a:ext>
            </a:extLst>
          </p:cNvPr>
          <p:cNvSpPr>
            <a:spLocks noGrp="1"/>
          </p:cNvSpPr>
          <p:nvPr/>
        </p:nvSpPr>
        <p:spPr>
          <a:xfrm>
            <a:off x="662940" y="6019800"/>
            <a:ext cx="5334000" cy="213360"/>
          </a:xfrm>
          <a:prstGeom prst="rect">
            <a:avLst/>
          </a:prstGeom>
          <a:noFill/>
          <a:ln w="0">
            <a:noFill/>
            <a:prstDash val="solid"/>
          </a:ln>
        </p:spPr>
        <p:txBody>
          <a:bodyPr anchor="t">
            <a:noAutofit/>
          </a:bodyPr>
          <a:lstStyle/>
          <a:p>
            <a:pPr algn="l">
              <a:lnSpc>
                <a:spcPct val="108000"/>
              </a:lnSpc>
              <a:buNone/>
              <a:defRPr sz="1275" b="0" i="0">
                <a:solidFill>
                  <a:srgbClr val="777777"/>
                </a:solidFill>
                <a:latin typeface="Aptos"/>
                <a:ea typeface="Aptos"/>
                <a:cs typeface="Aptos"/>
              </a:defRPr>
            </a:pPr>
            <a:r>
              <a:rPr sz="1020">
                <a:solidFill>
                  <a:srgbClr val="777777"/>
                </a:solidFill>
                <a:latin typeface="Aptos"/>
                <a:ea typeface="Aptos"/>
                <a:cs typeface="Aptos"/>
              </a:rPr>
              <a:t>Donghwan Won · ICU-Trajectory-Lab · July 2026</a:t>
            </a:r>
          </a:p>
        </p:txBody>
      </p:sp>
      <p:sp>
        <p:nvSpPr>
          <p:cNvPr id="3" name="Straight Connector 2">
            <a:extLst>
              <a:ext uri="{FF2B5EF4-FFF2-40B4-BE49-F238E27FC236}">
                <a16:creationId xmlns:a16="http://schemas.microsoft.com/office/drawing/2014/main" id="{6083E5CC-AAE3-53B0-FC53-CD1B83779B31}"/>
              </a:ext>
            </a:extLst>
          </p:cNvPr>
          <p:cNvSpPr>
            <a:spLocks noGrp="1"/>
          </p:cNvSpPr>
          <p:nvPr/>
        </p:nvSpPr>
        <p:spPr>
          <a:xfrm>
            <a:off x="952500" y="2934630"/>
            <a:ext cx="10287000" cy="0"/>
          </a:xfrm>
          <a:prstGeom prst="line">
            <a:avLst/>
          </a:prstGeom>
          <a:noFill/>
          <a:ln w="19050">
            <a:solidFill>
              <a:srgbClr val="B9B9B9"/>
            </a:solidFill>
            <a:prstDash val="solid"/>
          </a:ln>
        </p:spPr>
        <p:txBody>
          <a:bodyPr/>
          <a:lstStyle/>
          <a:p>
            <a:endParaRPr lang="en-US" sz="1440"/>
          </a:p>
        </p:txBody>
      </p:sp>
      <p:sp>
        <p:nvSpPr>
          <p:cNvPr id="17" name="TextBox 16">
            <a:extLst>
              <a:ext uri="{FF2B5EF4-FFF2-40B4-BE49-F238E27FC236}">
                <a16:creationId xmlns:a16="http://schemas.microsoft.com/office/drawing/2014/main" id="{7701C5ED-BEF6-D64B-C877-CC55F86BD53C}"/>
              </a:ext>
            </a:extLst>
          </p:cNvPr>
          <p:cNvSpPr txBox="1"/>
          <p:nvPr/>
        </p:nvSpPr>
        <p:spPr>
          <a:xfrm>
            <a:off x="662940" y="2372819"/>
            <a:ext cx="6099716" cy="350865"/>
          </a:xfrm>
          <a:prstGeom prst="rect">
            <a:avLst/>
          </a:prstGeom>
          <a:noFill/>
        </p:spPr>
        <p:txBody>
          <a:bodyPr wrap="square">
            <a:spAutoFit/>
          </a:bodyPr>
          <a:lstStyle/>
          <a:p>
            <a:r>
              <a:rPr lang="en-US" sz="1680" b="1" dirty="0">
                <a:solidFill>
                  <a:srgbClr val="111111"/>
                </a:solidFill>
                <a:latin typeface="Georgia"/>
              </a:rPr>
              <a:t>Vital factors</a:t>
            </a:r>
            <a:endParaRPr lang="en-US" dirty="0"/>
          </a:p>
        </p:txBody>
      </p:sp>
      <p:sp>
        <p:nvSpPr>
          <p:cNvPr id="18" name="TextBox 17">
            <a:extLst>
              <a:ext uri="{FF2B5EF4-FFF2-40B4-BE49-F238E27FC236}">
                <a16:creationId xmlns:a16="http://schemas.microsoft.com/office/drawing/2014/main" id="{9ACE6DF4-93D6-8A7D-3B7A-223A28F4AB5D}"/>
              </a:ext>
            </a:extLst>
          </p:cNvPr>
          <p:cNvSpPr txBox="1"/>
          <p:nvPr/>
        </p:nvSpPr>
        <p:spPr>
          <a:xfrm>
            <a:off x="722042" y="3526239"/>
            <a:ext cx="6099716" cy="350865"/>
          </a:xfrm>
          <a:prstGeom prst="rect">
            <a:avLst/>
          </a:prstGeom>
          <a:noFill/>
        </p:spPr>
        <p:txBody>
          <a:bodyPr wrap="square">
            <a:spAutoFit/>
          </a:bodyPr>
          <a:lstStyle/>
          <a:p>
            <a:r>
              <a:rPr lang="en-US" sz="1680" b="1" dirty="0">
                <a:solidFill>
                  <a:srgbClr val="111111"/>
                </a:solidFill>
                <a:latin typeface="Georgia"/>
              </a:rPr>
              <a:t>Lab factors</a:t>
            </a:r>
            <a:endParaRPr lang="en-US" dirty="0"/>
          </a:p>
        </p:txBody>
      </p:sp>
      <p:grpSp>
        <p:nvGrpSpPr>
          <p:cNvPr id="25" name="Group 24">
            <a:extLst>
              <a:ext uri="{FF2B5EF4-FFF2-40B4-BE49-F238E27FC236}">
                <a16:creationId xmlns:a16="http://schemas.microsoft.com/office/drawing/2014/main" id="{FC9B526A-F7CB-354D-2AAE-FB5C3075AB42}"/>
              </a:ext>
            </a:extLst>
          </p:cNvPr>
          <p:cNvGrpSpPr/>
          <p:nvPr/>
        </p:nvGrpSpPr>
        <p:grpSpPr>
          <a:xfrm>
            <a:off x="2019300" y="2506242"/>
            <a:ext cx="2070846" cy="1090764"/>
            <a:chOff x="2019300" y="2548251"/>
            <a:chExt cx="2070846" cy="1090764"/>
          </a:xfrm>
        </p:grpSpPr>
        <p:sp>
          <p:nvSpPr>
            <p:cNvPr id="22" name="Oval 21">
              <a:extLst>
                <a:ext uri="{FF2B5EF4-FFF2-40B4-BE49-F238E27FC236}">
                  <a16:creationId xmlns:a16="http://schemas.microsoft.com/office/drawing/2014/main" id="{A7619D01-2D81-9CD6-CD40-C56908E68D9F}"/>
                </a:ext>
              </a:extLst>
            </p:cNvPr>
            <p:cNvSpPr/>
            <p:nvPr/>
          </p:nvSpPr>
          <p:spPr>
            <a:xfrm>
              <a:off x="2689412" y="2548251"/>
              <a:ext cx="844924" cy="802555"/>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HR</a:t>
              </a:r>
              <a:endParaRPr lang="en-US" sz="1400" dirty="0">
                <a:solidFill>
                  <a:schemeClr val="tx1"/>
                </a:solidFill>
              </a:endParaRPr>
            </a:p>
          </p:txBody>
        </p:sp>
        <p:sp>
          <p:nvSpPr>
            <p:cNvPr id="24" name="TextBox 23">
              <a:extLst>
                <a:ext uri="{FF2B5EF4-FFF2-40B4-BE49-F238E27FC236}">
                  <a16:creationId xmlns:a16="http://schemas.microsoft.com/office/drawing/2014/main" id="{367C9F54-6403-9BD3-E9DC-DCA1387167A9}"/>
                </a:ext>
              </a:extLst>
            </p:cNvPr>
            <p:cNvSpPr txBox="1"/>
            <p:nvPr/>
          </p:nvSpPr>
          <p:spPr>
            <a:xfrm>
              <a:off x="2019300" y="3392794"/>
              <a:ext cx="2070846" cy="246221"/>
            </a:xfrm>
            <a:prstGeom prst="rect">
              <a:avLst/>
            </a:prstGeom>
            <a:noFill/>
          </p:spPr>
          <p:txBody>
            <a:bodyPr wrap="square" anchor="ctr">
              <a:spAutoFit/>
            </a:bodyPr>
            <a:lstStyle/>
            <a:p>
              <a:pPr algn="ctr"/>
              <a:r>
                <a:rPr lang="en-US" sz="1000" dirty="0"/>
                <a:t>Hear Rate</a:t>
              </a:r>
              <a:endParaRPr lang="en-US" sz="1000" dirty="0">
                <a:solidFill>
                  <a:schemeClr val="tx1"/>
                </a:solidFill>
              </a:endParaRPr>
            </a:p>
          </p:txBody>
        </p:sp>
      </p:grpSp>
      <p:grpSp>
        <p:nvGrpSpPr>
          <p:cNvPr id="26" name="Group 25">
            <a:extLst>
              <a:ext uri="{FF2B5EF4-FFF2-40B4-BE49-F238E27FC236}">
                <a16:creationId xmlns:a16="http://schemas.microsoft.com/office/drawing/2014/main" id="{56F8CA19-B777-F60A-C94E-2DCAA315942B}"/>
              </a:ext>
            </a:extLst>
          </p:cNvPr>
          <p:cNvGrpSpPr/>
          <p:nvPr/>
        </p:nvGrpSpPr>
        <p:grpSpPr>
          <a:xfrm>
            <a:off x="3879029" y="2505498"/>
            <a:ext cx="2070846" cy="1168453"/>
            <a:chOff x="2019300" y="2624451"/>
            <a:chExt cx="2070846" cy="1168453"/>
          </a:xfrm>
        </p:grpSpPr>
        <p:sp>
          <p:nvSpPr>
            <p:cNvPr id="27" name="Oval 26">
              <a:extLst>
                <a:ext uri="{FF2B5EF4-FFF2-40B4-BE49-F238E27FC236}">
                  <a16:creationId xmlns:a16="http://schemas.microsoft.com/office/drawing/2014/main" id="{63761B0E-E2C3-644B-BA97-4D4C4D317B13}"/>
                </a:ext>
              </a:extLst>
            </p:cNvPr>
            <p:cNvSpPr/>
            <p:nvPr/>
          </p:nvSpPr>
          <p:spPr>
            <a:xfrm>
              <a:off x="2689412" y="2624451"/>
              <a:ext cx="844924" cy="802555"/>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BP</a:t>
              </a:r>
              <a:endParaRPr lang="en-US" sz="1400" dirty="0">
                <a:solidFill>
                  <a:schemeClr val="tx1"/>
                </a:solidFill>
              </a:endParaRPr>
            </a:p>
          </p:txBody>
        </p:sp>
        <p:sp>
          <p:nvSpPr>
            <p:cNvPr id="28" name="TextBox 27">
              <a:extLst>
                <a:ext uri="{FF2B5EF4-FFF2-40B4-BE49-F238E27FC236}">
                  <a16:creationId xmlns:a16="http://schemas.microsoft.com/office/drawing/2014/main" id="{EE9318BC-9AC1-319E-788B-3E177AD75174}"/>
                </a:ext>
              </a:extLst>
            </p:cNvPr>
            <p:cNvSpPr txBox="1"/>
            <p:nvPr/>
          </p:nvSpPr>
          <p:spPr>
            <a:xfrm>
              <a:off x="2019300" y="3392794"/>
              <a:ext cx="2070846" cy="400110"/>
            </a:xfrm>
            <a:prstGeom prst="rect">
              <a:avLst/>
            </a:prstGeom>
            <a:noFill/>
          </p:spPr>
          <p:txBody>
            <a:bodyPr wrap="square" anchor="ctr">
              <a:spAutoFit/>
            </a:bodyPr>
            <a:lstStyle/>
            <a:p>
              <a:pPr algn="ctr"/>
              <a:r>
                <a:rPr lang="en-US" sz="1000" dirty="0"/>
                <a:t>Blood Pressure </a:t>
              </a:r>
            </a:p>
            <a:p>
              <a:pPr algn="ctr"/>
              <a:r>
                <a:rPr lang="en-US" sz="1000" dirty="0"/>
                <a:t>/Mean Arterial Pressure</a:t>
              </a:r>
              <a:endParaRPr lang="en-US" sz="1000" dirty="0">
                <a:solidFill>
                  <a:schemeClr val="tx1"/>
                </a:solidFill>
              </a:endParaRPr>
            </a:p>
          </p:txBody>
        </p:sp>
      </p:grpSp>
      <p:grpSp>
        <p:nvGrpSpPr>
          <p:cNvPr id="29" name="Group 28">
            <a:extLst>
              <a:ext uri="{FF2B5EF4-FFF2-40B4-BE49-F238E27FC236}">
                <a16:creationId xmlns:a16="http://schemas.microsoft.com/office/drawing/2014/main" id="{15A199AC-A3C9-3E97-3C3D-223ABA8DC405}"/>
              </a:ext>
            </a:extLst>
          </p:cNvPr>
          <p:cNvGrpSpPr/>
          <p:nvPr/>
        </p:nvGrpSpPr>
        <p:grpSpPr>
          <a:xfrm>
            <a:off x="5738758" y="2506242"/>
            <a:ext cx="2070846" cy="1090764"/>
            <a:chOff x="2019300" y="2548251"/>
            <a:chExt cx="2070846" cy="1090764"/>
          </a:xfrm>
        </p:grpSpPr>
        <p:sp>
          <p:nvSpPr>
            <p:cNvPr id="30" name="Oval 29">
              <a:extLst>
                <a:ext uri="{FF2B5EF4-FFF2-40B4-BE49-F238E27FC236}">
                  <a16:creationId xmlns:a16="http://schemas.microsoft.com/office/drawing/2014/main" id="{8EB99D21-08CF-CE0A-F219-2B1BC909BBB6}"/>
                </a:ext>
              </a:extLst>
            </p:cNvPr>
            <p:cNvSpPr/>
            <p:nvPr/>
          </p:nvSpPr>
          <p:spPr>
            <a:xfrm>
              <a:off x="2689412" y="2548251"/>
              <a:ext cx="844924" cy="802555"/>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SpO2</a:t>
              </a:r>
              <a:endParaRPr lang="en-US" sz="1400" dirty="0">
                <a:solidFill>
                  <a:schemeClr val="tx1"/>
                </a:solidFill>
              </a:endParaRPr>
            </a:p>
          </p:txBody>
        </p:sp>
        <p:sp>
          <p:nvSpPr>
            <p:cNvPr id="31" name="TextBox 30">
              <a:extLst>
                <a:ext uri="{FF2B5EF4-FFF2-40B4-BE49-F238E27FC236}">
                  <a16:creationId xmlns:a16="http://schemas.microsoft.com/office/drawing/2014/main" id="{506D50F3-ACC8-A9DA-292D-A80F95F3909E}"/>
                </a:ext>
              </a:extLst>
            </p:cNvPr>
            <p:cNvSpPr txBox="1"/>
            <p:nvPr/>
          </p:nvSpPr>
          <p:spPr>
            <a:xfrm>
              <a:off x="2019300" y="3392794"/>
              <a:ext cx="2070846" cy="246221"/>
            </a:xfrm>
            <a:prstGeom prst="rect">
              <a:avLst/>
            </a:prstGeom>
            <a:noFill/>
          </p:spPr>
          <p:txBody>
            <a:bodyPr wrap="square" anchor="ctr">
              <a:spAutoFit/>
            </a:bodyPr>
            <a:lstStyle/>
            <a:p>
              <a:pPr algn="ctr"/>
              <a:r>
                <a:rPr lang="en-US" sz="1000" dirty="0"/>
                <a:t>Peripheral Oxygen Saturation</a:t>
              </a:r>
              <a:endParaRPr lang="en-US" sz="1000" dirty="0">
                <a:solidFill>
                  <a:schemeClr val="tx1"/>
                </a:solidFill>
              </a:endParaRPr>
            </a:p>
          </p:txBody>
        </p:sp>
      </p:grpSp>
      <p:grpSp>
        <p:nvGrpSpPr>
          <p:cNvPr id="32" name="Group 31">
            <a:extLst>
              <a:ext uri="{FF2B5EF4-FFF2-40B4-BE49-F238E27FC236}">
                <a16:creationId xmlns:a16="http://schemas.microsoft.com/office/drawing/2014/main" id="{D8F10F3E-9B70-CCC5-789A-ECAB98F3BB32}"/>
              </a:ext>
            </a:extLst>
          </p:cNvPr>
          <p:cNvGrpSpPr/>
          <p:nvPr/>
        </p:nvGrpSpPr>
        <p:grpSpPr>
          <a:xfrm>
            <a:off x="7598487" y="2506242"/>
            <a:ext cx="2070846" cy="1090764"/>
            <a:chOff x="2019300" y="2548251"/>
            <a:chExt cx="2070846" cy="1090764"/>
          </a:xfrm>
        </p:grpSpPr>
        <p:sp>
          <p:nvSpPr>
            <p:cNvPr id="33" name="Oval 32">
              <a:extLst>
                <a:ext uri="{FF2B5EF4-FFF2-40B4-BE49-F238E27FC236}">
                  <a16:creationId xmlns:a16="http://schemas.microsoft.com/office/drawing/2014/main" id="{8FF4EB1D-61B0-75D7-F02F-A2CE9FB985BA}"/>
                </a:ext>
              </a:extLst>
            </p:cNvPr>
            <p:cNvSpPr/>
            <p:nvPr/>
          </p:nvSpPr>
          <p:spPr>
            <a:xfrm>
              <a:off x="2689412" y="2548251"/>
              <a:ext cx="844924" cy="802555"/>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BT</a:t>
              </a:r>
              <a:endParaRPr lang="en-US" sz="1400" dirty="0">
                <a:solidFill>
                  <a:schemeClr val="tx1"/>
                </a:solidFill>
              </a:endParaRPr>
            </a:p>
          </p:txBody>
        </p:sp>
        <p:sp>
          <p:nvSpPr>
            <p:cNvPr id="34" name="TextBox 33">
              <a:extLst>
                <a:ext uri="{FF2B5EF4-FFF2-40B4-BE49-F238E27FC236}">
                  <a16:creationId xmlns:a16="http://schemas.microsoft.com/office/drawing/2014/main" id="{6DA40788-C61D-2A9B-2120-287E49942336}"/>
                </a:ext>
              </a:extLst>
            </p:cNvPr>
            <p:cNvSpPr txBox="1"/>
            <p:nvPr/>
          </p:nvSpPr>
          <p:spPr>
            <a:xfrm>
              <a:off x="2019300" y="3392794"/>
              <a:ext cx="2070846" cy="246221"/>
            </a:xfrm>
            <a:prstGeom prst="rect">
              <a:avLst/>
            </a:prstGeom>
            <a:noFill/>
          </p:spPr>
          <p:txBody>
            <a:bodyPr wrap="square" anchor="ctr">
              <a:spAutoFit/>
            </a:bodyPr>
            <a:lstStyle/>
            <a:p>
              <a:pPr algn="ctr"/>
              <a:r>
                <a:rPr lang="en-US" sz="1000" dirty="0"/>
                <a:t>Body Temperature</a:t>
              </a:r>
              <a:endParaRPr lang="en-US" sz="1000" dirty="0">
                <a:solidFill>
                  <a:schemeClr val="tx1"/>
                </a:solidFill>
              </a:endParaRPr>
            </a:p>
          </p:txBody>
        </p:sp>
      </p:grpSp>
      <p:grpSp>
        <p:nvGrpSpPr>
          <p:cNvPr id="35" name="Group 34">
            <a:extLst>
              <a:ext uri="{FF2B5EF4-FFF2-40B4-BE49-F238E27FC236}">
                <a16:creationId xmlns:a16="http://schemas.microsoft.com/office/drawing/2014/main" id="{C1FB3769-4BD9-6CC8-6E25-E4E95B7DD1F5}"/>
              </a:ext>
            </a:extLst>
          </p:cNvPr>
          <p:cNvGrpSpPr/>
          <p:nvPr/>
        </p:nvGrpSpPr>
        <p:grpSpPr>
          <a:xfrm>
            <a:off x="9458214" y="2506242"/>
            <a:ext cx="2070846" cy="1090764"/>
            <a:chOff x="2019300" y="2548251"/>
            <a:chExt cx="2070846" cy="1090764"/>
          </a:xfrm>
        </p:grpSpPr>
        <p:sp>
          <p:nvSpPr>
            <p:cNvPr id="36" name="Oval 35">
              <a:extLst>
                <a:ext uri="{FF2B5EF4-FFF2-40B4-BE49-F238E27FC236}">
                  <a16:creationId xmlns:a16="http://schemas.microsoft.com/office/drawing/2014/main" id="{E8D39179-2B24-8971-6919-EBDA314038AA}"/>
                </a:ext>
              </a:extLst>
            </p:cNvPr>
            <p:cNvSpPr/>
            <p:nvPr/>
          </p:nvSpPr>
          <p:spPr>
            <a:xfrm>
              <a:off x="2689412" y="2548251"/>
              <a:ext cx="844924" cy="802555"/>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ECG</a:t>
              </a:r>
              <a:endParaRPr lang="en-US" sz="1400" dirty="0">
                <a:solidFill>
                  <a:schemeClr val="tx1"/>
                </a:solidFill>
              </a:endParaRPr>
            </a:p>
          </p:txBody>
        </p:sp>
        <p:sp>
          <p:nvSpPr>
            <p:cNvPr id="37" name="TextBox 36">
              <a:extLst>
                <a:ext uri="{FF2B5EF4-FFF2-40B4-BE49-F238E27FC236}">
                  <a16:creationId xmlns:a16="http://schemas.microsoft.com/office/drawing/2014/main" id="{D2A525DB-C913-8F3A-1918-2598AA93D2FA}"/>
                </a:ext>
              </a:extLst>
            </p:cNvPr>
            <p:cNvSpPr txBox="1"/>
            <p:nvPr/>
          </p:nvSpPr>
          <p:spPr>
            <a:xfrm>
              <a:off x="2019300" y="3392794"/>
              <a:ext cx="2070846" cy="246221"/>
            </a:xfrm>
            <a:prstGeom prst="rect">
              <a:avLst/>
            </a:prstGeom>
            <a:noFill/>
          </p:spPr>
          <p:txBody>
            <a:bodyPr wrap="square" anchor="ctr">
              <a:spAutoFit/>
            </a:bodyPr>
            <a:lstStyle/>
            <a:p>
              <a:pPr algn="ctr"/>
              <a:r>
                <a:rPr lang="en-US" sz="1000" dirty="0"/>
                <a:t>Electrocardiographic </a:t>
              </a:r>
              <a:r>
                <a:rPr lang="en-US" sz="1000" dirty="0" err="1"/>
                <a:t>Rhythym</a:t>
              </a:r>
              <a:endParaRPr lang="en-US" sz="1000" dirty="0">
                <a:solidFill>
                  <a:schemeClr val="tx1"/>
                </a:solidFill>
              </a:endParaRPr>
            </a:p>
          </p:txBody>
        </p:sp>
      </p:grpSp>
    </p:spTree>
    <p:extLst>
      <p:ext uri="{BB962C8B-B14F-4D97-AF65-F5344CB8AC3E}">
        <p14:creationId xmlns:p14="http://schemas.microsoft.com/office/powerpoint/2010/main" val="5973966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042E603F-28B7-4831-BF23-65FBAB13D5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Shape 9">
            <a:extLst>
              <a:ext uri="{FF2B5EF4-FFF2-40B4-BE49-F238E27FC236}">
                <a16:creationId xmlns:a16="http://schemas.microsoft.com/office/drawing/2014/main" id="{4D39700F-2B10-4402-A7DD-06EE22458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32968"/>
            <a:ext cx="9560477" cy="6625032"/>
          </a:xfrm>
          <a:custGeom>
            <a:avLst/>
            <a:gdLst>
              <a:gd name="connsiteX0" fmla="*/ 8831314 w 9263816"/>
              <a:gd name="connsiteY0" fmla="*/ 5943878 h 6858000"/>
              <a:gd name="connsiteX1" fmla="*/ 9179783 w 9263816"/>
              <a:gd name="connsiteY1" fmla="*/ 6086141 h 6858000"/>
              <a:gd name="connsiteX2" fmla="*/ 9260887 w 9263816"/>
              <a:gd name="connsiteY2" fmla="*/ 6279156 h 6858000"/>
              <a:gd name="connsiteX3" fmla="*/ 8925621 w 9263816"/>
              <a:gd name="connsiteY3" fmla="*/ 6708712 h 6858000"/>
              <a:gd name="connsiteX4" fmla="*/ 8496050 w 9263816"/>
              <a:gd name="connsiteY4" fmla="*/ 6373449 h 6858000"/>
              <a:gd name="connsiteX5" fmla="*/ 8831314 w 9263816"/>
              <a:gd name="connsiteY5" fmla="*/ 5943878 h 6858000"/>
              <a:gd name="connsiteX6" fmla="*/ 7397485 w 9263816"/>
              <a:gd name="connsiteY6" fmla="*/ 5931706 h 6858000"/>
              <a:gd name="connsiteX7" fmla="*/ 7917779 w 9263816"/>
              <a:gd name="connsiteY7" fmla="*/ 6191864 h 6858000"/>
              <a:gd name="connsiteX8" fmla="*/ 8013467 w 9263816"/>
              <a:gd name="connsiteY8" fmla="*/ 6375784 h 6858000"/>
              <a:gd name="connsiteX9" fmla="*/ 8021879 w 9263816"/>
              <a:gd name="connsiteY9" fmla="*/ 6753751 h 6858000"/>
              <a:gd name="connsiteX10" fmla="*/ 7981316 w 9263816"/>
              <a:gd name="connsiteY10" fmla="*/ 6858000 h 6858000"/>
              <a:gd name="connsiteX11" fmla="*/ 6819486 w 9263816"/>
              <a:gd name="connsiteY11" fmla="*/ 6858000 h 6858000"/>
              <a:gd name="connsiteX12" fmla="*/ 6785199 w 9263816"/>
              <a:gd name="connsiteY12" fmla="*/ 6781101 h 6858000"/>
              <a:gd name="connsiteX13" fmla="*/ 7196747 w 9263816"/>
              <a:gd name="connsiteY13" fmla="*/ 5964309 h 6858000"/>
              <a:gd name="connsiteX14" fmla="*/ 7397485 w 9263816"/>
              <a:gd name="connsiteY14" fmla="*/ 5931706 h 6858000"/>
              <a:gd name="connsiteX15" fmla="*/ 1505570 w 9263816"/>
              <a:gd name="connsiteY15" fmla="*/ 227178 h 6858000"/>
              <a:gd name="connsiteX16" fmla="*/ 2026489 w 9263816"/>
              <a:gd name="connsiteY16" fmla="*/ 392370 h 6858000"/>
              <a:gd name="connsiteX17" fmla="*/ 2444553 w 9263816"/>
              <a:gd name="connsiteY17" fmla="*/ 1654853 h 6858000"/>
              <a:gd name="connsiteX18" fmla="*/ 3183153 w 9263816"/>
              <a:gd name="connsiteY18" fmla="*/ 2116208 h 6858000"/>
              <a:gd name="connsiteX19" fmla="*/ 4288384 w 9263816"/>
              <a:gd name="connsiteY19" fmla="*/ 1291908 h 6858000"/>
              <a:gd name="connsiteX20" fmla="*/ 5472602 w 9263816"/>
              <a:gd name="connsiteY20" fmla="*/ 1697818 h 6858000"/>
              <a:gd name="connsiteX21" fmla="*/ 5844697 w 9263816"/>
              <a:gd name="connsiteY21" fmla="*/ 3444791 h 6858000"/>
              <a:gd name="connsiteX22" fmla="*/ 6715674 w 9263816"/>
              <a:gd name="connsiteY22" fmla="*/ 4065208 h 6858000"/>
              <a:gd name="connsiteX23" fmla="*/ 8130429 w 9263816"/>
              <a:gd name="connsiteY23" fmla="*/ 4101787 h 6858000"/>
              <a:gd name="connsiteX24" fmla="*/ 8624630 w 9263816"/>
              <a:gd name="connsiteY24" fmla="*/ 4686202 h 6858000"/>
              <a:gd name="connsiteX25" fmla="*/ 8623843 w 9263816"/>
              <a:gd name="connsiteY25" fmla="*/ 4685749 h 6858000"/>
              <a:gd name="connsiteX26" fmla="*/ 8646859 w 9263816"/>
              <a:gd name="connsiteY26" fmla="*/ 4835156 h 6858000"/>
              <a:gd name="connsiteX27" fmla="*/ 8079403 w 9263816"/>
              <a:gd name="connsiteY27" fmla="*/ 5661624 h 6858000"/>
              <a:gd name="connsiteX28" fmla="*/ 6833105 w 9263816"/>
              <a:gd name="connsiteY28" fmla="*/ 5397208 h 6858000"/>
              <a:gd name="connsiteX29" fmla="*/ 5900832 w 9263816"/>
              <a:gd name="connsiteY29" fmla="*/ 5944462 h 6858000"/>
              <a:gd name="connsiteX30" fmla="*/ 6067212 w 9263816"/>
              <a:gd name="connsiteY30" fmla="*/ 6811916 h 6858000"/>
              <a:gd name="connsiteX31" fmla="*/ 6089565 w 9263816"/>
              <a:gd name="connsiteY31" fmla="*/ 6858000 h 6858000"/>
              <a:gd name="connsiteX32" fmla="*/ 0 w 9263816"/>
              <a:gd name="connsiteY32" fmla="*/ 6858000 h 6858000"/>
              <a:gd name="connsiteX33" fmla="*/ 0 w 9263816"/>
              <a:gd name="connsiteY33" fmla="*/ 2181377 h 6858000"/>
              <a:gd name="connsiteX34" fmla="*/ 73069 w 9263816"/>
              <a:gd name="connsiteY34" fmla="*/ 2215839 h 6858000"/>
              <a:gd name="connsiteX35" fmla="*/ 335445 w 9263816"/>
              <a:gd name="connsiteY35" fmla="*/ 2237140 h 6858000"/>
              <a:gd name="connsiteX36" fmla="*/ 752878 w 9263816"/>
              <a:gd name="connsiteY36" fmla="*/ 1445285 h 6858000"/>
              <a:gd name="connsiteX37" fmla="*/ 1202551 w 9263816"/>
              <a:gd name="connsiteY37" fmla="*/ 314229 h 6858000"/>
              <a:gd name="connsiteX38" fmla="*/ 1505570 w 9263816"/>
              <a:gd name="connsiteY38" fmla="*/ 227178 h 6858000"/>
              <a:gd name="connsiteX39" fmla="*/ 3142509 w 9263816"/>
              <a:gd name="connsiteY39" fmla="*/ 68854 h 6858000"/>
              <a:gd name="connsiteX40" fmla="*/ 3490978 w 9263816"/>
              <a:gd name="connsiteY40" fmla="*/ 211117 h 6858000"/>
              <a:gd name="connsiteX41" fmla="*/ 3572083 w 9263816"/>
              <a:gd name="connsiteY41" fmla="*/ 404131 h 6858000"/>
              <a:gd name="connsiteX42" fmla="*/ 3236814 w 9263816"/>
              <a:gd name="connsiteY42" fmla="*/ 833688 h 6858000"/>
              <a:gd name="connsiteX43" fmla="*/ 2807245 w 9263816"/>
              <a:gd name="connsiteY43" fmla="*/ 498425 h 6858000"/>
              <a:gd name="connsiteX44" fmla="*/ 3142509 w 9263816"/>
              <a:gd name="connsiteY44" fmla="*/ 68854 h 6858000"/>
              <a:gd name="connsiteX45" fmla="*/ 0 w 9263816"/>
              <a:gd name="connsiteY45" fmla="*/ 0 h 6858000"/>
              <a:gd name="connsiteX46" fmla="*/ 39858 w 9263816"/>
              <a:gd name="connsiteY46" fmla="*/ 0 h 6858000"/>
              <a:gd name="connsiteX47" fmla="*/ 65022 w 9263816"/>
              <a:gd name="connsiteY47" fmla="*/ 5834 h 6858000"/>
              <a:gd name="connsiteX48" fmla="*/ 389258 w 9263816"/>
              <a:gd name="connsiteY48" fmla="*/ 235630 h 6858000"/>
              <a:gd name="connsiteX49" fmla="*/ 485484 w 9263816"/>
              <a:gd name="connsiteY49" fmla="*/ 420070 h 6858000"/>
              <a:gd name="connsiteX50" fmla="*/ 74229 w 9263816"/>
              <a:gd name="connsiteY50" fmla="*/ 1237955 h 6858000"/>
              <a:gd name="connsiteX51" fmla="*/ 0 w 9263816"/>
              <a:gd name="connsiteY51" fmla="*/ 125447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9263816" h="6858000">
                <a:moveTo>
                  <a:pt x="8831314" y="5943878"/>
                </a:moveTo>
                <a:cubicBezTo>
                  <a:pt x="8964281" y="5927490"/>
                  <a:pt x="9096260" y="5981362"/>
                  <a:pt x="9179783" y="6086141"/>
                </a:cubicBezTo>
                <a:cubicBezTo>
                  <a:pt x="9224074" y="6141769"/>
                  <a:pt x="9252211" y="6208560"/>
                  <a:pt x="9260887" y="6279156"/>
                </a:cubicBezTo>
                <a:cubicBezTo>
                  <a:pt x="9286897" y="6490362"/>
                  <a:pt x="9136845" y="6682672"/>
                  <a:pt x="8925621" y="6708712"/>
                </a:cubicBezTo>
                <a:cubicBezTo>
                  <a:pt x="8714398" y="6734766"/>
                  <a:pt x="8522062" y="6584655"/>
                  <a:pt x="8496050" y="6373449"/>
                </a:cubicBezTo>
                <a:cubicBezTo>
                  <a:pt x="8470038" y="6162229"/>
                  <a:pt x="8620090" y="5969920"/>
                  <a:pt x="8831314" y="5943878"/>
                </a:cubicBezTo>
                <a:close/>
                <a:moveTo>
                  <a:pt x="7397485" y="5931706"/>
                </a:moveTo>
                <a:cubicBezTo>
                  <a:pt x="7598431" y="5931157"/>
                  <a:pt x="7792965" y="6024548"/>
                  <a:pt x="7917779" y="6191864"/>
                </a:cubicBezTo>
                <a:cubicBezTo>
                  <a:pt x="7959204" y="6247714"/>
                  <a:pt x="7991530" y="6309792"/>
                  <a:pt x="8013467" y="6375784"/>
                </a:cubicBezTo>
                <a:cubicBezTo>
                  <a:pt x="8055425" y="6502973"/>
                  <a:pt x="8055748" y="6633888"/>
                  <a:pt x="8021879" y="6753751"/>
                </a:cubicBezTo>
                <a:lnTo>
                  <a:pt x="7981316" y="6858000"/>
                </a:lnTo>
                <a:lnTo>
                  <a:pt x="6819486" y="6858000"/>
                </a:lnTo>
                <a:lnTo>
                  <a:pt x="6785199" y="6781101"/>
                </a:lnTo>
                <a:cubicBezTo>
                  <a:pt x="6673307" y="6441922"/>
                  <a:pt x="6857485" y="6076251"/>
                  <a:pt x="7196747" y="5964309"/>
                </a:cubicBezTo>
                <a:cubicBezTo>
                  <a:pt x="7262809" y="5942509"/>
                  <a:pt x="7330503" y="5931889"/>
                  <a:pt x="7397485" y="5931706"/>
                </a:cubicBezTo>
                <a:close/>
                <a:moveTo>
                  <a:pt x="1505570" y="227178"/>
                </a:moveTo>
                <a:cubicBezTo>
                  <a:pt x="1691018" y="218628"/>
                  <a:pt x="1889853" y="275403"/>
                  <a:pt x="2026489" y="392370"/>
                </a:cubicBezTo>
                <a:cubicBezTo>
                  <a:pt x="2369898" y="685965"/>
                  <a:pt x="2078266" y="1147857"/>
                  <a:pt x="2444553" y="1654853"/>
                </a:cubicBezTo>
                <a:cubicBezTo>
                  <a:pt x="2492906" y="1721679"/>
                  <a:pt x="2800482" y="2144546"/>
                  <a:pt x="3183153" y="2116208"/>
                </a:cubicBezTo>
                <a:cubicBezTo>
                  <a:pt x="3673561" y="2080541"/>
                  <a:pt x="3723222" y="1441614"/>
                  <a:pt x="4288384" y="1291908"/>
                </a:cubicBezTo>
                <a:cubicBezTo>
                  <a:pt x="4689065" y="1185875"/>
                  <a:pt x="5207943" y="1366633"/>
                  <a:pt x="5472602" y="1697818"/>
                </a:cubicBezTo>
                <a:cubicBezTo>
                  <a:pt x="5891294" y="2221754"/>
                  <a:pt x="5408012" y="2790179"/>
                  <a:pt x="5844697" y="3444791"/>
                </a:cubicBezTo>
                <a:cubicBezTo>
                  <a:pt x="6149900" y="3902467"/>
                  <a:pt x="6672672" y="4053594"/>
                  <a:pt x="6715674" y="4065208"/>
                </a:cubicBezTo>
                <a:cubicBezTo>
                  <a:pt x="7326423" y="4232519"/>
                  <a:pt x="7677158" y="3817020"/>
                  <a:pt x="8130429" y="4101787"/>
                </a:cubicBezTo>
                <a:cubicBezTo>
                  <a:pt x="8226340" y="4161985"/>
                  <a:pt x="8536372" y="4356819"/>
                  <a:pt x="8624630" y="4686202"/>
                </a:cubicBezTo>
                <a:lnTo>
                  <a:pt x="8623843" y="4685749"/>
                </a:lnTo>
                <a:cubicBezTo>
                  <a:pt x="8636924" y="4734567"/>
                  <a:pt x="8644635" y="4784678"/>
                  <a:pt x="8646859" y="4835156"/>
                </a:cubicBezTo>
                <a:cubicBezTo>
                  <a:pt x="8662596" y="5196604"/>
                  <a:pt x="8398383" y="5562326"/>
                  <a:pt x="8079403" y="5661624"/>
                </a:cubicBezTo>
                <a:cubicBezTo>
                  <a:pt x="7649807" y="5795217"/>
                  <a:pt x="7430996" y="5350293"/>
                  <a:pt x="6833105" y="5397208"/>
                </a:cubicBezTo>
                <a:cubicBezTo>
                  <a:pt x="6519033" y="5421527"/>
                  <a:pt x="6056658" y="5595550"/>
                  <a:pt x="5900832" y="5944462"/>
                </a:cubicBezTo>
                <a:cubicBezTo>
                  <a:pt x="5770548" y="6236600"/>
                  <a:pt x="5916359" y="6515160"/>
                  <a:pt x="6067212" y="6811916"/>
                </a:cubicBezTo>
                <a:lnTo>
                  <a:pt x="6089565" y="6858000"/>
                </a:lnTo>
                <a:lnTo>
                  <a:pt x="0" y="6858000"/>
                </a:lnTo>
                <a:lnTo>
                  <a:pt x="0" y="2181377"/>
                </a:lnTo>
                <a:lnTo>
                  <a:pt x="73069" y="2215839"/>
                </a:lnTo>
                <a:cubicBezTo>
                  <a:pt x="165116" y="2251829"/>
                  <a:pt x="254486" y="2263171"/>
                  <a:pt x="335445" y="2237140"/>
                </a:cubicBezTo>
                <a:cubicBezTo>
                  <a:pt x="594718" y="2153707"/>
                  <a:pt x="688441" y="1733807"/>
                  <a:pt x="752878" y="1445285"/>
                </a:cubicBezTo>
                <a:cubicBezTo>
                  <a:pt x="925059" y="674068"/>
                  <a:pt x="975076" y="456292"/>
                  <a:pt x="1202551" y="314229"/>
                </a:cubicBezTo>
                <a:cubicBezTo>
                  <a:pt x="1287853" y="260956"/>
                  <a:pt x="1394302" y="232308"/>
                  <a:pt x="1505570" y="227178"/>
                </a:cubicBezTo>
                <a:close/>
                <a:moveTo>
                  <a:pt x="3142509" y="68854"/>
                </a:moveTo>
                <a:cubicBezTo>
                  <a:pt x="3275474" y="52467"/>
                  <a:pt x="3407455" y="106339"/>
                  <a:pt x="3490978" y="211117"/>
                </a:cubicBezTo>
                <a:cubicBezTo>
                  <a:pt x="3535271" y="266744"/>
                  <a:pt x="3563404" y="333535"/>
                  <a:pt x="3572083" y="404131"/>
                </a:cubicBezTo>
                <a:cubicBezTo>
                  <a:pt x="3598092" y="615337"/>
                  <a:pt x="3448040" y="807648"/>
                  <a:pt x="3236814" y="833688"/>
                </a:cubicBezTo>
                <a:cubicBezTo>
                  <a:pt x="3025594" y="859741"/>
                  <a:pt x="2833255" y="709631"/>
                  <a:pt x="2807245" y="498425"/>
                </a:cubicBezTo>
                <a:cubicBezTo>
                  <a:pt x="2781232" y="287207"/>
                  <a:pt x="2931283" y="94896"/>
                  <a:pt x="3142509" y="68854"/>
                </a:cubicBezTo>
                <a:close/>
                <a:moveTo>
                  <a:pt x="0" y="0"/>
                </a:moveTo>
                <a:lnTo>
                  <a:pt x="39858" y="0"/>
                </a:lnTo>
                <a:lnTo>
                  <a:pt x="65022" y="5834"/>
                </a:lnTo>
                <a:cubicBezTo>
                  <a:pt x="191545" y="45606"/>
                  <a:pt x="305874" y="124173"/>
                  <a:pt x="389258" y="235630"/>
                </a:cubicBezTo>
                <a:cubicBezTo>
                  <a:pt x="430983" y="291600"/>
                  <a:pt x="463360" y="353876"/>
                  <a:pt x="485484" y="420070"/>
                </a:cubicBezTo>
                <a:cubicBezTo>
                  <a:pt x="597711" y="759508"/>
                  <a:pt x="413661" y="1125662"/>
                  <a:pt x="74229" y="1237955"/>
                </a:cubicBezTo>
                <a:lnTo>
                  <a:pt x="0" y="1254477"/>
                </a:lnTo>
                <a:close/>
              </a:path>
            </a:pathLst>
          </a:custGeom>
          <a:solidFill>
            <a:schemeClr val="bg1"/>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6" name="Background Fill">
            <a:extLst>
              <a:ext uri="{FF2B5EF4-FFF2-40B4-BE49-F238E27FC236}">
                <a16:creationId xmlns:a16="http://schemas.microsoft.com/office/drawing/2014/main" id="{68CA250C-CF5A-4736-9249-D6111F7C55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44F565DD-CF3E-D6E4-066A-C0071353592C}"/>
              </a:ext>
            </a:extLst>
          </p:cNvPr>
          <p:cNvPicPr>
            <a:picLocks noChangeAspect="1"/>
          </p:cNvPicPr>
          <p:nvPr/>
        </p:nvPicPr>
        <p:blipFill>
          <a:blip r:embed="rId2">
            <a:extLst>
              <a:ext uri="{28A0092B-C50C-407E-A947-70E740481C1C}">
                <a14:useLocalDpi xmlns:a14="http://schemas.microsoft.com/office/drawing/2010/main" val="0"/>
              </a:ext>
            </a:extLst>
          </a:blip>
          <a:srcRect r="25"/>
          <a:stretch>
            <a:fillRect/>
          </a:stretch>
        </p:blipFill>
        <p:spPr>
          <a:xfrm>
            <a:off x="20" y="10"/>
            <a:ext cx="12188932" cy="6857990"/>
          </a:xfrm>
          <a:prstGeom prst="rect">
            <a:avLst/>
          </a:prstGeom>
        </p:spPr>
      </p:pic>
    </p:spTree>
    <p:extLst>
      <p:ext uri="{BB962C8B-B14F-4D97-AF65-F5344CB8AC3E}">
        <p14:creationId xmlns:p14="http://schemas.microsoft.com/office/powerpoint/2010/main" val="23076197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slide-title">
            <a:extLst>
              <a:ext uri="{FF2B5EF4-FFF2-40B4-BE49-F238E27FC236}">
                <a16:creationId xmlns:a16="http://schemas.microsoft.com/office/drawing/2014/main" id="{17CD1F58-0920-453D-A7CE-880A72E9E72F}"/>
              </a:ext>
            </a:extLst>
          </p:cNvPr>
          <p:cNvSpPr>
            <a:spLocks noGrp="1"/>
          </p:cNvSpPr>
          <p:nvPr/>
        </p:nvSpPr>
        <p:spPr>
          <a:xfrm>
            <a:off x="594360" y="259080"/>
            <a:ext cx="8534400" cy="533400"/>
          </a:xfrm>
          <a:prstGeom prst="rect">
            <a:avLst/>
          </a:prstGeom>
          <a:noFill/>
          <a:ln w="0">
            <a:noFill/>
            <a:prstDash val="solid"/>
          </a:ln>
        </p:spPr>
        <p:txBody>
          <a:bodyPr anchor="t">
            <a:normAutofit fontScale="85993" lnSpcReduction="20000"/>
          </a:bodyPr>
          <a:lstStyle/>
          <a:p>
            <a:pPr>
              <a:lnSpc>
                <a:spcPct val="108000"/>
              </a:lnSpc>
              <a:defRPr sz="4650" b="1" i="0">
                <a:solidFill>
                  <a:srgbClr val="111111"/>
                </a:solidFill>
                <a:latin typeface="Georgia"/>
                <a:ea typeface="Georgia"/>
                <a:cs typeface="Georgia"/>
              </a:defRPr>
            </a:pPr>
            <a:r>
              <a:rPr lang="en-CA" sz="3520" b="1" dirty="0">
                <a:solidFill>
                  <a:srgbClr val="111111"/>
                </a:solidFill>
                <a:latin typeface="Georgia"/>
                <a:ea typeface="Georgia"/>
                <a:cs typeface="Georgia"/>
              </a:rPr>
              <a:t>ICU Trajectory Intelligence</a:t>
            </a:r>
          </a:p>
        </p:txBody>
      </p:sp>
      <p:sp>
        <p:nvSpPr>
          <p:cNvPr id="2" name="Rectangle 1">
            <a:extLst>
              <a:ext uri="{FF2B5EF4-FFF2-40B4-BE49-F238E27FC236}">
                <a16:creationId xmlns:a16="http://schemas.microsoft.com/office/drawing/2014/main" id="{36A27AB5-F3F4-4785-B8D6-9BCBBF6B382C}"/>
              </a:ext>
            </a:extLst>
          </p:cNvPr>
          <p:cNvSpPr>
            <a:spLocks noGrp="1"/>
          </p:cNvSpPr>
          <p:nvPr/>
        </p:nvSpPr>
        <p:spPr>
          <a:xfrm>
            <a:off x="9372600" y="228600"/>
            <a:ext cx="2286000" cy="533400"/>
          </a:xfrm>
          <a:prstGeom prst="rect">
            <a:avLst/>
          </a:prstGeom>
          <a:noFill/>
          <a:ln w="0">
            <a:noFill/>
            <a:prstDash val="solid"/>
          </a:ln>
        </p:spPr>
        <p:txBody>
          <a:bodyPr anchor="t">
            <a:normAutofit/>
          </a:bodyPr>
          <a:lstStyle/>
          <a:p>
            <a:pPr algn="r">
              <a:lnSpc>
                <a:spcPct val="108000"/>
              </a:lnSpc>
              <a:buNone/>
              <a:defRPr sz="3000" b="1" i="0">
                <a:solidFill>
                  <a:srgbClr val="EF7D00"/>
                </a:solidFill>
                <a:latin typeface="Georgia"/>
                <a:ea typeface="Georgia"/>
                <a:cs typeface="Georgia"/>
              </a:defRPr>
            </a:pPr>
            <a:r>
              <a:rPr sz="2400" b="1">
                <a:solidFill>
                  <a:srgbClr val="EF7D00"/>
                </a:solidFill>
                <a:latin typeface="Georgia"/>
                <a:ea typeface="Georgia"/>
                <a:cs typeface="Georgia"/>
              </a:rPr>
              <a:t>Conclusion</a:t>
            </a:r>
          </a:p>
        </p:txBody>
      </p:sp>
      <p:sp>
        <p:nvSpPr>
          <p:cNvPr id="3" name="Rectangle 2">
            <a:extLst>
              <a:ext uri="{FF2B5EF4-FFF2-40B4-BE49-F238E27FC236}">
                <a16:creationId xmlns:a16="http://schemas.microsoft.com/office/drawing/2014/main" id="{6F9C62B7-A6ED-4324-BDA1-3C6DFCDF9A03}"/>
              </a:ext>
            </a:extLst>
          </p:cNvPr>
          <p:cNvSpPr>
            <a:spLocks noGrp="1"/>
          </p:cNvSpPr>
          <p:nvPr/>
        </p:nvSpPr>
        <p:spPr>
          <a:xfrm>
            <a:off x="624840" y="853440"/>
            <a:ext cx="8610600" cy="259080"/>
          </a:xfrm>
          <a:prstGeom prst="rect">
            <a:avLst/>
          </a:prstGeom>
          <a:noFill/>
          <a:ln w="0">
            <a:noFill/>
            <a:prstDash val="solid"/>
          </a:ln>
        </p:spPr>
        <p:txBody>
          <a:bodyPr anchor="t">
            <a:noAutofit/>
          </a:bodyPr>
          <a:lstStyle/>
          <a:p>
            <a:pPr algn="l">
              <a:lnSpc>
                <a:spcPct val="108000"/>
              </a:lnSpc>
              <a:buNone/>
              <a:defRPr sz="1500" b="0" i="0">
                <a:solidFill>
                  <a:srgbClr val="5A5A5A"/>
                </a:solidFill>
                <a:latin typeface="Aptos"/>
                <a:ea typeface="Aptos"/>
                <a:cs typeface="Aptos"/>
              </a:defRPr>
            </a:pPr>
            <a:r>
              <a:rPr sz="1200">
                <a:solidFill>
                  <a:srgbClr val="5A5A5A"/>
                </a:solidFill>
                <a:latin typeface="Aptos"/>
                <a:ea typeface="Aptos"/>
                <a:cs typeface="Aptos"/>
              </a:rPr>
              <a:t>One clinical need was converted into one usable analytical workflow.</a:t>
            </a:r>
          </a:p>
        </p:txBody>
      </p:sp>
      <p:sp>
        <p:nvSpPr>
          <p:cNvPr id="4" name="Straight Connector 3">
            <a:extLst>
              <a:ext uri="{FF2B5EF4-FFF2-40B4-BE49-F238E27FC236}">
                <a16:creationId xmlns:a16="http://schemas.microsoft.com/office/drawing/2014/main" id="{8652A471-16BB-4D04-97F8-892EB5D448A7}"/>
              </a:ext>
            </a:extLst>
          </p:cNvPr>
          <p:cNvSpPr>
            <a:spLocks noGrp="1"/>
          </p:cNvSpPr>
          <p:nvPr/>
        </p:nvSpPr>
        <p:spPr>
          <a:xfrm>
            <a:off x="3467100" y="2628900"/>
            <a:ext cx="2476500" cy="0"/>
          </a:xfrm>
          <a:prstGeom prst="line">
            <a:avLst/>
          </a:prstGeom>
          <a:noFill/>
          <a:ln w="19050">
            <a:solidFill>
              <a:srgbClr val="B9B9B9"/>
            </a:solidFill>
            <a:prstDash val="solid"/>
          </a:ln>
        </p:spPr>
        <p:txBody>
          <a:bodyPr/>
          <a:lstStyle/>
          <a:p>
            <a:endParaRPr lang="en-US" sz="1440"/>
          </a:p>
        </p:txBody>
      </p:sp>
      <p:sp>
        <p:nvSpPr>
          <p:cNvPr id="5" name="Straight Connector 4">
            <a:extLst>
              <a:ext uri="{FF2B5EF4-FFF2-40B4-BE49-F238E27FC236}">
                <a16:creationId xmlns:a16="http://schemas.microsoft.com/office/drawing/2014/main" id="{7B562BC7-54F3-4CA5-BAB8-2FC68A1DDBDE}"/>
              </a:ext>
            </a:extLst>
          </p:cNvPr>
          <p:cNvSpPr>
            <a:spLocks noGrp="1"/>
          </p:cNvSpPr>
          <p:nvPr/>
        </p:nvSpPr>
        <p:spPr>
          <a:xfrm>
            <a:off x="8610600" y="2628900"/>
            <a:ext cx="1524000" cy="0"/>
          </a:xfrm>
          <a:prstGeom prst="line">
            <a:avLst/>
          </a:prstGeom>
          <a:noFill/>
          <a:ln w="19050">
            <a:solidFill>
              <a:srgbClr val="B9B9B9"/>
            </a:solidFill>
            <a:prstDash val="solid"/>
          </a:ln>
        </p:spPr>
        <p:txBody>
          <a:bodyPr/>
          <a:lstStyle/>
          <a:p>
            <a:endParaRPr lang="en-US" sz="1440"/>
          </a:p>
        </p:txBody>
      </p:sp>
      <p:sp>
        <p:nvSpPr>
          <p:cNvPr id="6" name="Rounded Rectangle 5">
            <a:extLst>
              <a:ext uri="{FF2B5EF4-FFF2-40B4-BE49-F238E27FC236}">
                <a16:creationId xmlns:a16="http://schemas.microsoft.com/office/drawing/2014/main" id="{ED39B905-91AD-44D5-AE12-ACDCC3B8CE70}"/>
              </a:ext>
            </a:extLst>
          </p:cNvPr>
          <p:cNvSpPr>
            <a:spLocks noGrp="1"/>
          </p:cNvSpPr>
          <p:nvPr/>
        </p:nvSpPr>
        <p:spPr>
          <a:xfrm>
            <a:off x="685800" y="1676400"/>
            <a:ext cx="2781300" cy="1905000"/>
          </a:xfrm>
          <a:prstGeom prst="roundRect">
            <a:avLst>
              <a:gd name="adj" fmla="val 6400"/>
            </a:avLst>
          </a:prstGeom>
          <a:solidFill>
            <a:srgbClr val="EAF5FD"/>
          </a:solidFill>
          <a:ln w="19050">
            <a:solidFill>
              <a:srgbClr val="1484D6"/>
            </a:solidFill>
            <a:prstDash val="solid"/>
          </a:ln>
        </p:spPr>
        <p:txBody>
          <a:bodyPr/>
          <a:lstStyle/>
          <a:p>
            <a:endParaRPr lang="en-US" sz="1440"/>
          </a:p>
        </p:txBody>
      </p:sp>
      <p:sp>
        <p:nvSpPr>
          <p:cNvPr id="7" name="Oval 6">
            <a:extLst>
              <a:ext uri="{FF2B5EF4-FFF2-40B4-BE49-F238E27FC236}">
                <a16:creationId xmlns:a16="http://schemas.microsoft.com/office/drawing/2014/main" id="{9949F28B-B69D-4A9B-BD50-558C1E519276}"/>
              </a:ext>
            </a:extLst>
          </p:cNvPr>
          <p:cNvSpPr>
            <a:spLocks noGrp="1"/>
          </p:cNvSpPr>
          <p:nvPr/>
        </p:nvSpPr>
        <p:spPr>
          <a:xfrm>
            <a:off x="853440" y="1828800"/>
            <a:ext cx="441960" cy="441960"/>
          </a:xfrm>
          <a:prstGeom prst="ellipse">
            <a:avLst/>
          </a:prstGeom>
          <a:solidFill>
            <a:srgbClr val="FFFFFF"/>
          </a:solidFill>
          <a:ln w="14288">
            <a:solidFill>
              <a:srgbClr val="1484D6"/>
            </a:solidFill>
            <a:prstDash val="solid"/>
          </a:ln>
        </p:spPr>
        <p:txBody>
          <a:bodyPr anchor="ctr">
            <a:normAutofit/>
          </a:bodyPr>
          <a:lstStyle/>
          <a:p>
            <a:pPr algn="ctr">
              <a:defRPr sz="1650" b="1">
                <a:solidFill>
                  <a:srgbClr val="1484D6"/>
                </a:solidFill>
                <a:latin typeface="Aptos"/>
                <a:ea typeface="Aptos"/>
                <a:cs typeface="Aptos"/>
              </a:defRPr>
            </a:pPr>
            <a:r>
              <a:rPr sz="1320" b="1">
                <a:solidFill>
                  <a:srgbClr val="1484D6"/>
                </a:solidFill>
                <a:latin typeface="Aptos"/>
                <a:ea typeface="Aptos"/>
                <a:cs typeface="Aptos"/>
              </a:rPr>
              <a:t>?</a:t>
            </a:r>
          </a:p>
        </p:txBody>
      </p:sp>
      <p:sp>
        <p:nvSpPr>
          <p:cNvPr id="8" name="Rectangle 7">
            <a:extLst>
              <a:ext uri="{FF2B5EF4-FFF2-40B4-BE49-F238E27FC236}">
                <a16:creationId xmlns:a16="http://schemas.microsoft.com/office/drawing/2014/main" id="{5B202B3F-1E13-4EFB-822A-6EEC635B85C0}"/>
              </a:ext>
            </a:extLst>
          </p:cNvPr>
          <p:cNvSpPr>
            <a:spLocks noGrp="1"/>
          </p:cNvSpPr>
          <p:nvPr/>
        </p:nvSpPr>
        <p:spPr>
          <a:xfrm>
            <a:off x="1447800" y="1821180"/>
            <a:ext cx="1828800" cy="160020"/>
          </a:xfrm>
          <a:prstGeom prst="rect">
            <a:avLst/>
          </a:prstGeom>
          <a:noFill/>
          <a:ln w="0">
            <a:noFill/>
            <a:prstDash val="solid"/>
          </a:ln>
        </p:spPr>
        <p:txBody>
          <a:bodyPr anchor="t">
            <a:noAutofit/>
          </a:bodyPr>
          <a:lstStyle/>
          <a:p>
            <a:pPr algn="l">
              <a:lnSpc>
                <a:spcPct val="108000"/>
              </a:lnSpc>
              <a:buNone/>
              <a:defRPr sz="975" b="1" i="0">
                <a:solidFill>
                  <a:srgbClr val="1484D6"/>
                </a:solidFill>
                <a:latin typeface="Aptos"/>
                <a:ea typeface="Aptos"/>
                <a:cs typeface="Aptos"/>
              </a:defRPr>
            </a:pPr>
            <a:r>
              <a:rPr sz="780" b="1">
                <a:solidFill>
                  <a:srgbClr val="1484D6"/>
                </a:solidFill>
                <a:latin typeface="Aptos"/>
                <a:ea typeface="Aptos"/>
                <a:cs typeface="Aptos"/>
              </a:rPr>
              <a:t>BUSINESS NEED</a:t>
            </a:r>
          </a:p>
        </p:txBody>
      </p:sp>
      <p:sp>
        <p:nvSpPr>
          <p:cNvPr id="9" name="Rectangle 8">
            <a:extLst>
              <a:ext uri="{FF2B5EF4-FFF2-40B4-BE49-F238E27FC236}">
                <a16:creationId xmlns:a16="http://schemas.microsoft.com/office/drawing/2014/main" id="{599FC60B-9C50-4804-8C25-77BA2C48B579}"/>
              </a:ext>
            </a:extLst>
          </p:cNvPr>
          <p:cNvSpPr>
            <a:spLocks noGrp="1"/>
          </p:cNvSpPr>
          <p:nvPr/>
        </p:nvSpPr>
        <p:spPr>
          <a:xfrm>
            <a:off x="1447800" y="2019300"/>
            <a:ext cx="1828800" cy="441960"/>
          </a:xfrm>
          <a:prstGeom prst="rect">
            <a:avLst/>
          </a:prstGeom>
          <a:noFill/>
          <a:ln w="0">
            <a:noFill/>
            <a:prstDash val="solid"/>
          </a:ln>
        </p:spPr>
        <p:txBody>
          <a:bodyPr anchor="ctr">
            <a:normAutofit fontScale="85303" lnSpcReduction="20000"/>
          </a:bodyPr>
          <a:lstStyle/>
          <a:p>
            <a:pPr algn="l">
              <a:lnSpc>
                <a:spcPct val="108000"/>
              </a:lnSpc>
              <a:buNone/>
              <a:defRPr sz="1800" b="1" i="0">
                <a:solidFill>
                  <a:srgbClr val="111111"/>
                </a:solidFill>
                <a:latin typeface="Georgia"/>
                <a:ea typeface="Georgia"/>
                <a:cs typeface="Georgia"/>
              </a:defRPr>
            </a:pPr>
            <a:r>
              <a:rPr sz="1440" b="1">
                <a:solidFill>
                  <a:srgbClr val="111111"/>
                </a:solidFill>
                <a:latin typeface="Georgia"/>
                <a:ea typeface="Georgia"/>
                <a:cs typeface="Georgia"/>
              </a:rPr>
              <a:t>See where the patient is heading</a:t>
            </a:r>
          </a:p>
        </p:txBody>
      </p:sp>
      <p:sp>
        <p:nvSpPr>
          <p:cNvPr id="10" name="Rectangle 9">
            <a:extLst>
              <a:ext uri="{FF2B5EF4-FFF2-40B4-BE49-F238E27FC236}">
                <a16:creationId xmlns:a16="http://schemas.microsoft.com/office/drawing/2014/main" id="{3A442ED7-4F64-436A-B4B5-5CC80F760D68}"/>
              </a:ext>
            </a:extLst>
          </p:cNvPr>
          <p:cNvSpPr>
            <a:spLocks noGrp="1"/>
          </p:cNvSpPr>
          <p:nvPr/>
        </p:nvSpPr>
        <p:spPr>
          <a:xfrm>
            <a:off x="899160" y="2529840"/>
            <a:ext cx="2354580" cy="914400"/>
          </a:xfrm>
          <a:prstGeom prst="rect">
            <a:avLst/>
          </a:prstGeom>
          <a:noFill/>
          <a:ln w="0">
            <a:noFill/>
            <a:prstDash val="solid"/>
          </a:ln>
        </p:spPr>
        <p:txBody>
          <a:bodyPr anchor="t">
            <a:normAutofit fontScale="96271"/>
          </a:bodyPr>
          <a:lstStyle/>
          <a:p>
            <a:pPr algn="l">
              <a:lnSpc>
                <a:spcPct val="115000"/>
              </a:lnSpc>
              <a:buNone/>
              <a:defRPr sz="1425" b="0" i="0">
                <a:solidFill>
                  <a:srgbClr val="5A5A5A"/>
                </a:solidFill>
                <a:latin typeface="Aptos"/>
                <a:ea typeface="Aptos"/>
                <a:cs typeface="Aptos"/>
              </a:defRPr>
            </a:pPr>
            <a:r>
              <a:rPr sz="1140">
                <a:solidFill>
                  <a:srgbClr val="5A5A5A"/>
                </a:solidFill>
                <a:latin typeface="Aptos"/>
                <a:ea typeface="Aptos"/>
                <a:cs typeface="Aptos"/>
              </a:rPr>
              <a:t>Admission severity is a snapshot. The need is to detect whether physiology is improving or worsening during the first 24 hours.</a:t>
            </a:r>
          </a:p>
        </p:txBody>
      </p:sp>
      <p:sp>
        <p:nvSpPr>
          <p:cNvPr id="11" name="Rounded Rectangle 10">
            <a:extLst>
              <a:ext uri="{FF2B5EF4-FFF2-40B4-BE49-F238E27FC236}">
                <a16:creationId xmlns:a16="http://schemas.microsoft.com/office/drawing/2014/main" id="{0957CC40-C208-46A7-A62C-EB64EE2C9166}"/>
              </a:ext>
            </a:extLst>
          </p:cNvPr>
          <p:cNvSpPr>
            <a:spLocks noGrp="1"/>
          </p:cNvSpPr>
          <p:nvPr/>
        </p:nvSpPr>
        <p:spPr>
          <a:xfrm>
            <a:off x="3962400" y="1524000"/>
            <a:ext cx="4572000" cy="2209800"/>
          </a:xfrm>
          <a:prstGeom prst="roundRect">
            <a:avLst>
              <a:gd name="adj" fmla="val 6207"/>
            </a:avLst>
          </a:prstGeom>
          <a:solidFill>
            <a:srgbClr val="FFFFFF"/>
          </a:solidFill>
          <a:ln w="20955">
            <a:solidFill>
              <a:srgbClr val="00A870"/>
            </a:solidFill>
            <a:prstDash val="solid"/>
          </a:ln>
        </p:spPr>
        <p:txBody>
          <a:bodyPr/>
          <a:lstStyle/>
          <a:p>
            <a:endParaRPr lang="en-US" sz="1440"/>
          </a:p>
        </p:txBody>
      </p:sp>
      <p:sp>
        <p:nvSpPr>
          <p:cNvPr id="12" name="Rectangle 11">
            <a:extLst>
              <a:ext uri="{FF2B5EF4-FFF2-40B4-BE49-F238E27FC236}">
                <a16:creationId xmlns:a16="http://schemas.microsoft.com/office/drawing/2014/main" id="{82750786-8DF2-4E1A-A3E9-0D1366926871}"/>
              </a:ext>
            </a:extLst>
          </p:cNvPr>
          <p:cNvSpPr>
            <a:spLocks noGrp="1"/>
          </p:cNvSpPr>
          <p:nvPr/>
        </p:nvSpPr>
        <p:spPr>
          <a:xfrm>
            <a:off x="4267200" y="1714500"/>
            <a:ext cx="3962400" cy="182880"/>
          </a:xfrm>
          <a:prstGeom prst="rect">
            <a:avLst/>
          </a:prstGeom>
          <a:noFill/>
          <a:ln w="0">
            <a:noFill/>
            <a:prstDash val="solid"/>
          </a:ln>
        </p:spPr>
        <p:txBody>
          <a:bodyPr anchor="t">
            <a:noAutofit/>
          </a:bodyPr>
          <a:lstStyle/>
          <a:p>
            <a:pPr algn="ctr">
              <a:lnSpc>
                <a:spcPct val="108000"/>
              </a:lnSpc>
              <a:buNone/>
              <a:defRPr sz="1125" b="1" i="0">
                <a:solidFill>
                  <a:srgbClr val="00A870"/>
                </a:solidFill>
                <a:latin typeface="Aptos"/>
                <a:ea typeface="Aptos"/>
                <a:cs typeface="Aptos"/>
              </a:defRPr>
            </a:pPr>
            <a:r>
              <a:rPr sz="900" b="1">
                <a:solidFill>
                  <a:srgbClr val="00A870"/>
                </a:solidFill>
                <a:latin typeface="Aptos"/>
                <a:ea typeface="Aptos"/>
                <a:cs typeface="Aptos"/>
              </a:rPr>
              <a:t>FOUR BIOCHEMICAL TRAJECTORIES</a:t>
            </a:r>
          </a:p>
        </p:txBody>
      </p:sp>
      <p:sp>
        <p:nvSpPr>
          <p:cNvPr id="13" name="Oval 12">
            <a:extLst>
              <a:ext uri="{FF2B5EF4-FFF2-40B4-BE49-F238E27FC236}">
                <a16:creationId xmlns:a16="http://schemas.microsoft.com/office/drawing/2014/main" id="{F009246E-F9B0-4C00-AB7C-AB0DE65D938C}"/>
              </a:ext>
            </a:extLst>
          </p:cNvPr>
          <p:cNvSpPr>
            <a:spLocks noGrp="1"/>
          </p:cNvSpPr>
          <p:nvPr/>
        </p:nvSpPr>
        <p:spPr>
          <a:xfrm>
            <a:off x="4229100" y="2133600"/>
            <a:ext cx="800100" cy="800100"/>
          </a:xfrm>
          <a:prstGeom prst="ellipse">
            <a:avLst/>
          </a:prstGeom>
          <a:solidFill>
            <a:srgbClr val="EAF8F2"/>
          </a:solidFill>
          <a:ln w="14288">
            <a:solidFill>
              <a:srgbClr val="00A870"/>
            </a:solidFill>
            <a:prstDash val="solid"/>
          </a:ln>
        </p:spPr>
        <p:txBody>
          <a:bodyPr anchor="ctr">
            <a:normAutofit/>
          </a:bodyPr>
          <a:lstStyle/>
          <a:p>
            <a:pPr algn="ctr">
              <a:defRPr sz="1125" b="1">
                <a:solidFill>
                  <a:srgbClr val="00A870"/>
                </a:solidFill>
              </a:defRPr>
            </a:pPr>
            <a:r>
              <a:rPr sz="800" b="1">
                <a:solidFill>
                  <a:srgbClr val="00A870"/>
                </a:solidFill>
              </a:rPr>
              <a:t>Lactate</a:t>
            </a:r>
          </a:p>
        </p:txBody>
      </p:sp>
      <p:sp>
        <p:nvSpPr>
          <p:cNvPr id="14" name="Rectangle 13">
            <a:extLst>
              <a:ext uri="{FF2B5EF4-FFF2-40B4-BE49-F238E27FC236}">
                <a16:creationId xmlns:a16="http://schemas.microsoft.com/office/drawing/2014/main" id="{8A66771D-6D6E-4377-809F-A01AFD7DA4B8}"/>
              </a:ext>
            </a:extLst>
          </p:cNvPr>
          <p:cNvSpPr>
            <a:spLocks noGrp="1"/>
          </p:cNvSpPr>
          <p:nvPr/>
        </p:nvSpPr>
        <p:spPr>
          <a:xfrm>
            <a:off x="4191000" y="3032760"/>
            <a:ext cx="876300" cy="182880"/>
          </a:xfrm>
          <a:prstGeom prst="rect">
            <a:avLst/>
          </a:prstGeom>
          <a:noFill/>
          <a:ln w="0">
            <a:noFill/>
            <a:prstDash val="solid"/>
          </a:ln>
        </p:spPr>
        <p:txBody>
          <a:bodyPr anchor="t">
            <a:noAutofit/>
          </a:bodyPr>
          <a:lstStyle/>
          <a:p>
            <a:pPr algn="ctr">
              <a:lnSpc>
                <a:spcPct val="108000"/>
              </a:lnSpc>
              <a:buNone/>
              <a:defRPr sz="1125" b="0" i="0">
                <a:solidFill>
                  <a:srgbClr val="5A5A5A"/>
                </a:solidFill>
                <a:latin typeface="Aptos"/>
                <a:ea typeface="Aptos"/>
                <a:cs typeface="Aptos"/>
              </a:defRPr>
            </a:pPr>
            <a:r>
              <a:rPr sz="900">
                <a:solidFill>
                  <a:srgbClr val="5A5A5A"/>
                </a:solidFill>
                <a:latin typeface="Aptos"/>
                <a:ea typeface="Aptos"/>
                <a:cs typeface="Aptos"/>
              </a:rPr>
              <a:t>clearance</a:t>
            </a:r>
          </a:p>
        </p:txBody>
      </p:sp>
      <p:sp>
        <p:nvSpPr>
          <p:cNvPr id="15" name="Oval 14">
            <a:extLst>
              <a:ext uri="{FF2B5EF4-FFF2-40B4-BE49-F238E27FC236}">
                <a16:creationId xmlns:a16="http://schemas.microsoft.com/office/drawing/2014/main" id="{9D183D45-568D-4AA9-8B82-B59D1C4527B7}"/>
              </a:ext>
            </a:extLst>
          </p:cNvPr>
          <p:cNvSpPr>
            <a:spLocks noGrp="1"/>
          </p:cNvSpPr>
          <p:nvPr/>
        </p:nvSpPr>
        <p:spPr>
          <a:xfrm>
            <a:off x="5273040" y="2133600"/>
            <a:ext cx="800100" cy="800100"/>
          </a:xfrm>
          <a:prstGeom prst="ellipse">
            <a:avLst/>
          </a:prstGeom>
          <a:solidFill>
            <a:srgbClr val="EAF8F2"/>
          </a:solidFill>
          <a:ln w="14288">
            <a:solidFill>
              <a:srgbClr val="00A870"/>
            </a:solidFill>
            <a:prstDash val="solid"/>
          </a:ln>
        </p:spPr>
        <p:txBody>
          <a:bodyPr anchor="ctr">
            <a:normAutofit/>
          </a:bodyPr>
          <a:lstStyle/>
          <a:p>
            <a:pPr algn="ctr">
              <a:defRPr sz="1125" b="1">
                <a:solidFill>
                  <a:srgbClr val="00A870"/>
                </a:solidFill>
              </a:defRPr>
            </a:pPr>
            <a:r>
              <a:rPr sz="900" b="1" dirty="0">
                <a:solidFill>
                  <a:srgbClr val="00A870"/>
                </a:solidFill>
              </a:rPr>
              <a:t>Creatinine</a:t>
            </a:r>
          </a:p>
        </p:txBody>
      </p:sp>
      <p:sp>
        <p:nvSpPr>
          <p:cNvPr id="16" name="Rectangle 15">
            <a:extLst>
              <a:ext uri="{FF2B5EF4-FFF2-40B4-BE49-F238E27FC236}">
                <a16:creationId xmlns:a16="http://schemas.microsoft.com/office/drawing/2014/main" id="{CBE91AAC-4F14-4CAD-8505-539A09BF73EB}"/>
              </a:ext>
            </a:extLst>
          </p:cNvPr>
          <p:cNvSpPr>
            <a:spLocks noGrp="1"/>
          </p:cNvSpPr>
          <p:nvPr/>
        </p:nvSpPr>
        <p:spPr>
          <a:xfrm>
            <a:off x="5234940" y="3032760"/>
            <a:ext cx="876300" cy="182880"/>
          </a:xfrm>
          <a:prstGeom prst="rect">
            <a:avLst/>
          </a:prstGeom>
          <a:noFill/>
          <a:ln w="0">
            <a:noFill/>
            <a:prstDash val="solid"/>
          </a:ln>
        </p:spPr>
        <p:txBody>
          <a:bodyPr anchor="t">
            <a:noAutofit/>
          </a:bodyPr>
          <a:lstStyle/>
          <a:p>
            <a:pPr algn="ctr">
              <a:lnSpc>
                <a:spcPct val="108000"/>
              </a:lnSpc>
              <a:buNone/>
              <a:defRPr sz="1125" b="0" i="0">
                <a:solidFill>
                  <a:srgbClr val="5A5A5A"/>
                </a:solidFill>
                <a:latin typeface="Aptos"/>
                <a:ea typeface="Aptos"/>
                <a:cs typeface="Aptos"/>
              </a:defRPr>
            </a:pPr>
            <a:r>
              <a:rPr sz="900">
                <a:solidFill>
                  <a:srgbClr val="5A5A5A"/>
                </a:solidFill>
                <a:latin typeface="Aptos"/>
                <a:ea typeface="Aptos"/>
                <a:cs typeface="Aptos"/>
              </a:rPr>
              <a:t>% change</a:t>
            </a:r>
          </a:p>
        </p:txBody>
      </p:sp>
      <p:sp>
        <p:nvSpPr>
          <p:cNvPr id="17" name="Oval 16">
            <a:extLst>
              <a:ext uri="{FF2B5EF4-FFF2-40B4-BE49-F238E27FC236}">
                <a16:creationId xmlns:a16="http://schemas.microsoft.com/office/drawing/2014/main" id="{36277ED8-C844-4FEB-AB26-73FFCCE77A96}"/>
              </a:ext>
            </a:extLst>
          </p:cNvPr>
          <p:cNvSpPr>
            <a:spLocks noGrp="1"/>
          </p:cNvSpPr>
          <p:nvPr/>
        </p:nvSpPr>
        <p:spPr>
          <a:xfrm>
            <a:off x="6316980" y="2133600"/>
            <a:ext cx="800100" cy="800100"/>
          </a:xfrm>
          <a:prstGeom prst="ellipse">
            <a:avLst/>
          </a:prstGeom>
          <a:solidFill>
            <a:srgbClr val="EAF8F2"/>
          </a:solidFill>
          <a:ln w="14288">
            <a:solidFill>
              <a:srgbClr val="00A870"/>
            </a:solidFill>
            <a:prstDash val="solid"/>
          </a:ln>
        </p:spPr>
        <p:txBody>
          <a:bodyPr anchor="ctr">
            <a:normAutofit/>
          </a:bodyPr>
          <a:lstStyle/>
          <a:p>
            <a:pPr algn="ctr">
              <a:defRPr sz="1125" b="1">
                <a:solidFill>
                  <a:srgbClr val="00A870"/>
                </a:solidFill>
              </a:defRPr>
            </a:pPr>
            <a:r>
              <a:rPr sz="900" b="1">
                <a:solidFill>
                  <a:srgbClr val="00A870"/>
                </a:solidFill>
              </a:rPr>
              <a:t>WBC</a:t>
            </a:r>
          </a:p>
        </p:txBody>
      </p:sp>
      <p:sp>
        <p:nvSpPr>
          <p:cNvPr id="18" name="Rectangle 17">
            <a:extLst>
              <a:ext uri="{FF2B5EF4-FFF2-40B4-BE49-F238E27FC236}">
                <a16:creationId xmlns:a16="http://schemas.microsoft.com/office/drawing/2014/main" id="{F15BCC02-47EA-4C1A-BCA6-15FD469BB353}"/>
              </a:ext>
            </a:extLst>
          </p:cNvPr>
          <p:cNvSpPr>
            <a:spLocks noGrp="1"/>
          </p:cNvSpPr>
          <p:nvPr/>
        </p:nvSpPr>
        <p:spPr>
          <a:xfrm>
            <a:off x="6278880" y="3032760"/>
            <a:ext cx="876300" cy="182880"/>
          </a:xfrm>
          <a:prstGeom prst="rect">
            <a:avLst/>
          </a:prstGeom>
          <a:noFill/>
          <a:ln w="0">
            <a:noFill/>
            <a:prstDash val="solid"/>
          </a:ln>
        </p:spPr>
        <p:txBody>
          <a:bodyPr anchor="t">
            <a:noAutofit/>
          </a:bodyPr>
          <a:lstStyle/>
          <a:p>
            <a:pPr algn="ctr">
              <a:lnSpc>
                <a:spcPct val="108000"/>
              </a:lnSpc>
              <a:buNone/>
              <a:defRPr sz="1125" b="0" i="0">
                <a:solidFill>
                  <a:srgbClr val="5A5A5A"/>
                </a:solidFill>
                <a:latin typeface="Aptos"/>
                <a:ea typeface="Aptos"/>
                <a:cs typeface="Aptos"/>
              </a:defRPr>
            </a:pPr>
            <a:r>
              <a:rPr sz="900">
                <a:solidFill>
                  <a:srgbClr val="5A5A5A"/>
                </a:solidFill>
                <a:latin typeface="Aptos"/>
                <a:ea typeface="Aptos"/>
                <a:cs typeface="Aptos"/>
              </a:rPr>
              <a:t>% change</a:t>
            </a:r>
          </a:p>
        </p:txBody>
      </p:sp>
      <p:sp>
        <p:nvSpPr>
          <p:cNvPr id="19" name="Oval 18">
            <a:extLst>
              <a:ext uri="{FF2B5EF4-FFF2-40B4-BE49-F238E27FC236}">
                <a16:creationId xmlns:a16="http://schemas.microsoft.com/office/drawing/2014/main" id="{26D33953-37C3-44F8-8AFF-6967A3AB2129}"/>
              </a:ext>
            </a:extLst>
          </p:cNvPr>
          <p:cNvSpPr>
            <a:spLocks noGrp="1"/>
          </p:cNvSpPr>
          <p:nvPr/>
        </p:nvSpPr>
        <p:spPr>
          <a:xfrm>
            <a:off x="7360920" y="2133600"/>
            <a:ext cx="800100" cy="800100"/>
          </a:xfrm>
          <a:prstGeom prst="ellipse">
            <a:avLst/>
          </a:prstGeom>
          <a:solidFill>
            <a:srgbClr val="EAF8F2"/>
          </a:solidFill>
          <a:ln w="14288">
            <a:solidFill>
              <a:srgbClr val="00A870"/>
            </a:solidFill>
            <a:prstDash val="solid"/>
          </a:ln>
        </p:spPr>
        <p:txBody>
          <a:bodyPr anchor="ctr">
            <a:normAutofit/>
          </a:bodyPr>
          <a:lstStyle/>
          <a:p>
            <a:pPr algn="ctr">
              <a:defRPr sz="1125" b="1">
                <a:solidFill>
                  <a:srgbClr val="00A870"/>
                </a:solidFill>
              </a:defRPr>
            </a:pPr>
            <a:r>
              <a:rPr sz="900" b="1">
                <a:solidFill>
                  <a:srgbClr val="00A870"/>
                </a:solidFill>
              </a:rPr>
              <a:t>Platelets</a:t>
            </a:r>
          </a:p>
        </p:txBody>
      </p:sp>
      <p:sp>
        <p:nvSpPr>
          <p:cNvPr id="20" name="Rectangle 19">
            <a:extLst>
              <a:ext uri="{FF2B5EF4-FFF2-40B4-BE49-F238E27FC236}">
                <a16:creationId xmlns:a16="http://schemas.microsoft.com/office/drawing/2014/main" id="{FA2EFC68-E6FC-4D07-AAFC-E47F1CA5B494}"/>
              </a:ext>
            </a:extLst>
          </p:cNvPr>
          <p:cNvSpPr>
            <a:spLocks noGrp="1"/>
          </p:cNvSpPr>
          <p:nvPr/>
        </p:nvSpPr>
        <p:spPr>
          <a:xfrm>
            <a:off x="7322820" y="3032760"/>
            <a:ext cx="876300" cy="182880"/>
          </a:xfrm>
          <a:prstGeom prst="rect">
            <a:avLst/>
          </a:prstGeom>
          <a:noFill/>
          <a:ln w="0">
            <a:noFill/>
            <a:prstDash val="solid"/>
          </a:ln>
        </p:spPr>
        <p:txBody>
          <a:bodyPr anchor="t">
            <a:noAutofit/>
          </a:bodyPr>
          <a:lstStyle/>
          <a:p>
            <a:pPr algn="ctr">
              <a:lnSpc>
                <a:spcPct val="108000"/>
              </a:lnSpc>
              <a:buNone/>
              <a:defRPr sz="1125" b="0" i="0">
                <a:solidFill>
                  <a:srgbClr val="5A5A5A"/>
                </a:solidFill>
                <a:latin typeface="Aptos"/>
                <a:ea typeface="Aptos"/>
                <a:cs typeface="Aptos"/>
              </a:defRPr>
            </a:pPr>
            <a:r>
              <a:rPr sz="900">
                <a:solidFill>
                  <a:srgbClr val="5A5A5A"/>
                </a:solidFill>
                <a:latin typeface="Aptos"/>
                <a:ea typeface="Aptos"/>
                <a:cs typeface="Aptos"/>
              </a:rPr>
              <a:t>% change</a:t>
            </a:r>
          </a:p>
        </p:txBody>
      </p:sp>
      <p:sp>
        <p:nvSpPr>
          <p:cNvPr id="21" name="Rectangle 20">
            <a:extLst>
              <a:ext uri="{FF2B5EF4-FFF2-40B4-BE49-F238E27FC236}">
                <a16:creationId xmlns:a16="http://schemas.microsoft.com/office/drawing/2014/main" id="{406E8B5C-EF36-429D-9F74-E84DDA065C79}"/>
              </a:ext>
            </a:extLst>
          </p:cNvPr>
          <p:cNvSpPr>
            <a:spLocks noGrp="1"/>
          </p:cNvSpPr>
          <p:nvPr/>
        </p:nvSpPr>
        <p:spPr>
          <a:xfrm>
            <a:off x="4754880" y="3812957"/>
            <a:ext cx="3048000" cy="228600"/>
          </a:xfrm>
          <a:prstGeom prst="rect">
            <a:avLst/>
          </a:prstGeom>
          <a:noFill/>
          <a:ln w="0">
            <a:noFill/>
            <a:prstDash val="solid"/>
          </a:ln>
        </p:spPr>
        <p:txBody>
          <a:bodyPr anchor="t">
            <a:noAutofit/>
          </a:bodyPr>
          <a:lstStyle/>
          <a:p>
            <a:pPr algn="ctr">
              <a:lnSpc>
                <a:spcPct val="108000"/>
              </a:lnSpc>
              <a:buNone/>
              <a:defRPr sz="1650" b="1" i="0">
                <a:solidFill>
                  <a:srgbClr val="111111"/>
                </a:solidFill>
                <a:latin typeface="Georgia"/>
                <a:ea typeface="Georgia"/>
                <a:cs typeface="Georgia"/>
              </a:defRPr>
            </a:pPr>
            <a:r>
              <a:rPr sz="1320" b="1" dirty="0">
                <a:solidFill>
                  <a:srgbClr val="111111"/>
                </a:solidFill>
                <a:latin typeface="Georgia"/>
                <a:ea typeface="Georgia"/>
                <a:cs typeface="Georgia"/>
              </a:rPr>
              <a:t>Nearest trajectory phenotype: RBT or RIWT</a:t>
            </a:r>
          </a:p>
        </p:txBody>
      </p:sp>
      <p:sp>
        <p:nvSpPr>
          <p:cNvPr id="22" name="Rounded Rectangle 21">
            <a:extLst>
              <a:ext uri="{FF2B5EF4-FFF2-40B4-BE49-F238E27FC236}">
                <a16:creationId xmlns:a16="http://schemas.microsoft.com/office/drawing/2014/main" id="{000BBB97-C9BD-4970-A1F8-747A40A672D3}"/>
              </a:ext>
            </a:extLst>
          </p:cNvPr>
          <p:cNvSpPr>
            <a:spLocks noGrp="1"/>
          </p:cNvSpPr>
          <p:nvPr/>
        </p:nvSpPr>
        <p:spPr>
          <a:xfrm>
            <a:off x="9067800" y="1676400"/>
            <a:ext cx="2514600" cy="1905000"/>
          </a:xfrm>
          <a:prstGeom prst="roundRect">
            <a:avLst>
              <a:gd name="adj" fmla="val 6400"/>
            </a:avLst>
          </a:prstGeom>
          <a:solidFill>
            <a:srgbClr val="FFF3E5"/>
          </a:solidFill>
          <a:ln w="19050">
            <a:solidFill>
              <a:srgbClr val="EF7D00"/>
            </a:solidFill>
            <a:prstDash val="solid"/>
          </a:ln>
        </p:spPr>
        <p:txBody>
          <a:bodyPr/>
          <a:lstStyle/>
          <a:p>
            <a:endParaRPr lang="en-US" sz="1440"/>
          </a:p>
        </p:txBody>
      </p:sp>
      <p:sp>
        <p:nvSpPr>
          <p:cNvPr id="23" name="Oval 22">
            <a:extLst>
              <a:ext uri="{FF2B5EF4-FFF2-40B4-BE49-F238E27FC236}">
                <a16:creationId xmlns:a16="http://schemas.microsoft.com/office/drawing/2014/main" id="{0CA7D816-AE71-4E45-A52B-EE92A47838CF}"/>
              </a:ext>
            </a:extLst>
          </p:cNvPr>
          <p:cNvSpPr>
            <a:spLocks noGrp="1"/>
          </p:cNvSpPr>
          <p:nvPr/>
        </p:nvSpPr>
        <p:spPr>
          <a:xfrm>
            <a:off x="9235440" y="1828800"/>
            <a:ext cx="441960" cy="441960"/>
          </a:xfrm>
          <a:prstGeom prst="ellipse">
            <a:avLst/>
          </a:prstGeom>
          <a:solidFill>
            <a:srgbClr val="FFFFFF"/>
          </a:solidFill>
          <a:ln w="14288">
            <a:solidFill>
              <a:srgbClr val="EF7D00"/>
            </a:solidFill>
            <a:prstDash val="solid"/>
          </a:ln>
        </p:spPr>
        <p:txBody>
          <a:bodyPr anchor="ctr">
            <a:normAutofit fontScale="87256" lnSpcReduction="10000"/>
          </a:bodyPr>
          <a:lstStyle/>
          <a:p>
            <a:pPr algn="ctr">
              <a:defRPr sz="1125" b="1">
                <a:solidFill>
                  <a:srgbClr val="EF7D00"/>
                </a:solidFill>
                <a:latin typeface="Aptos"/>
                <a:ea typeface="Aptos"/>
                <a:cs typeface="Aptos"/>
              </a:defRPr>
            </a:pPr>
            <a:r>
              <a:rPr sz="900" b="1">
                <a:solidFill>
                  <a:srgbClr val="EF7D00"/>
                </a:solidFill>
                <a:latin typeface="Aptos"/>
                <a:ea typeface="Aptos"/>
                <a:cs typeface="Aptos"/>
              </a:rPr>
              <a:t>APP</a:t>
            </a:r>
          </a:p>
        </p:txBody>
      </p:sp>
      <p:sp>
        <p:nvSpPr>
          <p:cNvPr id="24" name="Rectangle 23">
            <a:extLst>
              <a:ext uri="{FF2B5EF4-FFF2-40B4-BE49-F238E27FC236}">
                <a16:creationId xmlns:a16="http://schemas.microsoft.com/office/drawing/2014/main" id="{27EF6A74-C10C-46D7-8859-1C1BFEFCB233}"/>
              </a:ext>
            </a:extLst>
          </p:cNvPr>
          <p:cNvSpPr>
            <a:spLocks noGrp="1"/>
          </p:cNvSpPr>
          <p:nvPr/>
        </p:nvSpPr>
        <p:spPr>
          <a:xfrm>
            <a:off x="9829800" y="1821180"/>
            <a:ext cx="1562100" cy="160020"/>
          </a:xfrm>
          <a:prstGeom prst="rect">
            <a:avLst/>
          </a:prstGeom>
          <a:noFill/>
          <a:ln w="0">
            <a:noFill/>
            <a:prstDash val="solid"/>
          </a:ln>
        </p:spPr>
        <p:txBody>
          <a:bodyPr anchor="t">
            <a:noAutofit/>
          </a:bodyPr>
          <a:lstStyle/>
          <a:p>
            <a:pPr algn="l">
              <a:lnSpc>
                <a:spcPct val="108000"/>
              </a:lnSpc>
              <a:buNone/>
              <a:defRPr sz="975" b="1" i="0">
                <a:solidFill>
                  <a:srgbClr val="EF7D00"/>
                </a:solidFill>
                <a:latin typeface="Aptos"/>
                <a:ea typeface="Aptos"/>
                <a:cs typeface="Aptos"/>
              </a:defRPr>
            </a:pPr>
            <a:r>
              <a:rPr sz="780" b="1">
                <a:solidFill>
                  <a:srgbClr val="EF7D00"/>
                </a:solidFill>
                <a:latin typeface="Aptos"/>
                <a:ea typeface="Aptos"/>
                <a:cs typeface="Aptos"/>
              </a:rPr>
              <a:t>STREAMLIT OUTPUT</a:t>
            </a:r>
          </a:p>
        </p:txBody>
      </p:sp>
      <p:sp>
        <p:nvSpPr>
          <p:cNvPr id="25" name="Rectangle 24">
            <a:extLst>
              <a:ext uri="{FF2B5EF4-FFF2-40B4-BE49-F238E27FC236}">
                <a16:creationId xmlns:a16="http://schemas.microsoft.com/office/drawing/2014/main" id="{5577E99C-D509-4D59-AAFE-78D404E75231}"/>
              </a:ext>
            </a:extLst>
          </p:cNvPr>
          <p:cNvSpPr>
            <a:spLocks noGrp="1"/>
          </p:cNvSpPr>
          <p:nvPr/>
        </p:nvSpPr>
        <p:spPr>
          <a:xfrm>
            <a:off x="9829800" y="2019300"/>
            <a:ext cx="1562100" cy="441960"/>
          </a:xfrm>
          <a:prstGeom prst="rect">
            <a:avLst/>
          </a:prstGeom>
          <a:noFill/>
          <a:ln w="0">
            <a:noFill/>
            <a:prstDash val="solid"/>
          </a:ln>
        </p:spPr>
        <p:txBody>
          <a:bodyPr anchor="ctr">
            <a:normAutofit fontScale="85303" lnSpcReduction="20000"/>
          </a:bodyPr>
          <a:lstStyle/>
          <a:p>
            <a:pPr algn="l">
              <a:lnSpc>
                <a:spcPct val="108000"/>
              </a:lnSpc>
              <a:buNone/>
              <a:defRPr sz="1800" b="1" i="0">
                <a:solidFill>
                  <a:srgbClr val="111111"/>
                </a:solidFill>
                <a:latin typeface="Georgia"/>
                <a:ea typeface="Georgia"/>
                <a:cs typeface="Georgia"/>
              </a:defRPr>
            </a:pPr>
            <a:r>
              <a:rPr sz="1440" b="1">
                <a:solidFill>
                  <a:srgbClr val="111111"/>
                </a:solidFill>
                <a:latin typeface="Georgia"/>
                <a:ea typeface="Georgia"/>
                <a:cs typeface="Georgia"/>
              </a:rPr>
              <a:t>1-, 3-, and 7-day mortality</a:t>
            </a:r>
          </a:p>
        </p:txBody>
      </p:sp>
      <p:sp>
        <p:nvSpPr>
          <p:cNvPr id="26" name="Rectangle 25">
            <a:extLst>
              <a:ext uri="{FF2B5EF4-FFF2-40B4-BE49-F238E27FC236}">
                <a16:creationId xmlns:a16="http://schemas.microsoft.com/office/drawing/2014/main" id="{1A97587A-79F1-4321-8948-F619DE572B69}"/>
              </a:ext>
            </a:extLst>
          </p:cNvPr>
          <p:cNvSpPr>
            <a:spLocks noGrp="1"/>
          </p:cNvSpPr>
          <p:nvPr/>
        </p:nvSpPr>
        <p:spPr>
          <a:xfrm>
            <a:off x="9281160" y="2529840"/>
            <a:ext cx="2087880" cy="914400"/>
          </a:xfrm>
          <a:prstGeom prst="rect">
            <a:avLst/>
          </a:prstGeom>
          <a:noFill/>
          <a:ln w="0">
            <a:noFill/>
            <a:prstDash val="solid"/>
          </a:ln>
        </p:spPr>
        <p:txBody>
          <a:bodyPr anchor="t">
            <a:normAutofit fontScale="91711" lnSpcReduction="10000"/>
          </a:bodyPr>
          <a:lstStyle/>
          <a:p>
            <a:pPr algn="l">
              <a:lnSpc>
                <a:spcPct val="115000"/>
              </a:lnSpc>
              <a:buNone/>
              <a:defRPr sz="1425" b="0" i="0">
                <a:solidFill>
                  <a:srgbClr val="5A5A5A"/>
                </a:solidFill>
                <a:latin typeface="Aptos"/>
                <a:ea typeface="Aptos"/>
                <a:cs typeface="Aptos"/>
              </a:defRPr>
            </a:pPr>
            <a:r>
              <a:rPr sz="1140">
                <a:solidFill>
                  <a:srgbClr val="5A5A5A"/>
                </a:solidFill>
                <a:latin typeface="Aptos"/>
                <a:ea typeface="Aptos"/>
                <a:cs typeface="Aptos"/>
              </a:rPr>
              <a:t>Patient inputs: initial and follow-up labs, age, sex, and ICU type. The app classifies the trajectory and applies outcome-specific Model 4 coefficients.</a:t>
            </a:r>
          </a:p>
        </p:txBody>
      </p:sp>
      <p:sp>
        <p:nvSpPr>
          <p:cNvPr id="27" name="Rectangle 26">
            <a:extLst>
              <a:ext uri="{FF2B5EF4-FFF2-40B4-BE49-F238E27FC236}">
                <a16:creationId xmlns:a16="http://schemas.microsoft.com/office/drawing/2014/main" id="{4BC0E10B-E840-4BD4-AA1D-A669B632CF63}"/>
              </a:ext>
            </a:extLst>
          </p:cNvPr>
          <p:cNvSpPr>
            <a:spLocks noGrp="1"/>
          </p:cNvSpPr>
          <p:nvPr/>
        </p:nvSpPr>
        <p:spPr>
          <a:xfrm>
            <a:off x="762000" y="3962400"/>
            <a:ext cx="2895600" cy="320040"/>
          </a:xfrm>
          <a:prstGeom prst="rect">
            <a:avLst/>
          </a:prstGeom>
          <a:noFill/>
          <a:ln w="0">
            <a:noFill/>
            <a:prstDash val="solid"/>
          </a:ln>
        </p:spPr>
        <p:txBody>
          <a:bodyPr anchor="t">
            <a:noAutofit/>
          </a:bodyPr>
          <a:lstStyle/>
          <a:p>
            <a:pPr algn="l">
              <a:lnSpc>
                <a:spcPct val="108000"/>
              </a:lnSpc>
              <a:buNone/>
              <a:defRPr sz="2250" b="1" i="0">
                <a:solidFill>
                  <a:srgbClr val="EF7D00"/>
                </a:solidFill>
                <a:latin typeface="Georgia"/>
                <a:ea typeface="Georgia"/>
                <a:cs typeface="Georgia"/>
              </a:defRPr>
            </a:pPr>
            <a:r>
              <a:rPr b="1" dirty="0">
                <a:solidFill>
                  <a:srgbClr val="EF7D00"/>
                </a:solidFill>
                <a:latin typeface="Georgia"/>
                <a:ea typeface="Georgia"/>
                <a:cs typeface="Georgia"/>
              </a:rPr>
              <a:t>Business Intelligence</a:t>
            </a:r>
          </a:p>
        </p:txBody>
      </p:sp>
      <p:sp>
        <p:nvSpPr>
          <p:cNvPr id="28" name="Rectangle 27">
            <a:extLst>
              <a:ext uri="{FF2B5EF4-FFF2-40B4-BE49-F238E27FC236}">
                <a16:creationId xmlns:a16="http://schemas.microsoft.com/office/drawing/2014/main" id="{69162F7A-F7E9-41B3-8A94-905908BC0148}"/>
              </a:ext>
            </a:extLst>
          </p:cNvPr>
          <p:cNvSpPr>
            <a:spLocks noGrp="1"/>
          </p:cNvSpPr>
          <p:nvPr/>
        </p:nvSpPr>
        <p:spPr>
          <a:xfrm>
            <a:off x="762000" y="4914900"/>
            <a:ext cx="10058400" cy="609600"/>
          </a:xfrm>
          <a:prstGeom prst="rect">
            <a:avLst/>
          </a:prstGeom>
          <a:noFill/>
          <a:ln w="0">
            <a:noFill/>
            <a:prstDash val="solid"/>
          </a:ln>
        </p:spPr>
        <p:txBody>
          <a:bodyPr anchor="t">
            <a:noAutofit/>
          </a:bodyPr>
          <a:lstStyle/>
          <a:p>
            <a:pPr algn="l">
              <a:lnSpc>
                <a:spcPct val="108000"/>
              </a:lnSpc>
              <a:buNone/>
              <a:defRPr sz="2025" b="1" i="0">
                <a:solidFill>
                  <a:srgbClr val="111111"/>
                </a:solidFill>
                <a:latin typeface="Georgia"/>
                <a:ea typeface="Georgia"/>
                <a:cs typeface="Georgia"/>
              </a:defRPr>
            </a:pPr>
            <a:r>
              <a:rPr sz="1620" b="1" dirty="0">
                <a:solidFill>
                  <a:srgbClr val="111111"/>
                </a:solidFill>
                <a:latin typeface="Georgia"/>
                <a:ea typeface="Georgia"/>
                <a:cs typeface="Georgia"/>
              </a:rPr>
              <a:t>The system does not merely describe four laboratory values. It converts their direction of change into an interpretable phenotype and a mortality-oriented decision aid.</a:t>
            </a:r>
          </a:p>
        </p:txBody>
      </p:sp>
      <p:sp>
        <p:nvSpPr>
          <p:cNvPr id="29" name="Rectangle 28">
            <a:extLst>
              <a:ext uri="{FF2B5EF4-FFF2-40B4-BE49-F238E27FC236}">
                <a16:creationId xmlns:a16="http://schemas.microsoft.com/office/drawing/2014/main" id="{19E3D5CE-7F6F-468C-93EC-09E515DD31AC}"/>
              </a:ext>
            </a:extLst>
          </p:cNvPr>
          <p:cNvSpPr>
            <a:spLocks noGrp="1"/>
          </p:cNvSpPr>
          <p:nvPr/>
        </p:nvSpPr>
        <p:spPr>
          <a:xfrm>
            <a:off x="762000" y="5676900"/>
            <a:ext cx="10058400" cy="289560"/>
          </a:xfrm>
          <a:prstGeom prst="rect">
            <a:avLst/>
          </a:prstGeom>
          <a:noFill/>
          <a:ln w="0">
            <a:noFill/>
            <a:prstDash val="solid"/>
          </a:ln>
        </p:spPr>
        <p:txBody>
          <a:bodyPr anchor="t">
            <a:noAutofit/>
          </a:bodyPr>
          <a:lstStyle/>
          <a:p>
            <a:pPr algn="l">
              <a:lnSpc>
                <a:spcPct val="108000"/>
              </a:lnSpc>
              <a:buNone/>
              <a:defRPr sz="1425" b="1" i="0">
                <a:solidFill>
                  <a:srgbClr val="D64B45"/>
                </a:solidFill>
                <a:latin typeface="Aptos"/>
                <a:ea typeface="Aptos"/>
                <a:cs typeface="Aptos"/>
              </a:defRPr>
            </a:pPr>
            <a:r>
              <a:rPr sz="1140" b="1">
                <a:solidFill>
                  <a:srgbClr val="D64B45"/>
                </a:solidFill>
                <a:latin typeface="Aptos"/>
                <a:ea typeface="Aptos"/>
                <a:cs typeface="Aptos"/>
              </a:rPr>
              <a:t>Important: real mortality prediction requires the fitted coefficient file; demo placeholders must remain visibly identified.</a:t>
            </a:r>
          </a:p>
        </p:txBody>
      </p:sp>
      <p:sp>
        <p:nvSpPr>
          <p:cNvPr id="30" name="Straight Connector 29">
            <a:extLst>
              <a:ext uri="{FF2B5EF4-FFF2-40B4-BE49-F238E27FC236}">
                <a16:creationId xmlns:a16="http://schemas.microsoft.com/office/drawing/2014/main" id="{129E0173-FC74-413E-B107-BB5BCF484C82}"/>
              </a:ext>
            </a:extLst>
          </p:cNvPr>
          <p:cNvSpPr>
            <a:spLocks noGrp="1"/>
          </p:cNvSpPr>
          <p:nvPr/>
        </p:nvSpPr>
        <p:spPr>
          <a:xfrm>
            <a:off x="609600" y="6507480"/>
            <a:ext cx="10972800" cy="0"/>
          </a:xfrm>
          <a:prstGeom prst="line">
            <a:avLst/>
          </a:prstGeom>
          <a:noFill/>
          <a:ln w="9525">
            <a:solidFill>
              <a:srgbClr val="DDDDDD"/>
            </a:solidFill>
            <a:prstDash val="solid"/>
          </a:ln>
        </p:spPr>
        <p:txBody>
          <a:bodyPr/>
          <a:lstStyle/>
          <a:p>
            <a:endParaRPr lang="en-US" sz="1440"/>
          </a:p>
        </p:txBody>
      </p:sp>
      <p:sp>
        <p:nvSpPr>
          <p:cNvPr id="31" name="Rectangle 30">
            <a:extLst>
              <a:ext uri="{FF2B5EF4-FFF2-40B4-BE49-F238E27FC236}">
                <a16:creationId xmlns:a16="http://schemas.microsoft.com/office/drawing/2014/main" id="{20738080-6B46-4EBA-8C50-6B2F2B505B8C}"/>
              </a:ext>
            </a:extLst>
          </p:cNvPr>
          <p:cNvSpPr>
            <a:spLocks noGrp="1"/>
          </p:cNvSpPr>
          <p:nvPr/>
        </p:nvSpPr>
        <p:spPr>
          <a:xfrm>
            <a:off x="624840" y="6568440"/>
            <a:ext cx="5791200" cy="167640"/>
          </a:xfrm>
          <a:prstGeom prst="rect">
            <a:avLst/>
          </a:prstGeom>
          <a:noFill/>
          <a:ln w="0">
            <a:noFill/>
            <a:prstDash val="solid"/>
          </a:ln>
        </p:spPr>
        <p:txBody>
          <a:bodyPr anchor="t">
            <a:noAutofit/>
          </a:bodyPr>
          <a:lstStyle/>
          <a:p>
            <a:pPr algn="l">
              <a:lnSpc>
                <a:spcPct val="108000"/>
              </a:lnSpc>
              <a:buNone/>
              <a:defRPr sz="975" b="0" i="0">
                <a:solidFill>
                  <a:srgbClr val="777777"/>
                </a:solidFill>
                <a:latin typeface="Aptos"/>
                <a:ea typeface="Aptos"/>
                <a:cs typeface="Aptos"/>
              </a:defRPr>
            </a:pPr>
            <a:r>
              <a:rPr sz="780">
                <a:solidFill>
                  <a:srgbClr val="777777"/>
                </a:solidFill>
                <a:latin typeface="Aptos"/>
                <a:ea typeface="Aptos"/>
                <a:cs typeface="Aptos"/>
              </a:rPr>
              <a:t>MIMIC-IV first-24-hour biochemical trajectory study</a:t>
            </a:r>
          </a:p>
        </p:txBody>
      </p:sp>
      <p:sp>
        <p:nvSpPr>
          <p:cNvPr id="32" name="Rectangle 31">
            <a:extLst>
              <a:ext uri="{FF2B5EF4-FFF2-40B4-BE49-F238E27FC236}">
                <a16:creationId xmlns:a16="http://schemas.microsoft.com/office/drawing/2014/main" id="{164FF9D4-E54D-4DBF-8EF3-3B933B67D51E}"/>
              </a:ext>
            </a:extLst>
          </p:cNvPr>
          <p:cNvSpPr>
            <a:spLocks noGrp="1"/>
          </p:cNvSpPr>
          <p:nvPr/>
        </p:nvSpPr>
        <p:spPr>
          <a:xfrm>
            <a:off x="11163300" y="6568440"/>
            <a:ext cx="381000" cy="167640"/>
          </a:xfrm>
          <a:prstGeom prst="rect">
            <a:avLst/>
          </a:prstGeom>
          <a:noFill/>
          <a:ln w="0">
            <a:noFill/>
            <a:prstDash val="solid"/>
          </a:ln>
        </p:spPr>
        <p:txBody>
          <a:bodyPr anchor="t">
            <a:noAutofit/>
          </a:bodyPr>
          <a:lstStyle/>
          <a:p>
            <a:pPr algn="r">
              <a:lnSpc>
                <a:spcPct val="108000"/>
              </a:lnSpc>
              <a:buNone/>
              <a:defRPr sz="975" b="0" i="0">
                <a:solidFill>
                  <a:srgbClr val="777777"/>
                </a:solidFill>
                <a:latin typeface="Aptos"/>
                <a:ea typeface="Aptos"/>
                <a:cs typeface="Aptos"/>
              </a:defRPr>
            </a:pPr>
            <a:r>
              <a:rPr sz="780">
                <a:solidFill>
                  <a:srgbClr val="777777"/>
                </a:solidFill>
                <a:latin typeface="Aptos"/>
                <a:ea typeface="Aptos"/>
                <a:cs typeface="Aptos"/>
              </a:rPr>
              <a:t>02</a:t>
            </a:r>
          </a:p>
        </p:txBody>
      </p:sp>
    </p:spTree>
    <p:extLst>
      <p:ext uri="{BB962C8B-B14F-4D97-AF65-F5344CB8AC3E}">
        <p14:creationId xmlns:p14="http://schemas.microsoft.com/office/powerpoint/2010/main" val="18674433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slide-title">
            <a:extLst>
              <a:ext uri="{FF2B5EF4-FFF2-40B4-BE49-F238E27FC236}">
                <a16:creationId xmlns:a16="http://schemas.microsoft.com/office/drawing/2014/main" id="{CA7F84DD-3928-4036-80D8-3E6DB795D081}"/>
              </a:ext>
            </a:extLst>
          </p:cNvPr>
          <p:cNvSpPr>
            <a:spLocks noGrp="1"/>
          </p:cNvSpPr>
          <p:nvPr/>
        </p:nvSpPr>
        <p:spPr>
          <a:xfrm>
            <a:off x="594360" y="259080"/>
            <a:ext cx="8534400" cy="533400"/>
          </a:xfrm>
          <a:prstGeom prst="rect">
            <a:avLst/>
          </a:prstGeom>
          <a:noFill/>
          <a:ln w="0">
            <a:noFill/>
            <a:prstDash val="solid"/>
          </a:ln>
        </p:spPr>
        <p:txBody>
          <a:bodyPr anchor="t">
            <a:normAutofit fontScale="78805" lnSpcReduction="10000"/>
          </a:bodyPr>
          <a:lstStyle/>
          <a:p>
            <a:pPr algn="l">
              <a:lnSpc>
                <a:spcPct val="108000"/>
              </a:lnSpc>
              <a:buNone/>
              <a:defRPr sz="4050" b="1" i="0">
                <a:solidFill>
                  <a:srgbClr val="111111"/>
                </a:solidFill>
                <a:latin typeface="Georgia"/>
                <a:ea typeface="Georgia"/>
                <a:cs typeface="Georgia"/>
              </a:defRPr>
            </a:pPr>
            <a:r>
              <a:rPr sz="3240" b="1">
                <a:solidFill>
                  <a:srgbClr val="111111"/>
                </a:solidFill>
                <a:latin typeface="Georgia"/>
                <a:ea typeface="Georgia"/>
                <a:cs typeface="Georgia"/>
              </a:rPr>
              <a:t>A Short Need Starts a Long Technical Journey</a:t>
            </a:r>
          </a:p>
        </p:txBody>
      </p:sp>
      <p:sp>
        <p:nvSpPr>
          <p:cNvPr id="2" name="Rectangle 1">
            <a:extLst>
              <a:ext uri="{FF2B5EF4-FFF2-40B4-BE49-F238E27FC236}">
                <a16:creationId xmlns:a16="http://schemas.microsoft.com/office/drawing/2014/main" id="{B042C03D-B02B-449D-988C-AC84E6B40FC5}"/>
              </a:ext>
            </a:extLst>
          </p:cNvPr>
          <p:cNvSpPr>
            <a:spLocks noGrp="1"/>
          </p:cNvSpPr>
          <p:nvPr/>
        </p:nvSpPr>
        <p:spPr>
          <a:xfrm>
            <a:off x="9372600" y="228600"/>
            <a:ext cx="2286000" cy="533400"/>
          </a:xfrm>
          <a:prstGeom prst="rect">
            <a:avLst/>
          </a:prstGeom>
          <a:noFill/>
          <a:ln w="0">
            <a:noFill/>
            <a:prstDash val="solid"/>
          </a:ln>
        </p:spPr>
        <p:txBody>
          <a:bodyPr anchor="t">
            <a:normAutofit/>
          </a:bodyPr>
          <a:lstStyle/>
          <a:p>
            <a:pPr algn="r">
              <a:lnSpc>
                <a:spcPct val="108000"/>
              </a:lnSpc>
              <a:buNone/>
              <a:defRPr sz="3000" b="1" i="0">
                <a:solidFill>
                  <a:srgbClr val="EF7D00"/>
                </a:solidFill>
                <a:latin typeface="Georgia"/>
                <a:ea typeface="Georgia"/>
                <a:cs typeface="Georgia"/>
              </a:defRPr>
            </a:pPr>
            <a:r>
              <a:rPr sz="2400" b="1">
                <a:solidFill>
                  <a:srgbClr val="EF7D00"/>
                </a:solidFill>
                <a:latin typeface="Georgia"/>
                <a:ea typeface="Georgia"/>
                <a:cs typeface="Georgia"/>
              </a:rPr>
              <a:t>Story Map</a:t>
            </a:r>
          </a:p>
        </p:txBody>
      </p:sp>
      <p:sp>
        <p:nvSpPr>
          <p:cNvPr id="3" name="Rectangle 2">
            <a:extLst>
              <a:ext uri="{FF2B5EF4-FFF2-40B4-BE49-F238E27FC236}">
                <a16:creationId xmlns:a16="http://schemas.microsoft.com/office/drawing/2014/main" id="{C2608AFA-EF22-4224-9CB4-396ACB799A0F}"/>
              </a:ext>
            </a:extLst>
          </p:cNvPr>
          <p:cNvSpPr>
            <a:spLocks noGrp="1"/>
          </p:cNvSpPr>
          <p:nvPr/>
        </p:nvSpPr>
        <p:spPr>
          <a:xfrm>
            <a:off x="624840" y="853440"/>
            <a:ext cx="8610600" cy="259080"/>
          </a:xfrm>
          <a:prstGeom prst="rect">
            <a:avLst/>
          </a:prstGeom>
          <a:noFill/>
          <a:ln w="0">
            <a:noFill/>
            <a:prstDash val="solid"/>
          </a:ln>
        </p:spPr>
        <p:txBody>
          <a:bodyPr anchor="t">
            <a:noAutofit/>
          </a:bodyPr>
          <a:lstStyle/>
          <a:p>
            <a:pPr algn="l">
              <a:lnSpc>
                <a:spcPct val="108000"/>
              </a:lnSpc>
              <a:buNone/>
              <a:defRPr sz="1500" b="0" i="0">
                <a:solidFill>
                  <a:srgbClr val="5A5A5A"/>
                </a:solidFill>
                <a:latin typeface="Aptos"/>
                <a:ea typeface="Aptos"/>
                <a:cs typeface="Aptos"/>
              </a:defRPr>
            </a:pPr>
            <a:r>
              <a:rPr sz="1200">
                <a:solidFill>
                  <a:srgbClr val="5A5A5A"/>
                </a:solidFill>
                <a:latin typeface="Aptos"/>
                <a:ea typeface="Aptos"/>
                <a:cs typeface="Aptos"/>
              </a:rPr>
              <a:t>The following slides explain the work in the order it had to be completed.</a:t>
            </a:r>
          </a:p>
        </p:txBody>
      </p:sp>
      <p:sp>
        <p:nvSpPr>
          <p:cNvPr id="4" name="Straight Connector 3">
            <a:extLst>
              <a:ext uri="{FF2B5EF4-FFF2-40B4-BE49-F238E27FC236}">
                <a16:creationId xmlns:a16="http://schemas.microsoft.com/office/drawing/2014/main" id="{94AFC97E-DBF6-49D8-856B-9CE7BCF6728C}"/>
              </a:ext>
            </a:extLst>
          </p:cNvPr>
          <p:cNvSpPr>
            <a:spLocks noGrp="1"/>
          </p:cNvSpPr>
          <p:nvPr/>
        </p:nvSpPr>
        <p:spPr>
          <a:xfrm>
            <a:off x="2667000" y="3162300"/>
            <a:ext cx="1676400" cy="0"/>
          </a:xfrm>
          <a:prstGeom prst="line">
            <a:avLst/>
          </a:prstGeom>
          <a:noFill/>
          <a:ln w="19050">
            <a:solidFill>
              <a:srgbClr val="B9B9B9"/>
            </a:solidFill>
            <a:prstDash val="solid"/>
          </a:ln>
        </p:spPr>
        <p:txBody>
          <a:bodyPr/>
          <a:lstStyle/>
          <a:p>
            <a:endParaRPr lang="en-US" sz="1440"/>
          </a:p>
        </p:txBody>
      </p:sp>
      <p:sp>
        <p:nvSpPr>
          <p:cNvPr id="5" name="Straight Connector 4">
            <a:extLst>
              <a:ext uri="{FF2B5EF4-FFF2-40B4-BE49-F238E27FC236}">
                <a16:creationId xmlns:a16="http://schemas.microsoft.com/office/drawing/2014/main" id="{5DDD7B62-C9D5-4D7F-9DA7-021B3052DAC8}"/>
              </a:ext>
            </a:extLst>
          </p:cNvPr>
          <p:cNvSpPr>
            <a:spLocks noGrp="1"/>
          </p:cNvSpPr>
          <p:nvPr/>
        </p:nvSpPr>
        <p:spPr>
          <a:xfrm>
            <a:off x="6019800" y="3162300"/>
            <a:ext cx="1676400" cy="0"/>
          </a:xfrm>
          <a:prstGeom prst="line">
            <a:avLst/>
          </a:prstGeom>
          <a:noFill/>
          <a:ln w="19050">
            <a:solidFill>
              <a:srgbClr val="B9B9B9"/>
            </a:solidFill>
            <a:prstDash val="solid"/>
          </a:ln>
        </p:spPr>
        <p:txBody>
          <a:bodyPr/>
          <a:lstStyle/>
          <a:p>
            <a:endParaRPr lang="en-US" sz="1440"/>
          </a:p>
        </p:txBody>
      </p:sp>
      <p:sp>
        <p:nvSpPr>
          <p:cNvPr id="6" name="Straight Connector 5">
            <a:extLst>
              <a:ext uri="{FF2B5EF4-FFF2-40B4-BE49-F238E27FC236}">
                <a16:creationId xmlns:a16="http://schemas.microsoft.com/office/drawing/2014/main" id="{D672D8C5-C663-4C4F-AB29-21544FF30745}"/>
              </a:ext>
            </a:extLst>
          </p:cNvPr>
          <p:cNvSpPr>
            <a:spLocks noGrp="1"/>
          </p:cNvSpPr>
          <p:nvPr/>
        </p:nvSpPr>
        <p:spPr>
          <a:xfrm>
            <a:off x="9372600" y="3162300"/>
            <a:ext cx="1371600" cy="0"/>
          </a:xfrm>
          <a:prstGeom prst="line">
            <a:avLst/>
          </a:prstGeom>
          <a:noFill/>
          <a:ln w="19050">
            <a:solidFill>
              <a:srgbClr val="B9B9B9"/>
            </a:solidFill>
            <a:prstDash val="solid"/>
          </a:ln>
        </p:spPr>
        <p:txBody>
          <a:bodyPr/>
          <a:lstStyle/>
          <a:p>
            <a:endParaRPr lang="en-US" sz="1440"/>
          </a:p>
        </p:txBody>
      </p:sp>
      <p:sp>
        <p:nvSpPr>
          <p:cNvPr id="7" name="Rounded Rectangle 6">
            <a:extLst>
              <a:ext uri="{FF2B5EF4-FFF2-40B4-BE49-F238E27FC236}">
                <a16:creationId xmlns:a16="http://schemas.microsoft.com/office/drawing/2014/main" id="{4CFF2B6F-048F-45B2-B0CA-2015B9216501}"/>
              </a:ext>
            </a:extLst>
          </p:cNvPr>
          <p:cNvSpPr>
            <a:spLocks noGrp="1"/>
          </p:cNvSpPr>
          <p:nvPr/>
        </p:nvSpPr>
        <p:spPr>
          <a:xfrm>
            <a:off x="609600" y="2209800"/>
            <a:ext cx="2057400" cy="1905000"/>
          </a:xfrm>
          <a:prstGeom prst="roundRect">
            <a:avLst>
              <a:gd name="adj" fmla="val 6400"/>
            </a:avLst>
          </a:prstGeom>
          <a:solidFill>
            <a:srgbClr val="EAF5FD"/>
          </a:solidFill>
          <a:ln w="19050">
            <a:solidFill>
              <a:srgbClr val="1484D6"/>
            </a:solidFill>
            <a:prstDash val="solid"/>
          </a:ln>
        </p:spPr>
        <p:txBody>
          <a:bodyPr/>
          <a:lstStyle/>
          <a:p>
            <a:endParaRPr lang="en-US" sz="1440"/>
          </a:p>
        </p:txBody>
      </p:sp>
      <p:sp>
        <p:nvSpPr>
          <p:cNvPr id="8" name="Rectangle 7">
            <a:extLst>
              <a:ext uri="{FF2B5EF4-FFF2-40B4-BE49-F238E27FC236}">
                <a16:creationId xmlns:a16="http://schemas.microsoft.com/office/drawing/2014/main" id="{F698E68F-5237-4C4B-AA27-9047907B990C}"/>
              </a:ext>
            </a:extLst>
          </p:cNvPr>
          <p:cNvSpPr>
            <a:spLocks noGrp="1"/>
          </p:cNvSpPr>
          <p:nvPr/>
        </p:nvSpPr>
        <p:spPr>
          <a:xfrm>
            <a:off x="822960" y="2354580"/>
            <a:ext cx="1630680" cy="160020"/>
          </a:xfrm>
          <a:prstGeom prst="rect">
            <a:avLst/>
          </a:prstGeom>
          <a:noFill/>
          <a:ln w="0">
            <a:noFill/>
            <a:prstDash val="solid"/>
          </a:ln>
        </p:spPr>
        <p:txBody>
          <a:bodyPr anchor="t">
            <a:noAutofit/>
          </a:bodyPr>
          <a:lstStyle/>
          <a:p>
            <a:pPr algn="l">
              <a:lnSpc>
                <a:spcPct val="108000"/>
              </a:lnSpc>
              <a:buNone/>
              <a:defRPr sz="975" b="1" i="0">
                <a:solidFill>
                  <a:srgbClr val="1484D6"/>
                </a:solidFill>
                <a:latin typeface="Aptos"/>
                <a:ea typeface="Aptos"/>
                <a:cs typeface="Aptos"/>
              </a:defRPr>
            </a:pPr>
            <a:r>
              <a:rPr sz="780" b="1">
                <a:solidFill>
                  <a:srgbClr val="1484D6"/>
                </a:solidFill>
                <a:latin typeface="Aptos"/>
                <a:ea typeface="Aptos"/>
                <a:cs typeface="Aptos"/>
              </a:rPr>
              <a:t>1 · NEED</a:t>
            </a:r>
          </a:p>
        </p:txBody>
      </p:sp>
      <p:sp>
        <p:nvSpPr>
          <p:cNvPr id="9" name="Rectangle 8">
            <a:extLst>
              <a:ext uri="{FF2B5EF4-FFF2-40B4-BE49-F238E27FC236}">
                <a16:creationId xmlns:a16="http://schemas.microsoft.com/office/drawing/2014/main" id="{673B4B71-346C-4357-A98C-B468373B296F}"/>
              </a:ext>
            </a:extLst>
          </p:cNvPr>
          <p:cNvSpPr>
            <a:spLocks noGrp="1"/>
          </p:cNvSpPr>
          <p:nvPr/>
        </p:nvSpPr>
        <p:spPr>
          <a:xfrm>
            <a:off x="822960" y="2552700"/>
            <a:ext cx="1630680" cy="441960"/>
          </a:xfrm>
          <a:prstGeom prst="rect">
            <a:avLst/>
          </a:prstGeom>
          <a:noFill/>
          <a:ln w="0">
            <a:noFill/>
            <a:prstDash val="solid"/>
          </a:ln>
        </p:spPr>
        <p:txBody>
          <a:bodyPr anchor="ctr">
            <a:normAutofit/>
          </a:bodyPr>
          <a:lstStyle/>
          <a:p>
            <a:pPr algn="l">
              <a:lnSpc>
                <a:spcPct val="108000"/>
              </a:lnSpc>
              <a:buNone/>
              <a:defRPr sz="1500" b="1" i="0">
                <a:solidFill>
                  <a:srgbClr val="111111"/>
                </a:solidFill>
                <a:latin typeface="Georgia"/>
                <a:ea typeface="Georgia"/>
                <a:cs typeface="Georgia"/>
              </a:defRPr>
            </a:pPr>
            <a:r>
              <a:rPr sz="1200" b="1">
                <a:solidFill>
                  <a:srgbClr val="111111"/>
                </a:solidFill>
                <a:latin typeface="Georgia"/>
                <a:ea typeface="Georgia"/>
                <a:cs typeface="Georgia"/>
              </a:rPr>
              <a:t>Detect direction</a:t>
            </a:r>
          </a:p>
        </p:txBody>
      </p:sp>
      <p:sp>
        <p:nvSpPr>
          <p:cNvPr id="10" name="Rectangle 9">
            <a:extLst>
              <a:ext uri="{FF2B5EF4-FFF2-40B4-BE49-F238E27FC236}">
                <a16:creationId xmlns:a16="http://schemas.microsoft.com/office/drawing/2014/main" id="{FE9F5D21-3D44-4596-B76C-7A921E2247F9}"/>
              </a:ext>
            </a:extLst>
          </p:cNvPr>
          <p:cNvSpPr>
            <a:spLocks noGrp="1"/>
          </p:cNvSpPr>
          <p:nvPr/>
        </p:nvSpPr>
        <p:spPr>
          <a:xfrm>
            <a:off x="822960" y="3063240"/>
            <a:ext cx="1630680" cy="914400"/>
          </a:xfrm>
          <a:prstGeom prst="rect">
            <a:avLst/>
          </a:prstGeom>
          <a:noFill/>
          <a:ln w="0">
            <a:noFill/>
            <a:prstDash val="solid"/>
          </a:ln>
        </p:spPr>
        <p:txBody>
          <a:bodyPr anchor="t">
            <a:normAutofit/>
          </a:bodyPr>
          <a:lstStyle/>
          <a:p>
            <a:pPr algn="l">
              <a:lnSpc>
                <a:spcPct val="115000"/>
              </a:lnSpc>
              <a:buNone/>
              <a:defRPr sz="1425" b="0" i="0">
                <a:solidFill>
                  <a:srgbClr val="5A5A5A"/>
                </a:solidFill>
                <a:latin typeface="Aptos"/>
                <a:ea typeface="Aptos"/>
                <a:cs typeface="Aptos"/>
              </a:defRPr>
            </a:pPr>
            <a:r>
              <a:rPr sz="1140">
                <a:solidFill>
                  <a:srgbClr val="5A5A5A"/>
                </a:solidFill>
                <a:latin typeface="Aptos"/>
                <a:ea typeface="Aptos"/>
                <a:cs typeface="Aptos"/>
              </a:rPr>
              <a:t>Use routine labs to flag recovery-like versus worsening trajectories.</a:t>
            </a:r>
          </a:p>
        </p:txBody>
      </p:sp>
      <p:sp>
        <p:nvSpPr>
          <p:cNvPr id="11" name="Rounded Rectangle 10">
            <a:extLst>
              <a:ext uri="{FF2B5EF4-FFF2-40B4-BE49-F238E27FC236}">
                <a16:creationId xmlns:a16="http://schemas.microsoft.com/office/drawing/2014/main" id="{6580AD7D-D630-48B8-BF6B-950B36F147B1}"/>
              </a:ext>
            </a:extLst>
          </p:cNvPr>
          <p:cNvSpPr>
            <a:spLocks noGrp="1"/>
          </p:cNvSpPr>
          <p:nvPr/>
        </p:nvSpPr>
        <p:spPr>
          <a:xfrm>
            <a:off x="3276600" y="1905000"/>
            <a:ext cx="2743200" cy="2514600"/>
          </a:xfrm>
          <a:prstGeom prst="roundRect">
            <a:avLst>
              <a:gd name="adj" fmla="val 4848"/>
            </a:avLst>
          </a:prstGeom>
          <a:solidFill>
            <a:srgbClr val="F5EEFC"/>
          </a:solidFill>
          <a:ln w="19050">
            <a:solidFill>
              <a:srgbClr val="9552D0"/>
            </a:solidFill>
            <a:prstDash val="solid"/>
          </a:ln>
        </p:spPr>
        <p:txBody>
          <a:bodyPr/>
          <a:lstStyle/>
          <a:p>
            <a:endParaRPr lang="en-US" sz="1440"/>
          </a:p>
        </p:txBody>
      </p:sp>
      <p:sp>
        <p:nvSpPr>
          <p:cNvPr id="12" name="Rectangle 11">
            <a:extLst>
              <a:ext uri="{FF2B5EF4-FFF2-40B4-BE49-F238E27FC236}">
                <a16:creationId xmlns:a16="http://schemas.microsoft.com/office/drawing/2014/main" id="{130DED57-A8E1-4021-9C58-D035D6B558DE}"/>
              </a:ext>
            </a:extLst>
          </p:cNvPr>
          <p:cNvSpPr>
            <a:spLocks noGrp="1"/>
          </p:cNvSpPr>
          <p:nvPr/>
        </p:nvSpPr>
        <p:spPr>
          <a:xfrm>
            <a:off x="3489960" y="2049780"/>
            <a:ext cx="2316480" cy="160020"/>
          </a:xfrm>
          <a:prstGeom prst="rect">
            <a:avLst/>
          </a:prstGeom>
          <a:noFill/>
          <a:ln w="0">
            <a:noFill/>
            <a:prstDash val="solid"/>
          </a:ln>
        </p:spPr>
        <p:txBody>
          <a:bodyPr anchor="t">
            <a:noAutofit/>
          </a:bodyPr>
          <a:lstStyle/>
          <a:p>
            <a:pPr algn="l">
              <a:lnSpc>
                <a:spcPct val="108000"/>
              </a:lnSpc>
              <a:buNone/>
              <a:defRPr sz="975" b="1" i="0">
                <a:solidFill>
                  <a:srgbClr val="9552D0"/>
                </a:solidFill>
                <a:latin typeface="Aptos"/>
                <a:ea typeface="Aptos"/>
                <a:cs typeface="Aptos"/>
              </a:defRPr>
            </a:pPr>
            <a:r>
              <a:rPr sz="780" b="1">
                <a:solidFill>
                  <a:srgbClr val="9552D0"/>
                </a:solidFill>
                <a:latin typeface="Aptos"/>
                <a:ea typeface="Aptos"/>
                <a:cs typeface="Aptos"/>
              </a:rPr>
              <a:t>2 · DATA PROCESSING</a:t>
            </a:r>
          </a:p>
        </p:txBody>
      </p:sp>
      <p:sp>
        <p:nvSpPr>
          <p:cNvPr id="13" name="Rectangle 12">
            <a:extLst>
              <a:ext uri="{FF2B5EF4-FFF2-40B4-BE49-F238E27FC236}">
                <a16:creationId xmlns:a16="http://schemas.microsoft.com/office/drawing/2014/main" id="{EBECF4AB-A718-418A-A847-E4840B793564}"/>
              </a:ext>
            </a:extLst>
          </p:cNvPr>
          <p:cNvSpPr>
            <a:spLocks noGrp="1"/>
          </p:cNvSpPr>
          <p:nvPr/>
        </p:nvSpPr>
        <p:spPr>
          <a:xfrm>
            <a:off x="3489960" y="2247900"/>
            <a:ext cx="2316480" cy="441960"/>
          </a:xfrm>
          <a:prstGeom prst="rect">
            <a:avLst/>
          </a:prstGeom>
          <a:noFill/>
          <a:ln w="0">
            <a:noFill/>
            <a:prstDash val="solid"/>
          </a:ln>
        </p:spPr>
        <p:txBody>
          <a:bodyPr anchor="ctr">
            <a:normAutofit fontScale="85485" lnSpcReduction="20000"/>
          </a:bodyPr>
          <a:lstStyle/>
          <a:p>
            <a:pPr algn="l">
              <a:lnSpc>
                <a:spcPct val="108000"/>
              </a:lnSpc>
              <a:buNone/>
              <a:defRPr sz="1800" b="1" i="0">
                <a:solidFill>
                  <a:srgbClr val="111111"/>
                </a:solidFill>
                <a:latin typeface="Georgia"/>
                <a:ea typeface="Georgia"/>
                <a:cs typeface="Georgia"/>
              </a:defRPr>
            </a:pPr>
            <a:r>
              <a:rPr sz="1440" b="1">
                <a:solidFill>
                  <a:srgbClr val="111111"/>
                </a:solidFill>
                <a:latin typeface="Georgia"/>
                <a:ea typeface="Georgia"/>
                <a:cs typeface="Georgia"/>
              </a:rPr>
              <a:t>Build the full data foundation</a:t>
            </a:r>
          </a:p>
        </p:txBody>
      </p:sp>
      <p:sp>
        <p:nvSpPr>
          <p:cNvPr id="14" name="Rectangle 13">
            <a:extLst>
              <a:ext uri="{FF2B5EF4-FFF2-40B4-BE49-F238E27FC236}">
                <a16:creationId xmlns:a16="http://schemas.microsoft.com/office/drawing/2014/main" id="{C1391F17-91F1-455B-A3C8-688913FF93A1}"/>
              </a:ext>
            </a:extLst>
          </p:cNvPr>
          <p:cNvSpPr>
            <a:spLocks noGrp="1"/>
          </p:cNvSpPr>
          <p:nvPr/>
        </p:nvSpPr>
        <p:spPr>
          <a:xfrm>
            <a:off x="3489960" y="2758440"/>
            <a:ext cx="2316480" cy="1524000"/>
          </a:xfrm>
          <a:prstGeom prst="rect">
            <a:avLst/>
          </a:prstGeom>
          <a:noFill/>
          <a:ln w="0">
            <a:noFill/>
            <a:prstDash val="solid"/>
          </a:ln>
        </p:spPr>
        <p:txBody>
          <a:bodyPr anchor="t">
            <a:normAutofit/>
          </a:bodyPr>
          <a:lstStyle/>
          <a:p>
            <a:pPr algn="l">
              <a:lnSpc>
                <a:spcPct val="115000"/>
              </a:lnSpc>
              <a:buNone/>
              <a:defRPr sz="1425" b="0" i="0">
                <a:solidFill>
                  <a:srgbClr val="5A5A5A"/>
                </a:solidFill>
                <a:latin typeface="Aptos"/>
                <a:ea typeface="Aptos"/>
                <a:cs typeface="Aptos"/>
              </a:defRPr>
            </a:pPr>
            <a:r>
              <a:rPr sz="1140">
                <a:solidFill>
                  <a:srgbClr val="5A5A5A"/>
                </a:solidFill>
                <a:latin typeface="Aptos"/>
                <a:ea typeface="Aptos"/>
                <a:cs typeface="Aptos"/>
              </a:rPr>
              <a:t>Load and validate MIMIC-IV; define the adult ICU cohort; extract first-24-hour laboratory trajectories; construct reproducible features.</a:t>
            </a:r>
          </a:p>
        </p:txBody>
      </p:sp>
      <p:sp>
        <p:nvSpPr>
          <p:cNvPr id="15" name="Rounded Rectangle 14">
            <a:extLst>
              <a:ext uri="{FF2B5EF4-FFF2-40B4-BE49-F238E27FC236}">
                <a16:creationId xmlns:a16="http://schemas.microsoft.com/office/drawing/2014/main" id="{C2B49106-6BBC-409D-8470-3C406AED897B}"/>
              </a:ext>
            </a:extLst>
          </p:cNvPr>
          <p:cNvSpPr>
            <a:spLocks noGrp="1"/>
          </p:cNvSpPr>
          <p:nvPr/>
        </p:nvSpPr>
        <p:spPr>
          <a:xfrm>
            <a:off x="6629400" y="2209800"/>
            <a:ext cx="2743200" cy="1905000"/>
          </a:xfrm>
          <a:prstGeom prst="roundRect">
            <a:avLst>
              <a:gd name="adj" fmla="val 6400"/>
            </a:avLst>
          </a:prstGeom>
          <a:solidFill>
            <a:srgbClr val="EAF8F2"/>
          </a:solidFill>
          <a:ln w="19050">
            <a:solidFill>
              <a:srgbClr val="00A870"/>
            </a:solidFill>
            <a:prstDash val="solid"/>
          </a:ln>
        </p:spPr>
        <p:txBody>
          <a:bodyPr/>
          <a:lstStyle/>
          <a:p>
            <a:endParaRPr lang="en-US" sz="1440"/>
          </a:p>
        </p:txBody>
      </p:sp>
      <p:sp>
        <p:nvSpPr>
          <p:cNvPr id="16" name="Rectangle 15">
            <a:extLst>
              <a:ext uri="{FF2B5EF4-FFF2-40B4-BE49-F238E27FC236}">
                <a16:creationId xmlns:a16="http://schemas.microsoft.com/office/drawing/2014/main" id="{DEACBB00-6533-44BE-88CE-B8E86EEAFAC4}"/>
              </a:ext>
            </a:extLst>
          </p:cNvPr>
          <p:cNvSpPr>
            <a:spLocks noGrp="1"/>
          </p:cNvSpPr>
          <p:nvPr/>
        </p:nvSpPr>
        <p:spPr>
          <a:xfrm>
            <a:off x="6842760" y="2354580"/>
            <a:ext cx="2316480" cy="160020"/>
          </a:xfrm>
          <a:prstGeom prst="rect">
            <a:avLst/>
          </a:prstGeom>
          <a:noFill/>
          <a:ln w="0">
            <a:noFill/>
            <a:prstDash val="solid"/>
          </a:ln>
        </p:spPr>
        <p:txBody>
          <a:bodyPr anchor="t">
            <a:noAutofit/>
          </a:bodyPr>
          <a:lstStyle/>
          <a:p>
            <a:pPr algn="l">
              <a:lnSpc>
                <a:spcPct val="108000"/>
              </a:lnSpc>
              <a:buNone/>
              <a:defRPr sz="975" b="1" i="0">
                <a:solidFill>
                  <a:srgbClr val="00A870"/>
                </a:solidFill>
                <a:latin typeface="Aptos"/>
                <a:ea typeface="Aptos"/>
                <a:cs typeface="Aptos"/>
              </a:defRPr>
            </a:pPr>
            <a:r>
              <a:rPr sz="780" b="1">
                <a:solidFill>
                  <a:srgbClr val="00A870"/>
                </a:solidFill>
                <a:latin typeface="Aptos"/>
                <a:ea typeface="Aptos"/>
                <a:cs typeface="Aptos"/>
              </a:rPr>
              <a:t>3 · DATA MODELLING</a:t>
            </a:r>
          </a:p>
        </p:txBody>
      </p:sp>
      <p:sp>
        <p:nvSpPr>
          <p:cNvPr id="17" name="Rectangle 16">
            <a:extLst>
              <a:ext uri="{FF2B5EF4-FFF2-40B4-BE49-F238E27FC236}">
                <a16:creationId xmlns:a16="http://schemas.microsoft.com/office/drawing/2014/main" id="{CCEA68F4-7F7F-4DB9-8573-B40FCB02ECD1}"/>
              </a:ext>
            </a:extLst>
          </p:cNvPr>
          <p:cNvSpPr>
            <a:spLocks noGrp="1"/>
          </p:cNvSpPr>
          <p:nvPr/>
        </p:nvSpPr>
        <p:spPr>
          <a:xfrm>
            <a:off x="6842760" y="2552700"/>
            <a:ext cx="2316480" cy="441960"/>
          </a:xfrm>
          <a:prstGeom prst="rect">
            <a:avLst/>
          </a:prstGeom>
          <a:noFill/>
          <a:ln w="0">
            <a:noFill/>
            <a:prstDash val="solid"/>
          </a:ln>
        </p:spPr>
        <p:txBody>
          <a:bodyPr anchor="ctr">
            <a:normAutofit/>
          </a:bodyPr>
          <a:lstStyle/>
          <a:p>
            <a:pPr algn="l">
              <a:lnSpc>
                <a:spcPct val="108000"/>
              </a:lnSpc>
              <a:buNone/>
              <a:defRPr sz="1800" b="1" i="0">
                <a:solidFill>
                  <a:srgbClr val="111111"/>
                </a:solidFill>
                <a:latin typeface="Georgia"/>
                <a:ea typeface="Georgia"/>
                <a:cs typeface="Georgia"/>
              </a:defRPr>
            </a:pPr>
            <a:r>
              <a:rPr sz="1440" b="1">
                <a:solidFill>
                  <a:srgbClr val="111111"/>
                </a:solidFill>
                <a:latin typeface="Georgia"/>
                <a:ea typeface="Georgia"/>
                <a:cs typeface="Georgia"/>
              </a:rPr>
              <a:t>Discover phenotypes</a:t>
            </a:r>
          </a:p>
        </p:txBody>
      </p:sp>
      <p:sp>
        <p:nvSpPr>
          <p:cNvPr id="18" name="Rectangle 17">
            <a:extLst>
              <a:ext uri="{FF2B5EF4-FFF2-40B4-BE49-F238E27FC236}">
                <a16:creationId xmlns:a16="http://schemas.microsoft.com/office/drawing/2014/main" id="{79A4EBA9-26ED-4040-896F-0E83DE872EB4}"/>
              </a:ext>
            </a:extLst>
          </p:cNvPr>
          <p:cNvSpPr>
            <a:spLocks noGrp="1"/>
          </p:cNvSpPr>
          <p:nvPr/>
        </p:nvSpPr>
        <p:spPr>
          <a:xfrm>
            <a:off x="6842760" y="3063240"/>
            <a:ext cx="2316480" cy="914400"/>
          </a:xfrm>
          <a:prstGeom prst="rect">
            <a:avLst/>
          </a:prstGeom>
          <a:noFill/>
          <a:ln w="0">
            <a:noFill/>
            <a:prstDash val="solid"/>
          </a:ln>
        </p:spPr>
        <p:txBody>
          <a:bodyPr anchor="t">
            <a:normAutofit/>
          </a:bodyPr>
          <a:lstStyle/>
          <a:p>
            <a:pPr algn="l">
              <a:lnSpc>
                <a:spcPct val="115000"/>
              </a:lnSpc>
              <a:buNone/>
              <a:defRPr sz="1425" b="0" i="0">
                <a:solidFill>
                  <a:srgbClr val="5A5A5A"/>
                </a:solidFill>
                <a:latin typeface="Aptos"/>
                <a:ea typeface="Aptos"/>
                <a:cs typeface="Aptos"/>
              </a:defRPr>
            </a:pPr>
            <a:r>
              <a:rPr sz="1140">
                <a:solidFill>
                  <a:srgbClr val="5A5A5A"/>
                </a:solidFill>
                <a:latin typeface="Aptos"/>
                <a:ea typeface="Aptos"/>
                <a:cs typeface="Aptos"/>
              </a:rPr>
              <a:t>Use unsupervised learning on four rates of change, then evaluate mortality and adjusted associations.</a:t>
            </a:r>
          </a:p>
        </p:txBody>
      </p:sp>
      <p:sp>
        <p:nvSpPr>
          <p:cNvPr id="19" name="Rounded Rectangle 18">
            <a:extLst>
              <a:ext uri="{FF2B5EF4-FFF2-40B4-BE49-F238E27FC236}">
                <a16:creationId xmlns:a16="http://schemas.microsoft.com/office/drawing/2014/main" id="{B44E237F-3270-4283-97BA-F5E45CBED1CE}"/>
              </a:ext>
            </a:extLst>
          </p:cNvPr>
          <p:cNvSpPr>
            <a:spLocks noGrp="1"/>
          </p:cNvSpPr>
          <p:nvPr/>
        </p:nvSpPr>
        <p:spPr>
          <a:xfrm>
            <a:off x="9982200" y="2209800"/>
            <a:ext cx="1752600" cy="1905000"/>
          </a:xfrm>
          <a:prstGeom prst="roundRect">
            <a:avLst>
              <a:gd name="adj" fmla="val 6957"/>
            </a:avLst>
          </a:prstGeom>
          <a:solidFill>
            <a:srgbClr val="FFF3E5"/>
          </a:solidFill>
          <a:ln w="19050">
            <a:solidFill>
              <a:srgbClr val="EF7D00"/>
            </a:solidFill>
            <a:prstDash val="solid"/>
          </a:ln>
        </p:spPr>
        <p:txBody>
          <a:bodyPr/>
          <a:lstStyle/>
          <a:p>
            <a:endParaRPr lang="en-US" sz="1440"/>
          </a:p>
        </p:txBody>
      </p:sp>
      <p:sp>
        <p:nvSpPr>
          <p:cNvPr id="20" name="Rectangle 19">
            <a:extLst>
              <a:ext uri="{FF2B5EF4-FFF2-40B4-BE49-F238E27FC236}">
                <a16:creationId xmlns:a16="http://schemas.microsoft.com/office/drawing/2014/main" id="{CFECADC8-9CB6-4303-95CF-781714BD8FFA}"/>
              </a:ext>
            </a:extLst>
          </p:cNvPr>
          <p:cNvSpPr>
            <a:spLocks noGrp="1"/>
          </p:cNvSpPr>
          <p:nvPr/>
        </p:nvSpPr>
        <p:spPr>
          <a:xfrm>
            <a:off x="10195560" y="2354580"/>
            <a:ext cx="1325880" cy="160020"/>
          </a:xfrm>
          <a:prstGeom prst="rect">
            <a:avLst/>
          </a:prstGeom>
          <a:noFill/>
          <a:ln w="0">
            <a:noFill/>
            <a:prstDash val="solid"/>
          </a:ln>
        </p:spPr>
        <p:txBody>
          <a:bodyPr anchor="t">
            <a:noAutofit/>
          </a:bodyPr>
          <a:lstStyle/>
          <a:p>
            <a:pPr algn="l">
              <a:lnSpc>
                <a:spcPct val="108000"/>
              </a:lnSpc>
              <a:buNone/>
              <a:defRPr sz="975" b="1" i="0">
                <a:solidFill>
                  <a:srgbClr val="EF7D00"/>
                </a:solidFill>
                <a:latin typeface="Aptos"/>
                <a:ea typeface="Aptos"/>
                <a:cs typeface="Aptos"/>
              </a:defRPr>
            </a:pPr>
            <a:r>
              <a:rPr sz="780" b="1">
                <a:solidFill>
                  <a:srgbClr val="EF7D00"/>
                </a:solidFill>
                <a:latin typeface="Aptos"/>
                <a:ea typeface="Aptos"/>
                <a:cs typeface="Aptos"/>
              </a:rPr>
              <a:t>4 · INFRASTRUCTURE</a:t>
            </a:r>
          </a:p>
        </p:txBody>
      </p:sp>
      <p:sp>
        <p:nvSpPr>
          <p:cNvPr id="21" name="Rectangle 20">
            <a:extLst>
              <a:ext uri="{FF2B5EF4-FFF2-40B4-BE49-F238E27FC236}">
                <a16:creationId xmlns:a16="http://schemas.microsoft.com/office/drawing/2014/main" id="{0F830DAA-E3B0-447F-AFA5-D6AE3F6FC2B6}"/>
              </a:ext>
            </a:extLst>
          </p:cNvPr>
          <p:cNvSpPr>
            <a:spLocks noGrp="1"/>
          </p:cNvSpPr>
          <p:nvPr/>
        </p:nvSpPr>
        <p:spPr>
          <a:xfrm>
            <a:off x="10195560" y="2552700"/>
            <a:ext cx="1325880" cy="441960"/>
          </a:xfrm>
          <a:prstGeom prst="rect">
            <a:avLst/>
          </a:prstGeom>
          <a:noFill/>
          <a:ln w="0">
            <a:noFill/>
            <a:prstDash val="solid"/>
          </a:ln>
        </p:spPr>
        <p:txBody>
          <a:bodyPr anchor="ctr">
            <a:normAutofit fontScale="93364"/>
          </a:bodyPr>
          <a:lstStyle/>
          <a:p>
            <a:pPr algn="l">
              <a:lnSpc>
                <a:spcPct val="108000"/>
              </a:lnSpc>
              <a:buNone/>
              <a:defRPr sz="1500" b="1" i="0">
                <a:solidFill>
                  <a:srgbClr val="111111"/>
                </a:solidFill>
                <a:latin typeface="Georgia"/>
                <a:ea typeface="Georgia"/>
                <a:cs typeface="Georgia"/>
              </a:defRPr>
            </a:pPr>
            <a:r>
              <a:rPr sz="1200" b="1">
                <a:solidFill>
                  <a:srgbClr val="111111"/>
                </a:solidFill>
                <a:latin typeface="Georgia"/>
                <a:ea typeface="Georgia"/>
                <a:cs typeface="Georgia"/>
              </a:rPr>
              <a:t>Deliver the result</a:t>
            </a:r>
          </a:p>
        </p:txBody>
      </p:sp>
      <p:sp>
        <p:nvSpPr>
          <p:cNvPr id="22" name="Rectangle 21">
            <a:extLst>
              <a:ext uri="{FF2B5EF4-FFF2-40B4-BE49-F238E27FC236}">
                <a16:creationId xmlns:a16="http://schemas.microsoft.com/office/drawing/2014/main" id="{782D16BA-FBD5-4D54-BA88-BA1A06D47D3C}"/>
              </a:ext>
            </a:extLst>
          </p:cNvPr>
          <p:cNvSpPr>
            <a:spLocks noGrp="1"/>
          </p:cNvSpPr>
          <p:nvPr/>
        </p:nvSpPr>
        <p:spPr>
          <a:xfrm>
            <a:off x="10195560" y="3063240"/>
            <a:ext cx="1325880" cy="914400"/>
          </a:xfrm>
          <a:prstGeom prst="rect">
            <a:avLst/>
          </a:prstGeom>
          <a:noFill/>
          <a:ln w="0">
            <a:noFill/>
            <a:prstDash val="solid"/>
          </a:ln>
        </p:spPr>
        <p:txBody>
          <a:bodyPr anchor="t">
            <a:normAutofit fontScale="91711" lnSpcReduction="10000"/>
          </a:bodyPr>
          <a:lstStyle/>
          <a:p>
            <a:pPr algn="l">
              <a:lnSpc>
                <a:spcPct val="115000"/>
              </a:lnSpc>
              <a:buNone/>
              <a:defRPr sz="1425" b="0" i="0">
                <a:solidFill>
                  <a:srgbClr val="5A5A5A"/>
                </a:solidFill>
                <a:latin typeface="Aptos"/>
                <a:ea typeface="Aptos"/>
                <a:cs typeface="Aptos"/>
              </a:defRPr>
            </a:pPr>
            <a:r>
              <a:rPr sz="1140">
                <a:solidFill>
                  <a:srgbClr val="5A5A5A"/>
                </a:solidFill>
                <a:latin typeface="Aptos"/>
                <a:ea typeface="Aptos"/>
                <a:cs typeface="Aptos"/>
              </a:rPr>
              <a:t>Connect PostgreSQL, Python outputs, model coefficients, and Streamlit.</a:t>
            </a:r>
          </a:p>
        </p:txBody>
      </p:sp>
      <p:sp>
        <p:nvSpPr>
          <p:cNvPr id="23" name="Rectangle 22">
            <a:extLst>
              <a:ext uri="{FF2B5EF4-FFF2-40B4-BE49-F238E27FC236}">
                <a16:creationId xmlns:a16="http://schemas.microsoft.com/office/drawing/2014/main" id="{72EFB851-8834-4607-A1FA-6E0F568EB0E6}"/>
              </a:ext>
            </a:extLst>
          </p:cNvPr>
          <p:cNvSpPr>
            <a:spLocks noGrp="1"/>
          </p:cNvSpPr>
          <p:nvPr/>
        </p:nvSpPr>
        <p:spPr>
          <a:xfrm>
            <a:off x="723900" y="4991100"/>
            <a:ext cx="4953000" cy="304800"/>
          </a:xfrm>
          <a:prstGeom prst="rect">
            <a:avLst/>
          </a:prstGeom>
          <a:noFill/>
          <a:ln w="0">
            <a:noFill/>
            <a:prstDash val="solid"/>
          </a:ln>
        </p:spPr>
        <p:txBody>
          <a:bodyPr anchor="t">
            <a:noAutofit/>
          </a:bodyPr>
          <a:lstStyle/>
          <a:p>
            <a:pPr algn="l">
              <a:lnSpc>
                <a:spcPct val="108000"/>
              </a:lnSpc>
              <a:buNone/>
              <a:defRPr sz="2175" b="1" i="0">
                <a:solidFill>
                  <a:srgbClr val="9552D0"/>
                </a:solidFill>
                <a:latin typeface="Georgia"/>
                <a:ea typeface="Georgia"/>
                <a:cs typeface="Georgia"/>
              </a:defRPr>
            </a:pPr>
            <a:r>
              <a:rPr sz="1740" b="1">
                <a:solidFill>
                  <a:srgbClr val="9552D0"/>
                </a:solidFill>
                <a:latin typeface="Georgia"/>
                <a:ea typeface="Georgia"/>
                <a:cs typeface="Georgia"/>
              </a:rPr>
              <a:t>Why the data-processing section is longest</a:t>
            </a:r>
          </a:p>
        </p:txBody>
      </p:sp>
      <p:sp>
        <p:nvSpPr>
          <p:cNvPr id="24" name="Rectangle 23">
            <a:extLst>
              <a:ext uri="{FF2B5EF4-FFF2-40B4-BE49-F238E27FC236}">
                <a16:creationId xmlns:a16="http://schemas.microsoft.com/office/drawing/2014/main" id="{69D1C5D1-76FD-45F5-8F26-CCA97C18DA1A}"/>
              </a:ext>
            </a:extLst>
          </p:cNvPr>
          <p:cNvSpPr>
            <a:spLocks noGrp="1"/>
          </p:cNvSpPr>
          <p:nvPr/>
        </p:nvSpPr>
        <p:spPr>
          <a:xfrm>
            <a:off x="723900" y="5425440"/>
            <a:ext cx="10210800" cy="533400"/>
          </a:xfrm>
          <a:prstGeom prst="rect">
            <a:avLst/>
          </a:prstGeom>
          <a:noFill/>
          <a:ln w="0">
            <a:noFill/>
            <a:prstDash val="solid"/>
          </a:ln>
        </p:spPr>
        <p:txBody>
          <a:bodyPr anchor="t">
            <a:noAutofit/>
          </a:bodyPr>
          <a:lstStyle/>
          <a:p>
            <a:pPr algn="l">
              <a:lnSpc>
                <a:spcPct val="108000"/>
              </a:lnSpc>
              <a:buNone/>
              <a:defRPr sz="1875" b="1" i="0">
                <a:solidFill>
                  <a:srgbClr val="111111"/>
                </a:solidFill>
                <a:latin typeface="Georgia"/>
                <a:ea typeface="Georgia"/>
                <a:cs typeface="Georgia"/>
              </a:defRPr>
            </a:pPr>
            <a:r>
              <a:rPr sz="1500" b="1">
                <a:solidFill>
                  <a:srgbClr val="111111"/>
                </a:solidFill>
                <a:latin typeface="Georgia"/>
                <a:ea typeface="Georgia"/>
                <a:cs typeface="Georgia"/>
              </a:rPr>
              <a:t>The modelling result only exists because hundreds of millions of records were loaded, checked, joined, filtered, time-aligned, and reduced without losing the analytic contract.</a:t>
            </a:r>
          </a:p>
        </p:txBody>
      </p:sp>
      <p:sp>
        <p:nvSpPr>
          <p:cNvPr id="25" name="Straight Connector 24">
            <a:extLst>
              <a:ext uri="{FF2B5EF4-FFF2-40B4-BE49-F238E27FC236}">
                <a16:creationId xmlns:a16="http://schemas.microsoft.com/office/drawing/2014/main" id="{694F38BC-FB4A-4CEB-9725-51E4CCC88855}"/>
              </a:ext>
            </a:extLst>
          </p:cNvPr>
          <p:cNvSpPr>
            <a:spLocks noGrp="1"/>
          </p:cNvSpPr>
          <p:nvPr/>
        </p:nvSpPr>
        <p:spPr>
          <a:xfrm>
            <a:off x="609600" y="6507480"/>
            <a:ext cx="10972800" cy="0"/>
          </a:xfrm>
          <a:prstGeom prst="line">
            <a:avLst/>
          </a:prstGeom>
          <a:noFill/>
          <a:ln w="9525">
            <a:solidFill>
              <a:srgbClr val="DDDDDD"/>
            </a:solidFill>
            <a:prstDash val="solid"/>
          </a:ln>
        </p:spPr>
        <p:txBody>
          <a:bodyPr/>
          <a:lstStyle/>
          <a:p>
            <a:endParaRPr lang="en-US" sz="1440"/>
          </a:p>
        </p:txBody>
      </p:sp>
      <p:sp>
        <p:nvSpPr>
          <p:cNvPr id="26" name="Rectangle 25">
            <a:extLst>
              <a:ext uri="{FF2B5EF4-FFF2-40B4-BE49-F238E27FC236}">
                <a16:creationId xmlns:a16="http://schemas.microsoft.com/office/drawing/2014/main" id="{52CE2044-15DC-49E3-95A5-AF2F9D54679A}"/>
              </a:ext>
            </a:extLst>
          </p:cNvPr>
          <p:cNvSpPr>
            <a:spLocks noGrp="1"/>
          </p:cNvSpPr>
          <p:nvPr/>
        </p:nvSpPr>
        <p:spPr>
          <a:xfrm>
            <a:off x="624840" y="6568440"/>
            <a:ext cx="5791200" cy="167640"/>
          </a:xfrm>
          <a:prstGeom prst="rect">
            <a:avLst/>
          </a:prstGeom>
          <a:noFill/>
          <a:ln w="0">
            <a:noFill/>
            <a:prstDash val="solid"/>
          </a:ln>
        </p:spPr>
        <p:txBody>
          <a:bodyPr anchor="t">
            <a:noAutofit/>
          </a:bodyPr>
          <a:lstStyle/>
          <a:p>
            <a:pPr algn="l">
              <a:lnSpc>
                <a:spcPct val="108000"/>
              </a:lnSpc>
              <a:buNone/>
              <a:defRPr sz="975" b="0" i="0">
                <a:solidFill>
                  <a:srgbClr val="777777"/>
                </a:solidFill>
                <a:latin typeface="Aptos"/>
                <a:ea typeface="Aptos"/>
                <a:cs typeface="Aptos"/>
              </a:defRPr>
            </a:pPr>
            <a:r>
              <a:rPr sz="780">
                <a:solidFill>
                  <a:srgbClr val="777777"/>
                </a:solidFill>
                <a:latin typeface="Aptos"/>
                <a:ea typeface="Aptos"/>
                <a:cs typeface="Aptos"/>
              </a:rPr>
              <a:t>MIMIC-IV first-24-hour biochemical trajectory study</a:t>
            </a:r>
          </a:p>
        </p:txBody>
      </p:sp>
      <p:sp>
        <p:nvSpPr>
          <p:cNvPr id="27" name="Rectangle 26">
            <a:extLst>
              <a:ext uri="{FF2B5EF4-FFF2-40B4-BE49-F238E27FC236}">
                <a16:creationId xmlns:a16="http://schemas.microsoft.com/office/drawing/2014/main" id="{CF5FB6EC-F887-40AC-AD9F-4B1641A9692D}"/>
              </a:ext>
            </a:extLst>
          </p:cNvPr>
          <p:cNvSpPr>
            <a:spLocks noGrp="1"/>
          </p:cNvSpPr>
          <p:nvPr/>
        </p:nvSpPr>
        <p:spPr>
          <a:xfrm>
            <a:off x="11163300" y="6568440"/>
            <a:ext cx="381000" cy="167640"/>
          </a:xfrm>
          <a:prstGeom prst="rect">
            <a:avLst/>
          </a:prstGeom>
          <a:noFill/>
          <a:ln w="0">
            <a:noFill/>
            <a:prstDash val="solid"/>
          </a:ln>
        </p:spPr>
        <p:txBody>
          <a:bodyPr anchor="t">
            <a:noAutofit/>
          </a:bodyPr>
          <a:lstStyle/>
          <a:p>
            <a:pPr algn="r">
              <a:lnSpc>
                <a:spcPct val="108000"/>
              </a:lnSpc>
              <a:buNone/>
              <a:defRPr sz="975" b="0" i="0">
                <a:solidFill>
                  <a:srgbClr val="777777"/>
                </a:solidFill>
                <a:latin typeface="Aptos"/>
                <a:ea typeface="Aptos"/>
                <a:cs typeface="Aptos"/>
              </a:defRPr>
            </a:pPr>
            <a:r>
              <a:rPr sz="780">
                <a:solidFill>
                  <a:srgbClr val="777777"/>
                </a:solidFill>
                <a:latin typeface="Aptos"/>
                <a:ea typeface="Aptos"/>
                <a:cs typeface="Aptos"/>
              </a:rPr>
              <a:t>03</a:t>
            </a:r>
          </a:p>
        </p:txBody>
      </p:sp>
    </p:spTree>
    <p:extLst>
      <p:ext uri="{BB962C8B-B14F-4D97-AF65-F5344CB8AC3E}">
        <p14:creationId xmlns:p14="http://schemas.microsoft.com/office/powerpoint/2010/main" val="8466183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slide-title">
            <a:extLst>
              <a:ext uri="{FF2B5EF4-FFF2-40B4-BE49-F238E27FC236}">
                <a16:creationId xmlns:a16="http://schemas.microsoft.com/office/drawing/2014/main" id="{0DDC31CE-3A64-4638-9623-B2C2FD414B5E}"/>
              </a:ext>
            </a:extLst>
          </p:cNvPr>
          <p:cNvSpPr>
            <a:spLocks noGrp="1"/>
          </p:cNvSpPr>
          <p:nvPr/>
        </p:nvSpPr>
        <p:spPr>
          <a:xfrm>
            <a:off x="594360" y="259080"/>
            <a:ext cx="8534400" cy="533400"/>
          </a:xfrm>
          <a:prstGeom prst="rect">
            <a:avLst/>
          </a:prstGeom>
          <a:noFill/>
          <a:ln w="0">
            <a:noFill/>
            <a:prstDash val="solid"/>
          </a:ln>
        </p:spPr>
        <p:txBody>
          <a:bodyPr anchor="t">
            <a:normAutofit fontScale="94991"/>
          </a:bodyPr>
          <a:lstStyle/>
          <a:p>
            <a:pPr algn="l">
              <a:lnSpc>
                <a:spcPct val="108000"/>
              </a:lnSpc>
              <a:buNone/>
              <a:defRPr sz="2925" b="1" i="0">
                <a:solidFill>
                  <a:srgbClr val="111111"/>
                </a:solidFill>
                <a:latin typeface="Georgia"/>
                <a:ea typeface="Georgia"/>
                <a:cs typeface="Georgia"/>
              </a:defRPr>
            </a:pPr>
            <a:r>
              <a:rPr sz="2340" b="1">
                <a:solidFill>
                  <a:srgbClr val="111111"/>
                </a:solidFill>
                <a:latin typeface="Georgia"/>
                <a:ea typeface="Georgia"/>
                <a:cs typeface="Georgia"/>
              </a:rPr>
              <a:t>First Achievement: the Full MIMIC-IV Database Was Built</a:t>
            </a:r>
          </a:p>
        </p:txBody>
      </p:sp>
      <p:sp>
        <p:nvSpPr>
          <p:cNvPr id="2" name="Rectangle 1">
            <a:extLst>
              <a:ext uri="{FF2B5EF4-FFF2-40B4-BE49-F238E27FC236}">
                <a16:creationId xmlns:a16="http://schemas.microsoft.com/office/drawing/2014/main" id="{67E075DA-4E6C-4EF9-8A18-FED50B7178C5}"/>
              </a:ext>
            </a:extLst>
          </p:cNvPr>
          <p:cNvSpPr>
            <a:spLocks noGrp="1"/>
          </p:cNvSpPr>
          <p:nvPr/>
        </p:nvSpPr>
        <p:spPr>
          <a:xfrm>
            <a:off x="9372600" y="228600"/>
            <a:ext cx="2286000" cy="533400"/>
          </a:xfrm>
          <a:prstGeom prst="rect">
            <a:avLst/>
          </a:prstGeom>
          <a:noFill/>
          <a:ln w="0">
            <a:noFill/>
            <a:prstDash val="solid"/>
          </a:ln>
        </p:spPr>
        <p:txBody>
          <a:bodyPr anchor="t">
            <a:normAutofit/>
          </a:bodyPr>
          <a:lstStyle/>
          <a:p>
            <a:pPr algn="r">
              <a:lnSpc>
                <a:spcPct val="108000"/>
              </a:lnSpc>
              <a:buNone/>
              <a:defRPr sz="2475" b="1" i="0">
                <a:solidFill>
                  <a:srgbClr val="EF7D00"/>
                </a:solidFill>
                <a:latin typeface="Georgia"/>
                <a:ea typeface="Georgia"/>
                <a:cs typeface="Georgia"/>
              </a:defRPr>
            </a:pPr>
            <a:r>
              <a:rPr sz="1980" b="1">
                <a:solidFill>
                  <a:srgbClr val="EF7D00"/>
                </a:solidFill>
                <a:latin typeface="Georgia"/>
                <a:ea typeface="Georgia"/>
                <a:cs typeface="Georgia"/>
              </a:rPr>
              <a:t>Data Processing</a:t>
            </a:r>
          </a:p>
        </p:txBody>
      </p:sp>
      <p:sp>
        <p:nvSpPr>
          <p:cNvPr id="3" name="Rectangle 2">
            <a:extLst>
              <a:ext uri="{FF2B5EF4-FFF2-40B4-BE49-F238E27FC236}">
                <a16:creationId xmlns:a16="http://schemas.microsoft.com/office/drawing/2014/main" id="{92BF23CC-014B-4858-8062-1D34EBEE45B9}"/>
              </a:ext>
            </a:extLst>
          </p:cNvPr>
          <p:cNvSpPr>
            <a:spLocks noGrp="1"/>
          </p:cNvSpPr>
          <p:nvPr/>
        </p:nvSpPr>
        <p:spPr>
          <a:xfrm>
            <a:off x="624840" y="853440"/>
            <a:ext cx="8610600" cy="259080"/>
          </a:xfrm>
          <a:prstGeom prst="rect">
            <a:avLst/>
          </a:prstGeom>
          <a:noFill/>
          <a:ln w="0">
            <a:noFill/>
            <a:prstDash val="solid"/>
          </a:ln>
        </p:spPr>
        <p:txBody>
          <a:bodyPr anchor="t">
            <a:noAutofit/>
          </a:bodyPr>
          <a:lstStyle/>
          <a:p>
            <a:pPr algn="l">
              <a:lnSpc>
                <a:spcPct val="108000"/>
              </a:lnSpc>
              <a:buNone/>
              <a:defRPr sz="1500" b="0" i="0">
                <a:solidFill>
                  <a:srgbClr val="5A5A5A"/>
                </a:solidFill>
                <a:latin typeface="Aptos"/>
                <a:ea typeface="Aptos"/>
                <a:cs typeface="Aptos"/>
              </a:defRPr>
            </a:pPr>
            <a:r>
              <a:rPr sz="1200">
                <a:solidFill>
                  <a:srgbClr val="5A5A5A"/>
                </a:solidFill>
                <a:latin typeface="Aptos"/>
                <a:ea typeface="Aptos"/>
                <a:cs typeface="Aptos"/>
              </a:rPr>
              <a:t>Handling the complete source system was a major engineering deliverable in its own right.</a:t>
            </a:r>
          </a:p>
        </p:txBody>
      </p:sp>
      <p:sp>
        <p:nvSpPr>
          <p:cNvPr id="4" name="Straight Connector 3">
            <a:extLst>
              <a:ext uri="{FF2B5EF4-FFF2-40B4-BE49-F238E27FC236}">
                <a16:creationId xmlns:a16="http://schemas.microsoft.com/office/drawing/2014/main" id="{E40F3C71-0A02-4593-8EE5-3CBAB62ACD1A}"/>
              </a:ext>
            </a:extLst>
          </p:cNvPr>
          <p:cNvSpPr>
            <a:spLocks noGrp="1"/>
          </p:cNvSpPr>
          <p:nvPr/>
        </p:nvSpPr>
        <p:spPr>
          <a:xfrm>
            <a:off x="2628900" y="1379220"/>
            <a:ext cx="723900" cy="0"/>
          </a:xfrm>
          <a:prstGeom prst="line">
            <a:avLst/>
          </a:prstGeom>
          <a:noFill/>
          <a:ln w="14288">
            <a:solidFill>
              <a:srgbClr val="B9B9B9"/>
            </a:solidFill>
            <a:prstDash val="solid"/>
          </a:ln>
        </p:spPr>
        <p:txBody>
          <a:bodyPr/>
          <a:lstStyle/>
          <a:p>
            <a:endParaRPr lang="en-US" sz="1440"/>
          </a:p>
        </p:txBody>
      </p:sp>
      <p:sp>
        <p:nvSpPr>
          <p:cNvPr id="5" name="Oval 4">
            <a:extLst>
              <a:ext uri="{FF2B5EF4-FFF2-40B4-BE49-F238E27FC236}">
                <a16:creationId xmlns:a16="http://schemas.microsoft.com/office/drawing/2014/main" id="{62E53E86-119D-4D70-B49C-6D5A91914C67}"/>
              </a:ext>
            </a:extLst>
          </p:cNvPr>
          <p:cNvSpPr>
            <a:spLocks noGrp="1"/>
          </p:cNvSpPr>
          <p:nvPr/>
        </p:nvSpPr>
        <p:spPr>
          <a:xfrm>
            <a:off x="647700" y="1203960"/>
            <a:ext cx="350520" cy="350520"/>
          </a:xfrm>
          <a:prstGeom prst="ellipse">
            <a:avLst/>
          </a:prstGeom>
          <a:solidFill>
            <a:srgbClr val="FFFFFF"/>
          </a:solidFill>
          <a:ln w="14288">
            <a:solidFill>
              <a:srgbClr val="1484D6"/>
            </a:solidFill>
            <a:prstDash val="solid"/>
          </a:ln>
        </p:spPr>
        <p:txBody>
          <a:bodyPr anchor="ctr"/>
          <a:lstStyle/>
          <a:p>
            <a:pPr algn="ctr">
              <a:defRPr sz="1200" b="1">
                <a:solidFill>
                  <a:srgbClr val="1484D6"/>
                </a:solidFill>
              </a:defRPr>
            </a:pPr>
            <a:r>
              <a:rPr sz="960" b="1">
                <a:solidFill>
                  <a:srgbClr val="1484D6"/>
                </a:solidFill>
              </a:rPr>
              <a:t>1</a:t>
            </a:r>
          </a:p>
        </p:txBody>
      </p:sp>
      <p:sp>
        <p:nvSpPr>
          <p:cNvPr id="6" name="Rectangle 5">
            <a:extLst>
              <a:ext uri="{FF2B5EF4-FFF2-40B4-BE49-F238E27FC236}">
                <a16:creationId xmlns:a16="http://schemas.microsoft.com/office/drawing/2014/main" id="{1C50E79C-3374-4201-9859-564246A96E93}"/>
              </a:ext>
            </a:extLst>
          </p:cNvPr>
          <p:cNvSpPr>
            <a:spLocks noGrp="1"/>
          </p:cNvSpPr>
          <p:nvPr/>
        </p:nvSpPr>
        <p:spPr>
          <a:xfrm>
            <a:off x="1089660" y="1234440"/>
            <a:ext cx="1828800" cy="190500"/>
          </a:xfrm>
          <a:prstGeom prst="rect">
            <a:avLst/>
          </a:prstGeom>
          <a:noFill/>
          <a:ln w="0">
            <a:noFill/>
            <a:prstDash val="solid"/>
          </a:ln>
        </p:spPr>
        <p:txBody>
          <a:bodyPr anchor="t">
            <a:noAutofit/>
          </a:bodyPr>
          <a:lstStyle/>
          <a:p>
            <a:pPr algn="l">
              <a:lnSpc>
                <a:spcPct val="108000"/>
              </a:lnSpc>
              <a:buNone/>
              <a:defRPr sz="1050" b="1" i="0">
                <a:solidFill>
                  <a:srgbClr val="777777"/>
                </a:solidFill>
                <a:latin typeface="Aptos"/>
                <a:ea typeface="Aptos"/>
                <a:cs typeface="Aptos"/>
              </a:defRPr>
            </a:pPr>
            <a:r>
              <a:rPr sz="840" b="1">
                <a:solidFill>
                  <a:srgbClr val="777777"/>
                </a:solidFill>
                <a:latin typeface="Aptos"/>
                <a:ea typeface="Aptos"/>
                <a:cs typeface="Aptos"/>
              </a:rPr>
              <a:t>BUSINESS NEEDS</a:t>
            </a:r>
          </a:p>
        </p:txBody>
      </p:sp>
      <p:sp>
        <p:nvSpPr>
          <p:cNvPr id="7" name="Straight Connector 6">
            <a:extLst>
              <a:ext uri="{FF2B5EF4-FFF2-40B4-BE49-F238E27FC236}">
                <a16:creationId xmlns:a16="http://schemas.microsoft.com/office/drawing/2014/main" id="{355CEC52-B548-4106-A07D-00FD8475F5E0}"/>
              </a:ext>
            </a:extLst>
          </p:cNvPr>
          <p:cNvSpPr>
            <a:spLocks noGrp="1"/>
          </p:cNvSpPr>
          <p:nvPr/>
        </p:nvSpPr>
        <p:spPr>
          <a:xfrm>
            <a:off x="5448300" y="1379220"/>
            <a:ext cx="723900" cy="0"/>
          </a:xfrm>
          <a:prstGeom prst="line">
            <a:avLst/>
          </a:prstGeom>
          <a:noFill/>
          <a:ln w="14288">
            <a:solidFill>
              <a:srgbClr val="B9B9B9"/>
            </a:solidFill>
            <a:prstDash val="solid"/>
          </a:ln>
        </p:spPr>
        <p:txBody>
          <a:bodyPr/>
          <a:lstStyle/>
          <a:p>
            <a:endParaRPr lang="en-US" sz="1440"/>
          </a:p>
        </p:txBody>
      </p:sp>
      <p:sp>
        <p:nvSpPr>
          <p:cNvPr id="8" name="Oval 7">
            <a:extLst>
              <a:ext uri="{FF2B5EF4-FFF2-40B4-BE49-F238E27FC236}">
                <a16:creationId xmlns:a16="http://schemas.microsoft.com/office/drawing/2014/main" id="{BF77A7D5-254D-49F3-986F-CE95668A2A40}"/>
              </a:ext>
            </a:extLst>
          </p:cNvPr>
          <p:cNvSpPr>
            <a:spLocks noGrp="1"/>
          </p:cNvSpPr>
          <p:nvPr/>
        </p:nvSpPr>
        <p:spPr>
          <a:xfrm>
            <a:off x="3467100" y="1203960"/>
            <a:ext cx="350520" cy="350520"/>
          </a:xfrm>
          <a:prstGeom prst="ellipse">
            <a:avLst/>
          </a:prstGeom>
          <a:solidFill>
            <a:srgbClr val="9552D0"/>
          </a:solidFill>
          <a:ln w="14288">
            <a:solidFill>
              <a:srgbClr val="9552D0"/>
            </a:solidFill>
            <a:prstDash val="solid"/>
          </a:ln>
        </p:spPr>
        <p:txBody>
          <a:bodyPr anchor="ctr"/>
          <a:lstStyle/>
          <a:p>
            <a:pPr algn="ctr">
              <a:defRPr sz="1200" b="1">
                <a:solidFill>
                  <a:srgbClr val="FFFFFF"/>
                </a:solidFill>
              </a:defRPr>
            </a:pPr>
            <a:r>
              <a:rPr sz="960" b="1">
                <a:solidFill>
                  <a:srgbClr val="FFFFFF"/>
                </a:solidFill>
              </a:rPr>
              <a:t>2</a:t>
            </a:r>
          </a:p>
        </p:txBody>
      </p:sp>
      <p:sp>
        <p:nvSpPr>
          <p:cNvPr id="9" name="Rectangle 8">
            <a:extLst>
              <a:ext uri="{FF2B5EF4-FFF2-40B4-BE49-F238E27FC236}">
                <a16:creationId xmlns:a16="http://schemas.microsoft.com/office/drawing/2014/main" id="{BFC65C9F-D64C-40D5-B2BE-94B9B4599ED4}"/>
              </a:ext>
            </a:extLst>
          </p:cNvPr>
          <p:cNvSpPr>
            <a:spLocks noGrp="1"/>
          </p:cNvSpPr>
          <p:nvPr/>
        </p:nvSpPr>
        <p:spPr>
          <a:xfrm>
            <a:off x="3909060" y="1234440"/>
            <a:ext cx="1828800" cy="190500"/>
          </a:xfrm>
          <a:prstGeom prst="rect">
            <a:avLst/>
          </a:prstGeom>
          <a:noFill/>
          <a:ln w="0">
            <a:noFill/>
            <a:prstDash val="solid"/>
          </a:ln>
        </p:spPr>
        <p:txBody>
          <a:bodyPr anchor="t">
            <a:noAutofit/>
          </a:bodyPr>
          <a:lstStyle/>
          <a:p>
            <a:pPr algn="l">
              <a:lnSpc>
                <a:spcPct val="108000"/>
              </a:lnSpc>
              <a:buNone/>
              <a:defRPr sz="1050" b="1" i="0">
                <a:solidFill>
                  <a:srgbClr val="9552D0"/>
                </a:solidFill>
                <a:latin typeface="Aptos"/>
                <a:ea typeface="Aptos"/>
                <a:cs typeface="Aptos"/>
              </a:defRPr>
            </a:pPr>
            <a:r>
              <a:rPr sz="840" b="1">
                <a:solidFill>
                  <a:srgbClr val="9552D0"/>
                </a:solidFill>
                <a:latin typeface="Aptos"/>
                <a:ea typeface="Aptos"/>
                <a:cs typeface="Aptos"/>
              </a:rPr>
              <a:t>DATA PROCESSING</a:t>
            </a:r>
          </a:p>
        </p:txBody>
      </p:sp>
      <p:sp>
        <p:nvSpPr>
          <p:cNvPr id="10" name="Straight Connector 9">
            <a:extLst>
              <a:ext uri="{FF2B5EF4-FFF2-40B4-BE49-F238E27FC236}">
                <a16:creationId xmlns:a16="http://schemas.microsoft.com/office/drawing/2014/main" id="{24110F25-A4EE-46A7-8CA8-CB37A78A54B5}"/>
              </a:ext>
            </a:extLst>
          </p:cNvPr>
          <p:cNvSpPr>
            <a:spLocks noGrp="1"/>
          </p:cNvSpPr>
          <p:nvPr/>
        </p:nvSpPr>
        <p:spPr>
          <a:xfrm>
            <a:off x="8267700" y="1379220"/>
            <a:ext cx="723900" cy="0"/>
          </a:xfrm>
          <a:prstGeom prst="line">
            <a:avLst/>
          </a:prstGeom>
          <a:noFill/>
          <a:ln w="14288">
            <a:solidFill>
              <a:srgbClr val="B9B9B9"/>
            </a:solidFill>
            <a:prstDash val="solid"/>
          </a:ln>
        </p:spPr>
        <p:txBody>
          <a:bodyPr/>
          <a:lstStyle/>
          <a:p>
            <a:endParaRPr lang="en-US" sz="1440"/>
          </a:p>
        </p:txBody>
      </p:sp>
      <p:sp>
        <p:nvSpPr>
          <p:cNvPr id="11" name="Oval 10">
            <a:extLst>
              <a:ext uri="{FF2B5EF4-FFF2-40B4-BE49-F238E27FC236}">
                <a16:creationId xmlns:a16="http://schemas.microsoft.com/office/drawing/2014/main" id="{BA3854C2-B7B1-42A3-A279-6DA9E3F3D2CE}"/>
              </a:ext>
            </a:extLst>
          </p:cNvPr>
          <p:cNvSpPr>
            <a:spLocks noGrp="1"/>
          </p:cNvSpPr>
          <p:nvPr/>
        </p:nvSpPr>
        <p:spPr>
          <a:xfrm>
            <a:off x="6286500" y="1203960"/>
            <a:ext cx="350520" cy="350520"/>
          </a:xfrm>
          <a:prstGeom prst="ellipse">
            <a:avLst/>
          </a:prstGeom>
          <a:solidFill>
            <a:srgbClr val="FFFFFF"/>
          </a:solidFill>
          <a:ln w="14288">
            <a:solidFill>
              <a:srgbClr val="00A870"/>
            </a:solidFill>
            <a:prstDash val="solid"/>
          </a:ln>
        </p:spPr>
        <p:txBody>
          <a:bodyPr anchor="ctr"/>
          <a:lstStyle/>
          <a:p>
            <a:pPr algn="ctr">
              <a:defRPr sz="1200" b="1">
                <a:solidFill>
                  <a:srgbClr val="00A870"/>
                </a:solidFill>
              </a:defRPr>
            </a:pPr>
            <a:r>
              <a:rPr sz="960" b="1">
                <a:solidFill>
                  <a:srgbClr val="00A870"/>
                </a:solidFill>
              </a:rPr>
              <a:t>3</a:t>
            </a:r>
          </a:p>
        </p:txBody>
      </p:sp>
      <p:sp>
        <p:nvSpPr>
          <p:cNvPr id="12" name="Rectangle 11">
            <a:extLst>
              <a:ext uri="{FF2B5EF4-FFF2-40B4-BE49-F238E27FC236}">
                <a16:creationId xmlns:a16="http://schemas.microsoft.com/office/drawing/2014/main" id="{57A3BFCB-DBC3-4289-943A-609073F9AFF8}"/>
              </a:ext>
            </a:extLst>
          </p:cNvPr>
          <p:cNvSpPr>
            <a:spLocks noGrp="1"/>
          </p:cNvSpPr>
          <p:nvPr/>
        </p:nvSpPr>
        <p:spPr>
          <a:xfrm>
            <a:off x="6728460" y="1234440"/>
            <a:ext cx="1828800" cy="190500"/>
          </a:xfrm>
          <a:prstGeom prst="rect">
            <a:avLst/>
          </a:prstGeom>
          <a:noFill/>
          <a:ln w="0">
            <a:noFill/>
            <a:prstDash val="solid"/>
          </a:ln>
        </p:spPr>
        <p:txBody>
          <a:bodyPr anchor="t">
            <a:noAutofit/>
          </a:bodyPr>
          <a:lstStyle/>
          <a:p>
            <a:pPr algn="l">
              <a:lnSpc>
                <a:spcPct val="108000"/>
              </a:lnSpc>
              <a:buNone/>
              <a:defRPr sz="1050" b="1" i="0">
                <a:solidFill>
                  <a:srgbClr val="777777"/>
                </a:solidFill>
                <a:latin typeface="Aptos"/>
                <a:ea typeface="Aptos"/>
                <a:cs typeface="Aptos"/>
              </a:defRPr>
            </a:pPr>
            <a:r>
              <a:rPr sz="840" b="1">
                <a:solidFill>
                  <a:srgbClr val="777777"/>
                </a:solidFill>
                <a:latin typeface="Aptos"/>
                <a:ea typeface="Aptos"/>
                <a:cs typeface="Aptos"/>
              </a:rPr>
              <a:t>DATA MODELLING</a:t>
            </a:r>
          </a:p>
        </p:txBody>
      </p:sp>
      <p:sp>
        <p:nvSpPr>
          <p:cNvPr id="13" name="Oval 12">
            <a:extLst>
              <a:ext uri="{FF2B5EF4-FFF2-40B4-BE49-F238E27FC236}">
                <a16:creationId xmlns:a16="http://schemas.microsoft.com/office/drawing/2014/main" id="{BDA99053-2FAB-4872-B1AB-9BB79BDFDB1F}"/>
              </a:ext>
            </a:extLst>
          </p:cNvPr>
          <p:cNvSpPr>
            <a:spLocks noGrp="1"/>
          </p:cNvSpPr>
          <p:nvPr/>
        </p:nvSpPr>
        <p:spPr>
          <a:xfrm>
            <a:off x="9105900" y="1203960"/>
            <a:ext cx="350520" cy="350520"/>
          </a:xfrm>
          <a:prstGeom prst="ellipse">
            <a:avLst/>
          </a:prstGeom>
          <a:solidFill>
            <a:srgbClr val="FFFFFF"/>
          </a:solidFill>
          <a:ln w="14288">
            <a:solidFill>
              <a:srgbClr val="EF7D00"/>
            </a:solidFill>
            <a:prstDash val="solid"/>
          </a:ln>
        </p:spPr>
        <p:txBody>
          <a:bodyPr anchor="ctr"/>
          <a:lstStyle/>
          <a:p>
            <a:pPr algn="ctr">
              <a:defRPr sz="1200" b="1">
                <a:solidFill>
                  <a:srgbClr val="EF7D00"/>
                </a:solidFill>
              </a:defRPr>
            </a:pPr>
            <a:r>
              <a:rPr sz="960" b="1">
                <a:solidFill>
                  <a:srgbClr val="EF7D00"/>
                </a:solidFill>
              </a:rPr>
              <a:t>4</a:t>
            </a:r>
          </a:p>
        </p:txBody>
      </p:sp>
      <p:sp>
        <p:nvSpPr>
          <p:cNvPr id="14" name="Rectangle 13">
            <a:extLst>
              <a:ext uri="{FF2B5EF4-FFF2-40B4-BE49-F238E27FC236}">
                <a16:creationId xmlns:a16="http://schemas.microsoft.com/office/drawing/2014/main" id="{89EB067C-D4B4-4F24-A88D-EC5561BAE8D5}"/>
              </a:ext>
            </a:extLst>
          </p:cNvPr>
          <p:cNvSpPr>
            <a:spLocks noGrp="1"/>
          </p:cNvSpPr>
          <p:nvPr/>
        </p:nvSpPr>
        <p:spPr>
          <a:xfrm>
            <a:off x="9547860" y="1234440"/>
            <a:ext cx="1828800" cy="190500"/>
          </a:xfrm>
          <a:prstGeom prst="rect">
            <a:avLst/>
          </a:prstGeom>
          <a:noFill/>
          <a:ln w="0">
            <a:noFill/>
            <a:prstDash val="solid"/>
          </a:ln>
        </p:spPr>
        <p:txBody>
          <a:bodyPr anchor="t">
            <a:noAutofit/>
          </a:bodyPr>
          <a:lstStyle/>
          <a:p>
            <a:pPr algn="l">
              <a:lnSpc>
                <a:spcPct val="108000"/>
              </a:lnSpc>
              <a:buNone/>
              <a:defRPr sz="1050" b="1" i="0">
                <a:solidFill>
                  <a:srgbClr val="777777"/>
                </a:solidFill>
                <a:latin typeface="Aptos"/>
                <a:ea typeface="Aptos"/>
                <a:cs typeface="Aptos"/>
              </a:defRPr>
            </a:pPr>
            <a:r>
              <a:rPr sz="840" b="1">
                <a:solidFill>
                  <a:srgbClr val="777777"/>
                </a:solidFill>
                <a:latin typeface="Aptos"/>
                <a:ea typeface="Aptos"/>
                <a:cs typeface="Aptos"/>
              </a:rPr>
              <a:t>BUSINESS INFRASTRUCTURE</a:t>
            </a:r>
          </a:p>
        </p:txBody>
      </p:sp>
      <p:sp>
        <p:nvSpPr>
          <p:cNvPr id="15" name="Rounded Rectangle 14">
            <a:extLst>
              <a:ext uri="{FF2B5EF4-FFF2-40B4-BE49-F238E27FC236}">
                <a16:creationId xmlns:a16="http://schemas.microsoft.com/office/drawing/2014/main" id="{B4DCBC78-713C-4843-AA62-038EF2DA942A}"/>
              </a:ext>
            </a:extLst>
          </p:cNvPr>
          <p:cNvSpPr>
            <a:spLocks noGrp="1"/>
          </p:cNvSpPr>
          <p:nvPr/>
        </p:nvSpPr>
        <p:spPr>
          <a:xfrm>
            <a:off x="685800" y="1905000"/>
            <a:ext cx="2514600" cy="883920"/>
          </a:xfrm>
          <a:prstGeom prst="roundRect">
            <a:avLst>
              <a:gd name="adj" fmla="val 12069"/>
            </a:avLst>
          </a:prstGeom>
          <a:solidFill>
            <a:srgbClr val="F5EEFC"/>
          </a:solidFill>
          <a:ln w="15240">
            <a:solidFill>
              <a:srgbClr val="9552D0"/>
            </a:solidFill>
            <a:prstDash val="solid"/>
          </a:ln>
        </p:spPr>
        <p:txBody>
          <a:bodyPr/>
          <a:lstStyle/>
          <a:p>
            <a:endParaRPr lang="en-US" sz="1440"/>
          </a:p>
        </p:txBody>
      </p:sp>
      <p:sp>
        <p:nvSpPr>
          <p:cNvPr id="16" name="Rectangle 15">
            <a:extLst>
              <a:ext uri="{FF2B5EF4-FFF2-40B4-BE49-F238E27FC236}">
                <a16:creationId xmlns:a16="http://schemas.microsoft.com/office/drawing/2014/main" id="{4009F172-FAEB-4E30-85FC-2E00528812DA}"/>
              </a:ext>
            </a:extLst>
          </p:cNvPr>
          <p:cNvSpPr>
            <a:spLocks noGrp="1"/>
          </p:cNvSpPr>
          <p:nvPr/>
        </p:nvSpPr>
        <p:spPr>
          <a:xfrm>
            <a:off x="777240" y="2011680"/>
            <a:ext cx="2331720" cy="358140"/>
          </a:xfrm>
          <a:prstGeom prst="rect">
            <a:avLst/>
          </a:prstGeom>
          <a:noFill/>
          <a:ln w="0">
            <a:noFill/>
            <a:prstDash val="solid"/>
          </a:ln>
        </p:spPr>
        <p:txBody>
          <a:bodyPr anchor="t">
            <a:normAutofit fontScale="89951" lnSpcReduction="20000"/>
          </a:bodyPr>
          <a:lstStyle/>
          <a:p>
            <a:pPr algn="ctr">
              <a:lnSpc>
                <a:spcPct val="108000"/>
              </a:lnSpc>
              <a:buNone/>
              <a:defRPr sz="2625" b="1" i="0">
                <a:solidFill>
                  <a:srgbClr val="9552D0"/>
                </a:solidFill>
                <a:latin typeface="Georgia"/>
                <a:ea typeface="Georgia"/>
                <a:cs typeface="Georgia"/>
              </a:defRPr>
            </a:pPr>
            <a:r>
              <a:rPr sz="2100" b="1">
                <a:solidFill>
                  <a:srgbClr val="9552D0"/>
                </a:solidFill>
                <a:latin typeface="Georgia"/>
                <a:ea typeface="Georgia"/>
                <a:cs typeface="Georgia"/>
              </a:rPr>
              <a:t>432.9M</a:t>
            </a:r>
          </a:p>
        </p:txBody>
      </p:sp>
      <p:sp>
        <p:nvSpPr>
          <p:cNvPr id="17" name="Rectangle 16">
            <a:extLst>
              <a:ext uri="{FF2B5EF4-FFF2-40B4-BE49-F238E27FC236}">
                <a16:creationId xmlns:a16="http://schemas.microsoft.com/office/drawing/2014/main" id="{F2F015C0-5D31-4B47-B121-296816E359F0}"/>
              </a:ext>
            </a:extLst>
          </p:cNvPr>
          <p:cNvSpPr>
            <a:spLocks noGrp="1"/>
          </p:cNvSpPr>
          <p:nvPr/>
        </p:nvSpPr>
        <p:spPr>
          <a:xfrm>
            <a:off x="822960" y="2423160"/>
            <a:ext cx="2240280" cy="259080"/>
          </a:xfrm>
          <a:prstGeom prst="rect">
            <a:avLst/>
          </a:prstGeom>
          <a:noFill/>
          <a:ln w="0">
            <a:noFill/>
            <a:prstDash val="solid"/>
          </a:ln>
        </p:spPr>
        <p:txBody>
          <a:bodyPr anchor="ctr">
            <a:normAutofit/>
          </a:bodyPr>
          <a:lstStyle/>
          <a:p>
            <a:pPr algn="ctr">
              <a:lnSpc>
                <a:spcPct val="108000"/>
              </a:lnSpc>
              <a:buNone/>
              <a:defRPr sz="1125" b="0" i="0">
                <a:solidFill>
                  <a:srgbClr val="5A5A5A"/>
                </a:solidFill>
                <a:latin typeface="Aptos"/>
                <a:ea typeface="Aptos"/>
                <a:cs typeface="Aptos"/>
              </a:defRPr>
            </a:pPr>
            <a:r>
              <a:rPr sz="900">
                <a:solidFill>
                  <a:srgbClr val="5A5A5A"/>
                </a:solidFill>
                <a:latin typeface="Aptos"/>
                <a:ea typeface="Aptos"/>
                <a:cs typeface="Aptos"/>
              </a:rPr>
              <a:t>chartevents rows</a:t>
            </a:r>
          </a:p>
        </p:txBody>
      </p:sp>
      <p:sp>
        <p:nvSpPr>
          <p:cNvPr id="18" name="Rounded Rectangle 17">
            <a:extLst>
              <a:ext uri="{FF2B5EF4-FFF2-40B4-BE49-F238E27FC236}">
                <a16:creationId xmlns:a16="http://schemas.microsoft.com/office/drawing/2014/main" id="{20C1460C-351A-4C9D-8029-503EFA1AF424}"/>
              </a:ext>
            </a:extLst>
          </p:cNvPr>
          <p:cNvSpPr>
            <a:spLocks noGrp="1"/>
          </p:cNvSpPr>
          <p:nvPr/>
        </p:nvSpPr>
        <p:spPr>
          <a:xfrm>
            <a:off x="3543300" y="1905000"/>
            <a:ext cx="2514600" cy="883920"/>
          </a:xfrm>
          <a:prstGeom prst="roundRect">
            <a:avLst>
              <a:gd name="adj" fmla="val 12069"/>
            </a:avLst>
          </a:prstGeom>
          <a:solidFill>
            <a:srgbClr val="F5EEFC"/>
          </a:solidFill>
          <a:ln w="15240">
            <a:solidFill>
              <a:srgbClr val="9552D0"/>
            </a:solidFill>
            <a:prstDash val="solid"/>
          </a:ln>
        </p:spPr>
        <p:txBody>
          <a:bodyPr/>
          <a:lstStyle/>
          <a:p>
            <a:endParaRPr lang="en-US" sz="1440"/>
          </a:p>
        </p:txBody>
      </p:sp>
      <p:sp>
        <p:nvSpPr>
          <p:cNvPr id="19" name="Rectangle 18">
            <a:extLst>
              <a:ext uri="{FF2B5EF4-FFF2-40B4-BE49-F238E27FC236}">
                <a16:creationId xmlns:a16="http://schemas.microsoft.com/office/drawing/2014/main" id="{55B8204D-CEF8-451A-88F7-F5BFAF875388}"/>
              </a:ext>
            </a:extLst>
          </p:cNvPr>
          <p:cNvSpPr>
            <a:spLocks noGrp="1"/>
          </p:cNvSpPr>
          <p:nvPr/>
        </p:nvSpPr>
        <p:spPr>
          <a:xfrm>
            <a:off x="3634740" y="2011680"/>
            <a:ext cx="2331720" cy="358140"/>
          </a:xfrm>
          <a:prstGeom prst="rect">
            <a:avLst/>
          </a:prstGeom>
          <a:noFill/>
          <a:ln w="0">
            <a:noFill/>
            <a:prstDash val="solid"/>
          </a:ln>
        </p:spPr>
        <p:txBody>
          <a:bodyPr anchor="t">
            <a:normAutofit fontScale="89951" lnSpcReduction="20000"/>
          </a:bodyPr>
          <a:lstStyle/>
          <a:p>
            <a:pPr algn="ctr">
              <a:lnSpc>
                <a:spcPct val="108000"/>
              </a:lnSpc>
              <a:buNone/>
              <a:defRPr sz="2625" b="1" i="0">
                <a:solidFill>
                  <a:srgbClr val="9552D0"/>
                </a:solidFill>
                <a:latin typeface="Georgia"/>
                <a:ea typeface="Georgia"/>
                <a:cs typeface="Georgia"/>
              </a:defRPr>
            </a:pPr>
            <a:r>
              <a:rPr sz="2100" b="1">
                <a:solidFill>
                  <a:srgbClr val="9552D0"/>
                </a:solidFill>
                <a:latin typeface="Georgia"/>
                <a:ea typeface="Georgia"/>
                <a:cs typeface="Georgia"/>
              </a:rPr>
              <a:t>158.4M</a:t>
            </a:r>
          </a:p>
        </p:txBody>
      </p:sp>
      <p:sp>
        <p:nvSpPr>
          <p:cNvPr id="20" name="Rectangle 19">
            <a:extLst>
              <a:ext uri="{FF2B5EF4-FFF2-40B4-BE49-F238E27FC236}">
                <a16:creationId xmlns:a16="http://schemas.microsoft.com/office/drawing/2014/main" id="{E74656B5-7546-4E09-889A-1FE49A48EBDF}"/>
              </a:ext>
            </a:extLst>
          </p:cNvPr>
          <p:cNvSpPr>
            <a:spLocks noGrp="1"/>
          </p:cNvSpPr>
          <p:nvPr/>
        </p:nvSpPr>
        <p:spPr>
          <a:xfrm>
            <a:off x="3680460" y="2423160"/>
            <a:ext cx="2240280" cy="259080"/>
          </a:xfrm>
          <a:prstGeom prst="rect">
            <a:avLst/>
          </a:prstGeom>
          <a:noFill/>
          <a:ln w="0">
            <a:noFill/>
            <a:prstDash val="solid"/>
          </a:ln>
        </p:spPr>
        <p:txBody>
          <a:bodyPr anchor="ctr">
            <a:normAutofit/>
          </a:bodyPr>
          <a:lstStyle/>
          <a:p>
            <a:pPr algn="ctr">
              <a:lnSpc>
                <a:spcPct val="108000"/>
              </a:lnSpc>
              <a:buNone/>
              <a:defRPr sz="1125" b="0" i="0">
                <a:solidFill>
                  <a:srgbClr val="5A5A5A"/>
                </a:solidFill>
                <a:latin typeface="Aptos"/>
                <a:ea typeface="Aptos"/>
                <a:cs typeface="Aptos"/>
              </a:defRPr>
            </a:pPr>
            <a:r>
              <a:rPr sz="900">
                <a:solidFill>
                  <a:srgbClr val="5A5A5A"/>
                </a:solidFill>
                <a:latin typeface="Aptos"/>
                <a:ea typeface="Aptos"/>
                <a:cs typeface="Aptos"/>
              </a:rPr>
              <a:t>labevents rows</a:t>
            </a:r>
          </a:p>
        </p:txBody>
      </p:sp>
      <p:sp>
        <p:nvSpPr>
          <p:cNvPr id="21" name="Rounded Rectangle 20">
            <a:extLst>
              <a:ext uri="{FF2B5EF4-FFF2-40B4-BE49-F238E27FC236}">
                <a16:creationId xmlns:a16="http://schemas.microsoft.com/office/drawing/2014/main" id="{C8EBB023-6573-4485-8BC3-176B6339B429}"/>
              </a:ext>
            </a:extLst>
          </p:cNvPr>
          <p:cNvSpPr>
            <a:spLocks noGrp="1"/>
          </p:cNvSpPr>
          <p:nvPr/>
        </p:nvSpPr>
        <p:spPr>
          <a:xfrm>
            <a:off x="6400800" y="1905000"/>
            <a:ext cx="2514600" cy="883920"/>
          </a:xfrm>
          <a:prstGeom prst="roundRect">
            <a:avLst>
              <a:gd name="adj" fmla="val 12069"/>
            </a:avLst>
          </a:prstGeom>
          <a:solidFill>
            <a:srgbClr val="EAF8F2"/>
          </a:solidFill>
          <a:ln w="15240">
            <a:solidFill>
              <a:srgbClr val="00A870"/>
            </a:solidFill>
            <a:prstDash val="solid"/>
          </a:ln>
        </p:spPr>
        <p:txBody>
          <a:bodyPr/>
          <a:lstStyle/>
          <a:p>
            <a:endParaRPr lang="en-US" sz="1440"/>
          </a:p>
        </p:txBody>
      </p:sp>
      <p:sp>
        <p:nvSpPr>
          <p:cNvPr id="22" name="Rectangle 21">
            <a:extLst>
              <a:ext uri="{FF2B5EF4-FFF2-40B4-BE49-F238E27FC236}">
                <a16:creationId xmlns:a16="http://schemas.microsoft.com/office/drawing/2014/main" id="{AB5D2469-A7F4-4A31-BB3A-1F5DFB944B47}"/>
              </a:ext>
            </a:extLst>
          </p:cNvPr>
          <p:cNvSpPr>
            <a:spLocks noGrp="1"/>
          </p:cNvSpPr>
          <p:nvPr/>
        </p:nvSpPr>
        <p:spPr>
          <a:xfrm>
            <a:off x="6492240" y="2011680"/>
            <a:ext cx="2331720" cy="358140"/>
          </a:xfrm>
          <a:prstGeom prst="rect">
            <a:avLst/>
          </a:prstGeom>
          <a:noFill/>
          <a:ln w="0">
            <a:noFill/>
            <a:prstDash val="solid"/>
          </a:ln>
        </p:spPr>
        <p:txBody>
          <a:bodyPr anchor="t">
            <a:normAutofit fontScale="89951" lnSpcReduction="20000"/>
          </a:bodyPr>
          <a:lstStyle/>
          <a:p>
            <a:pPr algn="ctr">
              <a:lnSpc>
                <a:spcPct val="108000"/>
              </a:lnSpc>
              <a:buNone/>
              <a:defRPr sz="2625" b="1" i="0">
                <a:solidFill>
                  <a:srgbClr val="00A870"/>
                </a:solidFill>
                <a:latin typeface="Georgia"/>
                <a:ea typeface="Georgia"/>
                <a:cs typeface="Georgia"/>
              </a:defRPr>
            </a:pPr>
            <a:r>
              <a:rPr sz="2100" b="1">
                <a:solidFill>
                  <a:srgbClr val="00A870"/>
                </a:solidFill>
                <a:latin typeface="Georgia"/>
                <a:ea typeface="Georgia"/>
                <a:cs typeface="Georgia"/>
              </a:rPr>
              <a:t>All tables</a:t>
            </a:r>
          </a:p>
        </p:txBody>
      </p:sp>
      <p:sp>
        <p:nvSpPr>
          <p:cNvPr id="23" name="Rectangle 22">
            <a:extLst>
              <a:ext uri="{FF2B5EF4-FFF2-40B4-BE49-F238E27FC236}">
                <a16:creationId xmlns:a16="http://schemas.microsoft.com/office/drawing/2014/main" id="{FF23420C-B801-4E49-A7EC-670BEA5A0726}"/>
              </a:ext>
            </a:extLst>
          </p:cNvPr>
          <p:cNvSpPr>
            <a:spLocks noGrp="1"/>
          </p:cNvSpPr>
          <p:nvPr/>
        </p:nvSpPr>
        <p:spPr>
          <a:xfrm>
            <a:off x="6537960" y="2423160"/>
            <a:ext cx="2240280" cy="259080"/>
          </a:xfrm>
          <a:prstGeom prst="rect">
            <a:avLst/>
          </a:prstGeom>
          <a:noFill/>
          <a:ln w="0">
            <a:noFill/>
            <a:prstDash val="solid"/>
          </a:ln>
        </p:spPr>
        <p:txBody>
          <a:bodyPr anchor="ctr">
            <a:normAutofit/>
          </a:bodyPr>
          <a:lstStyle/>
          <a:p>
            <a:pPr algn="ctr">
              <a:lnSpc>
                <a:spcPct val="108000"/>
              </a:lnSpc>
              <a:buNone/>
              <a:defRPr sz="1125" b="0" i="0">
                <a:solidFill>
                  <a:srgbClr val="5A5A5A"/>
                </a:solidFill>
                <a:latin typeface="Aptos"/>
                <a:ea typeface="Aptos"/>
                <a:cs typeface="Aptos"/>
              </a:defRPr>
            </a:pPr>
            <a:r>
              <a:rPr sz="900">
                <a:solidFill>
                  <a:srgbClr val="5A5A5A"/>
                </a:solidFill>
                <a:latin typeface="Aptos"/>
                <a:ea typeface="Aptos"/>
                <a:cs typeface="Aptos"/>
              </a:rPr>
              <a:t>row counts checked against v3.1</a:t>
            </a:r>
          </a:p>
        </p:txBody>
      </p:sp>
      <p:sp>
        <p:nvSpPr>
          <p:cNvPr id="24" name="Rounded Rectangle 23">
            <a:extLst>
              <a:ext uri="{FF2B5EF4-FFF2-40B4-BE49-F238E27FC236}">
                <a16:creationId xmlns:a16="http://schemas.microsoft.com/office/drawing/2014/main" id="{7F08E37F-6F16-4EB3-AC2B-D72ABB32BE13}"/>
              </a:ext>
            </a:extLst>
          </p:cNvPr>
          <p:cNvSpPr>
            <a:spLocks noGrp="1"/>
          </p:cNvSpPr>
          <p:nvPr/>
        </p:nvSpPr>
        <p:spPr>
          <a:xfrm>
            <a:off x="9258300" y="1905000"/>
            <a:ext cx="2286000" cy="883920"/>
          </a:xfrm>
          <a:prstGeom prst="roundRect">
            <a:avLst>
              <a:gd name="adj" fmla="val 12069"/>
            </a:avLst>
          </a:prstGeom>
          <a:solidFill>
            <a:srgbClr val="EAF8F2"/>
          </a:solidFill>
          <a:ln w="15240">
            <a:solidFill>
              <a:srgbClr val="00A870"/>
            </a:solidFill>
            <a:prstDash val="solid"/>
          </a:ln>
        </p:spPr>
        <p:txBody>
          <a:bodyPr/>
          <a:lstStyle/>
          <a:p>
            <a:endParaRPr lang="en-US" sz="1440"/>
          </a:p>
        </p:txBody>
      </p:sp>
      <p:sp>
        <p:nvSpPr>
          <p:cNvPr id="25" name="Rectangle 24">
            <a:extLst>
              <a:ext uri="{FF2B5EF4-FFF2-40B4-BE49-F238E27FC236}">
                <a16:creationId xmlns:a16="http://schemas.microsoft.com/office/drawing/2014/main" id="{85B97CBE-3A75-4AB4-88EC-BB7DC8F9C1BA}"/>
              </a:ext>
            </a:extLst>
          </p:cNvPr>
          <p:cNvSpPr>
            <a:spLocks noGrp="1"/>
          </p:cNvSpPr>
          <p:nvPr/>
        </p:nvSpPr>
        <p:spPr>
          <a:xfrm>
            <a:off x="9349740" y="2011680"/>
            <a:ext cx="2103120" cy="358140"/>
          </a:xfrm>
          <a:prstGeom prst="rect">
            <a:avLst/>
          </a:prstGeom>
          <a:noFill/>
          <a:ln w="0">
            <a:noFill/>
            <a:prstDash val="solid"/>
          </a:ln>
        </p:spPr>
        <p:txBody>
          <a:bodyPr anchor="t">
            <a:normAutofit fontScale="89951" lnSpcReduction="20000"/>
          </a:bodyPr>
          <a:lstStyle/>
          <a:p>
            <a:pPr algn="ctr">
              <a:lnSpc>
                <a:spcPct val="108000"/>
              </a:lnSpc>
              <a:buNone/>
              <a:defRPr sz="2625" b="1" i="0">
                <a:solidFill>
                  <a:srgbClr val="00A870"/>
                </a:solidFill>
                <a:latin typeface="Georgia"/>
                <a:ea typeface="Georgia"/>
                <a:cs typeface="Georgia"/>
              </a:defRPr>
            </a:pPr>
            <a:r>
              <a:rPr sz="2100" b="1">
                <a:solidFill>
                  <a:srgbClr val="00A870"/>
                </a:solidFill>
                <a:latin typeface="Georgia"/>
                <a:ea typeface="Georgia"/>
                <a:cs typeface="Georgia"/>
              </a:rPr>
              <a:t>PASS</a:t>
            </a:r>
          </a:p>
        </p:txBody>
      </p:sp>
      <p:sp>
        <p:nvSpPr>
          <p:cNvPr id="26" name="Rectangle 25">
            <a:extLst>
              <a:ext uri="{FF2B5EF4-FFF2-40B4-BE49-F238E27FC236}">
                <a16:creationId xmlns:a16="http://schemas.microsoft.com/office/drawing/2014/main" id="{C0CA549B-1C13-41AA-851D-6A04250359B5}"/>
              </a:ext>
            </a:extLst>
          </p:cNvPr>
          <p:cNvSpPr>
            <a:spLocks noGrp="1"/>
          </p:cNvSpPr>
          <p:nvPr/>
        </p:nvSpPr>
        <p:spPr>
          <a:xfrm>
            <a:off x="9395460" y="2423160"/>
            <a:ext cx="2011680" cy="259080"/>
          </a:xfrm>
          <a:prstGeom prst="rect">
            <a:avLst/>
          </a:prstGeom>
          <a:noFill/>
          <a:ln w="0">
            <a:noFill/>
            <a:prstDash val="solid"/>
          </a:ln>
        </p:spPr>
        <p:txBody>
          <a:bodyPr anchor="ctr">
            <a:normAutofit/>
          </a:bodyPr>
          <a:lstStyle/>
          <a:p>
            <a:pPr algn="ctr">
              <a:lnSpc>
                <a:spcPct val="108000"/>
              </a:lnSpc>
              <a:buNone/>
              <a:defRPr sz="1125" b="0" i="0">
                <a:solidFill>
                  <a:srgbClr val="5A5A5A"/>
                </a:solidFill>
                <a:latin typeface="Aptos"/>
                <a:ea typeface="Aptos"/>
                <a:cs typeface="Aptos"/>
              </a:defRPr>
            </a:pPr>
            <a:r>
              <a:rPr sz="900">
                <a:solidFill>
                  <a:srgbClr val="5A5A5A"/>
                </a:solidFill>
                <a:latin typeface="Aptos"/>
                <a:ea typeface="Aptos"/>
                <a:cs typeface="Aptos"/>
              </a:rPr>
              <a:t>demo and full-database validation</a:t>
            </a:r>
          </a:p>
        </p:txBody>
      </p:sp>
      <p:sp>
        <p:nvSpPr>
          <p:cNvPr id="27" name="Straight Connector 26">
            <a:extLst>
              <a:ext uri="{FF2B5EF4-FFF2-40B4-BE49-F238E27FC236}">
                <a16:creationId xmlns:a16="http://schemas.microsoft.com/office/drawing/2014/main" id="{07788E2E-84F3-4A5A-B7D8-1AE19DD17FED}"/>
              </a:ext>
            </a:extLst>
          </p:cNvPr>
          <p:cNvSpPr>
            <a:spLocks noGrp="1"/>
          </p:cNvSpPr>
          <p:nvPr/>
        </p:nvSpPr>
        <p:spPr>
          <a:xfrm>
            <a:off x="1409700" y="3886200"/>
            <a:ext cx="9334500" cy="0"/>
          </a:xfrm>
          <a:prstGeom prst="line">
            <a:avLst/>
          </a:prstGeom>
          <a:noFill/>
          <a:ln w="19050">
            <a:solidFill>
              <a:srgbClr val="B9B9B9"/>
            </a:solidFill>
            <a:prstDash val="solid"/>
          </a:ln>
        </p:spPr>
        <p:txBody>
          <a:bodyPr/>
          <a:lstStyle/>
          <a:p>
            <a:endParaRPr lang="en-US" sz="1440"/>
          </a:p>
        </p:txBody>
      </p:sp>
      <p:sp>
        <p:nvSpPr>
          <p:cNvPr id="28" name="Oval 27">
            <a:extLst>
              <a:ext uri="{FF2B5EF4-FFF2-40B4-BE49-F238E27FC236}">
                <a16:creationId xmlns:a16="http://schemas.microsoft.com/office/drawing/2014/main" id="{DCA131A3-A993-46CF-95A6-CECF5E69FBA1}"/>
              </a:ext>
            </a:extLst>
          </p:cNvPr>
          <p:cNvSpPr>
            <a:spLocks noGrp="1"/>
          </p:cNvSpPr>
          <p:nvPr/>
        </p:nvSpPr>
        <p:spPr>
          <a:xfrm>
            <a:off x="800100" y="3581400"/>
            <a:ext cx="609600" cy="609600"/>
          </a:xfrm>
          <a:prstGeom prst="ellipse">
            <a:avLst/>
          </a:prstGeom>
          <a:solidFill>
            <a:srgbClr val="F5EEFC"/>
          </a:solidFill>
          <a:ln w="14288">
            <a:solidFill>
              <a:srgbClr val="9552D0"/>
            </a:solidFill>
            <a:prstDash val="solid"/>
          </a:ln>
        </p:spPr>
        <p:txBody>
          <a:bodyPr anchor="ctr"/>
          <a:lstStyle/>
          <a:p>
            <a:pPr algn="ctr">
              <a:defRPr sz="1650" b="1">
                <a:solidFill>
                  <a:srgbClr val="9552D0"/>
                </a:solidFill>
              </a:defRPr>
            </a:pPr>
            <a:r>
              <a:rPr sz="1320" b="1">
                <a:solidFill>
                  <a:srgbClr val="9552D0"/>
                </a:solidFill>
              </a:rPr>
              <a:t>1</a:t>
            </a:r>
          </a:p>
        </p:txBody>
      </p:sp>
      <p:sp>
        <p:nvSpPr>
          <p:cNvPr id="29" name="Rectangle 28">
            <a:extLst>
              <a:ext uri="{FF2B5EF4-FFF2-40B4-BE49-F238E27FC236}">
                <a16:creationId xmlns:a16="http://schemas.microsoft.com/office/drawing/2014/main" id="{9FE700EF-6F1F-4361-8817-8CD876931C72}"/>
              </a:ext>
            </a:extLst>
          </p:cNvPr>
          <p:cNvSpPr>
            <a:spLocks noGrp="1"/>
          </p:cNvSpPr>
          <p:nvPr/>
        </p:nvSpPr>
        <p:spPr>
          <a:xfrm>
            <a:off x="571500" y="4343400"/>
            <a:ext cx="1066800" cy="320040"/>
          </a:xfrm>
          <a:prstGeom prst="rect">
            <a:avLst/>
          </a:prstGeom>
          <a:noFill/>
          <a:ln w="0">
            <a:noFill/>
            <a:prstDash val="solid"/>
          </a:ln>
        </p:spPr>
        <p:txBody>
          <a:bodyPr anchor="t">
            <a:normAutofit fontScale="86286"/>
          </a:bodyPr>
          <a:lstStyle/>
          <a:p>
            <a:pPr algn="ctr">
              <a:lnSpc>
                <a:spcPct val="108000"/>
              </a:lnSpc>
              <a:buNone/>
              <a:defRPr sz="1350" b="1" i="0">
                <a:solidFill>
                  <a:srgbClr val="111111"/>
                </a:solidFill>
                <a:latin typeface="Aptos"/>
                <a:ea typeface="Aptos"/>
                <a:cs typeface="Aptos"/>
              </a:defRPr>
            </a:pPr>
            <a:r>
              <a:rPr sz="1080" b="1">
                <a:solidFill>
                  <a:srgbClr val="111111"/>
                </a:solidFill>
                <a:latin typeface="Aptos"/>
                <a:ea typeface="Aptos"/>
                <a:cs typeface="Aptos"/>
              </a:rPr>
              <a:t>Create schemas</a:t>
            </a:r>
          </a:p>
        </p:txBody>
      </p:sp>
      <p:sp>
        <p:nvSpPr>
          <p:cNvPr id="30" name="Oval 29">
            <a:extLst>
              <a:ext uri="{FF2B5EF4-FFF2-40B4-BE49-F238E27FC236}">
                <a16:creationId xmlns:a16="http://schemas.microsoft.com/office/drawing/2014/main" id="{60886F07-AA2B-405D-BAA2-CA66A9A87541}"/>
              </a:ext>
            </a:extLst>
          </p:cNvPr>
          <p:cNvSpPr>
            <a:spLocks noGrp="1"/>
          </p:cNvSpPr>
          <p:nvPr/>
        </p:nvSpPr>
        <p:spPr>
          <a:xfrm>
            <a:off x="3009900" y="3581400"/>
            <a:ext cx="609600" cy="609600"/>
          </a:xfrm>
          <a:prstGeom prst="ellipse">
            <a:avLst/>
          </a:prstGeom>
          <a:solidFill>
            <a:srgbClr val="F5EEFC"/>
          </a:solidFill>
          <a:ln w="14288">
            <a:solidFill>
              <a:srgbClr val="9552D0"/>
            </a:solidFill>
            <a:prstDash val="solid"/>
          </a:ln>
        </p:spPr>
        <p:txBody>
          <a:bodyPr anchor="ctr"/>
          <a:lstStyle/>
          <a:p>
            <a:pPr algn="ctr">
              <a:defRPr sz="1650" b="1">
                <a:solidFill>
                  <a:srgbClr val="9552D0"/>
                </a:solidFill>
              </a:defRPr>
            </a:pPr>
            <a:r>
              <a:rPr sz="1320" b="1">
                <a:solidFill>
                  <a:srgbClr val="9552D0"/>
                </a:solidFill>
              </a:rPr>
              <a:t>2</a:t>
            </a:r>
          </a:p>
        </p:txBody>
      </p:sp>
      <p:sp>
        <p:nvSpPr>
          <p:cNvPr id="31" name="Rectangle 30">
            <a:extLst>
              <a:ext uri="{FF2B5EF4-FFF2-40B4-BE49-F238E27FC236}">
                <a16:creationId xmlns:a16="http://schemas.microsoft.com/office/drawing/2014/main" id="{D7AF25CF-BDE7-49C7-8548-15A95FFA473F}"/>
              </a:ext>
            </a:extLst>
          </p:cNvPr>
          <p:cNvSpPr>
            <a:spLocks noGrp="1"/>
          </p:cNvSpPr>
          <p:nvPr/>
        </p:nvSpPr>
        <p:spPr>
          <a:xfrm>
            <a:off x="2781300" y="4343400"/>
            <a:ext cx="1066800" cy="320040"/>
          </a:xfrm>
          <a:prstGeom prst="rect">
            <a:avLst/>
          </a:prstGeom>
          <a:noFill/>
          <a:ln w="0">
            <a:noFill/>
            <a:prstDash val="solid"/>
          </a:ln>
        </p:spPr>
        <p:txBody>
          <a:bodyPr anchor="t">
            <a:normAutofit fontScale="80475" lnSpcReduction="10000"/>
          </a:bodyPr>
          <a:lstStyle/>
          <a:p>
            <a:pPr algn="ctr">
              <a:lnSpc>
                <a:spcPct val="108000"/>
              </a:lnSpc>
              <a:buNone/>
              <a:defRPr sz="1350" b="1" i="0">
                <a:solidFill>
                  <a:srgbClr val="111111"/>
                </a:solidFill>
                <a:latin typeface="Aptos"/>
                <a:ea typeface="Aptos"/>
                <a:cs typeface="Aptos"/>
              </a:defRPr>
            </a:pPr>
            <a:r>
              <a:rPr sz="1080" b="1">
                <a:solidFill>
                  <a:srgbClr val="111111"/>
                </a:solidFill>
                <a:latin typeface="Aptos"/>
                <a:ea typeface="Aptos"/>
                <a:cs typeface="Aptos"/>
              </a:rPr>
              <a:t>Load raw tables</a:t>
            </a:r>
          </a:p>
        </p:txBody>
      </p:sp>
      <p:sp>
        <p:nvSpPr>
          <p:cNvPr id="32" name="Oval 31">
            <a:extLst>
              <a:ext uri="{FF2B5EF4-FFF2-40B4-BE49-F238E27FC236}">
                <a16:creationId xmlns:a16="http://schemas.microsoft.com/office/drawing/2014/main" id="{D9362836-A490-442E-9BEF-408C267D3307}"/>
              </a:ext>
            </a:extLst>
          </p:cNvPr>
          <p:cNvSpPr>
            <a:spLocks noGrp="1"/>
          </p:cNvSpPr>
          <p:nvPr/>
        </p:nvSpPr>
        <p:spPr>
          <a:xfrm>
            <a:off x="5219700" y="3581400"/>
            <a:ext cx="609600" cy="609600"/>
          </a:xfrm>
          <a:prstGeom prst="ellipse">
            <a:avLst/>
          </a:prstGeom>
          <a:solidFill>
            <a:srgbClr val="F5EEFC"/>
          </a:solidFill>
          <a:ln w="14288">
            <a:solidFill>
              <a:srgbClr val="9552D0"/>
            </a:solidFill>
            <a:prstDash val="solid"/>
          </a:ln>
        </p:spPr>
        <p:txBody>
          <a:bodyPr anchor="ctr"/>
          <a:lstStyle/>
          <a:p>
            <a:pPr algn="ctr">
              <a:defRPr sz="1650" b="1">
                <a:solidFill>
                  <a:srgbClr val="9552D0"/>
                </a:solidFill>
              </a:defRPr>
            </a:pPr>
            <a:r>
              <a:rPr sz="1320" b="1">
                <a:solidFill>
                  <a:srgbClr val="9552D0"/>
                </a:solidFill>
              </a:rPr>
              <a:t>3</a:t>
            </a:r>
          </a:p>
        </p:txBody>
      </p:sp>
      <p:sp>
        <p:nvSpPr>
          <p:cNvPr id="33" name="Rectangle 32">
            <a:extLst>
              <a:ext uri="{FF2B5EF4-FFF2-40B4-BE49-F238E27FC236}">
                <a16:creationId xmlns:a16="http://schemas.microsoft.com/office/drawing/2014/main" id="{FBEE2146-2D9E-4602-A2C6-B051313723E7}"/>
              </a:ext>
            </a:extLst>
          </p:cNvPr>
          <p:cNvSpPr>
            <a:spLocks noGrp="1"/>
          </p:cNvSpPr>
          <p:nvPr/>
        </p:nvSpPr>
        <p:spPr>
          <a:xfrm>
            <a:off x="4991100" y="4343400"/>
            <a:ext cx="1066800" cy="320040"/>
          </a:xfrm>
          <a:prstGeom prst="rect">
            <a:avLst/>
          </a:prstGeom>
          <a:noFill/>
          <a:ln w="0">
            <a:noFill/>
            <a:prstDash val="solid"/>
          </a:ln>
        </p:spPr>
        <p:txBody>
          <a:bodyPr anchor="t">
            <a:normAutofit/>
          </a:bodyPr>
          <a:lstStyle/>
          <a:p>
            <a:pPr algn="ctr">
              <a:lnSpc>
                <a:spcPct val="108000"/>
              </a:lnSpc>
              <a:buNone/>
              <a:defRPr sz="1350" b="1" i="0">
                <a:solidFill>
                  <a:srgbClr val="111111"/>
                </a:solidFill>
                <a:latin typeface="Aptos"/>
                <a:ea typeface="Aptos"/>
                <a:cs typeface="Aptos"/>
              </a:defRPr>
            </a:pPr>
            <a:r>
              <a:rPr sz="1080" b="1">
                <a:solidFill>
                  <a:srgbClr val="111111"/>
                </a:solidFill>
                <a:latin typeface="Aptos"/>
                <a:ea typeface="Aptos"/>
                <a:cs typeface="Aptos"/>
              </a:rPr>
              <a:t>Apply PK/FK</a:t>
            </a:r>
          </a:p>
        </p:txBody>
      </p:sp>
      <p:sp>
        <p:nvSpPr>
          <p:cNvPr id="34" name="Oval 33">
            <a:extLst>
              <a:ext uri="{FF2B5EF4-FFF2-40B4-BE49-F238E27FC236}">
                <a16:creationId xmlns:a16="http://schemas.microsoft.com/office/drawing/2014/main" id="{D5343DE5-7F7D-4EDB-B15B-7419112FCEF5}"/>
              </a:ext>
            </a:extLst>
          </p:cNvPr>
          <p:cNvSpPr>
            <a:spLocks noGrp="1"/>
          </p:cNvSpPr>
          <p:nvPr/>
        </p:nvSpPr>
        <p:spPr>
          <a:xfrm>
            <a:off x="7429500" y="3581400"/>
            <a:ext cx="609600" cy="609600"/>
          </a:xfrm>
          <a:prstGeom prst="ellipse">
            <a:avLst/>
          </a:prstGeom>
          <a:solidFill>
            <a:srgbClr val="F5EEFC"/>
          </a:solidFill>
          <a:ln w="14288">
            <a:solidFill>
              <a:srgbClr val="9552D0"/>
            </a:solidFill>
            <a:prstDash val="solid"/>
          </a:ln>
        </p:spPr>
        <p:txBody>
          <a:bodyPr anchor="ctr"/>
          <a:lstStyle/>
          <a:p>
            <a:pPr algn="ctr">
              <a:defRPr sz="1650" b="1">
                <a:solidFill>
                  <a:srgbClr val="9552D0"/>
                </a:solidFill>
              </a:defRPr>
            </a:pPr>
            <a:r>
              <a:rPr sz="1320" b="1">
                <a:solidFill>
                  <a:srgbClr val="9552D0"/>
                </a:solidFill>
              </a:rPr>
              <a:t>4</a:t>
            </a:r>
          </a:p>
        </p:txBody>
      </p:sp>
      <p:sp>
        <p:nvSpPr>
          <p:cNvPr id="35" name="Rectangle 34">
            <a:extLst>
              <a:ext uri="{FF2B5EF4-FFF2-40B4-BE49-F238E27FC236}">
                <a16:creationId xmlns:a16="http://schemas.microsoft.com/office/drawing/2014/main" id="{C62425C5-B36C-41FE-8B3E-9F29B5794568}"/>
              </a:ext>
            </a:extLst>
          </p:cNvPr>
          <p:cNvSpPr>
            <a:spLocks noGrp="1"/>
          </p:cNvSpPr>
          <p:nvPr/>
        </p:nvSpPr>
        <p:spPr>
          <a:xfrm>
            <a:off x="7200900" y="4343400"/>
            <a:ext cx="1066800" cy="320040"/>
          </a:xfrm>
          <a:prstGeom prst="rect">
            <a:avLst/>
          </a:prstGeom>
          <a:noFill/>
          <a:ln w="0">
            <a:noFill/>
            <a:prstDash val="solid"/>
          </a:ln>
        </p:spPr>
        <p:txBody>
          <a:bodyPr anchor="t">
            <a:normAutofit fontScale="93986"/>
          </a:bodyPr>
          <a:lstStyle/>
          <a:p>
            <a:pPr algn="ctr">
              <a:lnSpc>
                <a:spcPct val="108000"/>
              </a:lnSpc>
              <a:buNone/>
              <a:defRPr sz="1350" b="1" i="0">
                <a:solidFill>
                  <a:srgbClr val="111111"/>
                </a:solidFill>
                <a:latin typeface="Aptos"/>
                <a:ea typeface="Aptos"/>
                <a:cs typeface="Aptos"/>
              </a:defRPr>
            </a:pPr>
            <a:r>
              <a:rPr sz="1080" b="1">
                <a:solidFill>
                  <a:srgbClr val="111111"/>
                </a:solidFill>
                <a:latin typeface="Aptos"/>
                <a:ea typeface="Aptos"/>
                <a:cs typeface="Aptos"/>
              </a:rPr>
              <a:t>Create indexes</a:t>
            </a:r>
          </a:p>
        </p:txBody>
      </p:sp>
      <p:sp>
        <p:nvSpPr>
          <p:cNvPr id="36" name="Oval 35">
            <a:extLst>
              <a:ext uri="{FF2B5EF4-FFF2-40B4-BE49-F238E27FC236}">
                <a16:creationId xmlns:a16="http://schemas.microsoft.com/office/drawing/2014/main" id="{A437C327-8DC7-4162-9C7B-8A4B3B53B135}"/>
              </a:ext>
            </a:extLst>
          </p:cNvPr>
          <p:cNvSpPr>
            <a:spLocks noGrp="1"/>
          </p:cNvSpPr>
          <p:nvPr/>
        </p:nvSpPr>
        <p:spPr>
          <a:xfrm>
            <a:off x="9639300" y="3581400"/>
            <a:ext cx="609600" cy="609600"/>
          </a:xfrm>
          <a:prstGeom prst="ellipse">
            <a:avLst/>
          </a:prstGeom>
          <a:solidFill>
            <a:srgbClr val="EAF8F2"/>
          </a:solidFill>
          <a:ln w="14288">
            <a:solidFill>
              <a:srgbClr val="00A870"/>
            </a:solidFill>
            <a:prstDash val="solid"/>
          </a:ln>
        </p:spPr>
        <p:txBody>
          <a:bodyPr anchor="ctr"/>
          <a:lstStyle/>
          <a:p>
            <a:pPr algn="ctr">
              <a:defRPr sz="1650" b="1">
                <a:solidFill>
                  <a:srgbClr val="00A870"/>
                </a:solidFill>
              </a:defRPr>
            </a:pPr>
            <a:r>
              <a:rPr sz="1320" b="1">
                <a:solidFill>
                  <a:srgbClr val="00A870"/>
                </a:solidFill>
              </a:rPr>
              <a:t>5</a:t>
            </a:r>
          </a:p>
        </p:txBody>
      </p:sp>
      <p:sp>
        <p:nvSpPr>
          <p:cNvPr id="37" name="Rectangle 36">
            <a:extLst>
              <a:ext uri="{FF2B5EF4-FFF2-40B4-BE49-F238E27FC236}">
                <a16:creationId xmlns:a16="http://schemas.microsoft.com/office/drawing/2014/main" id="{C82586A9-40C9-4DFD-A39B-553D9B3CCF8E}"/>
              </a:ext>
            </a:extLst>
          </p:cNvPr>
          <p:cNvSpPr>
            <a:spLocks noGrp="1"/>
          </p:cNvSpPr>
          <p:nvPr/>
        </p:nvSpPr>
        <p:spPr>
          <a:xfrm>
            <a:off x="9410700" y="4343400"/>
            <a:ext cx="1066800" cy="320040"/>
          </a:xfrm>
          <a:prstGeom prst="rect">
            <a:avLst/>
          </a:prstGeom>
          <a:noFill/>
          <a:ln w="0">
            <a:noFill/>
            <a:prstDash val="solid"/>
          </a:ln>
        </p:spPr>
        <p:txBody>
          <a:bodyPr anchor="t">
            <a:normAutofit fontScale="83958" lnSpcReduction="10000"/>
          </a:bodyPr>
          <a:lstStyle/>
          <a:p>
            <a:pPr algn="ctr">
              <a:lnSpc>
                <a:spcPct val="108000"/>
              </a:lnSpc>
              <a:buNone/>
              <a:defRPr sz="1350" b="1" i="0">
                <a:solidFill>
                  <a:srgbClr val="111111"/>
                </a:solidFill>
                <a:latin typeface="Aptos"/>
                <a:ea typeface="Aptos"/>
                <a:cs typeface="Aptos"/>
              </a:defRPr>
            </a:pPr>
            <a:r>
              <a:rPr sz="1080" b="1">
                <a:solidFill>
                  <a:srgbClr val="111111"/>
                </a:solidFill>
                <a:latin typeface="Aptos"/>
                <a:ea typeface="Aptos"/>
                <a:cs typeface="Aptos"/>
              </a:rPr>
              <a:t>Validate counts</a:t>
            </a:r>
          </a:p>
        </p:txBody>
      </p:sp>
      <p:sp>
        <p:nvSpPr>
          <p:cNvPr id="38" name="Rectangle 37">
            <a:extLst>
              <a:ext uri="{FF2B5EF4-FFF2-40B4-BE49-F238E27FC236}">
                <a16:creationId xmlns:a16="http://schemas.microsoft.com/office/drawing/2014/main" id="{3CCB1057-633C-4C14-AEEF-571FAFC5AC92}"/>
              </a:ext>
            </a:extLst>
          </p:cNvPr>
          <p:cNvSpPr>
            <a:spLocks noGrp="1"/>
          </p:cNvSpPr>
          <p:nvPr/>
        </p:nvSpPr>
        <p:spPr>
          <a:xfrm>
            <a:off x="762000" y="5257800"/>
            <a:ext cx="2514600" cy="289560"/>
          </a:xfrm>
          <a:prstGeom prst="rect">
            <a:avLst/>
          </a:prstGeom>
          <a:noFill/>
          <a:ln w="0">
            <a:noFill/>
            <a:prstDash val="solid"/>
          </a:ln>
        </p:spPr>
        <p:txBody>
          <a:bodyPr anchor="t">
            <a:noAutofit/>
          </a:bodyPr>
          <a:lstStyle/>
          <a:p>
            <a:pPr algn="l">
              <a:lnSpc>
                <a:spcPct val="108000"/>
              </a:lnSpc>
              <a:buNone/>
              <a:defRPr sz="2025" b="1" i="0">
                <a:solidFill>
                  <a:srgbClr val="EF7D00"/>
                </a:solidFill>
                <a:latin typeface="Georgia"/>
                <a:ea typeface="Georgia"/>
                <a:cs typeface="Georgia"/>
              </a:defRPr>
            </a:pPr>
            <a:r>
              <a:rPr sz="1620" b="1">
                <a:solidFill>
                  <a:srgbClr val="EF7D00"/>
                </a:solidFill>
                <a:latin typeface="Georgia"/>
                <a:ea typeface="Georgia"/>
                <a:cs typeface="Georgia"/>
              </a:rPr>
              <a:t>Engineering meaning</a:t>
            </a:r>
          </a:p>
        </p:txBody>
      </p:sp>
      <p:sp>
        <p:nvSpPr>
          <p:cNvPr id="39" name="Rectangle 38">
            <a:extLst>
              <a:ext uri="{FF2B5EF4-FFF2-40B4-BE49-F238E27FC236}">
                <a16:creationId xmlns:a16="http://schemas.microsoft.com/office/drawing/2014/main" id="{2F8CBB15-4620-41D9-B8BC-32CD6A3768C4}"/>
              </a:ext>
            </a:extLst>
          </p:cNvPr>
          <p:cNvSpPr>
            <a:spLocks noGrp="1"/>
          </p:cNvSpPr>
          <p:nvPr/>
        </p:nvSpPr>
        <p:spPr>
          <a:xfrm>
            <a:off x="762000" y="5654040"/>
            <a:ext cx="10210800" cy="472440"/>
          </a:xfrm>
          <a:prstGeom prst="rect">
            <a:avLst/>
          </a:prstGeom>
          <a:noFill/>
          <a:ln w="0">
            <a:noFill/>
            <a:prstDash val="solid"/>
          </a:ln>
        </p:spPr>
        <p:txBody>
          <a:bodyPr anchor="t">
            <a:noAutofit/>
          </a:bodyPr>
          <a:lstStyle/>
          <a:p>
            <a:pPr algn="l">
              <a:lnSpc>
                <a:spcPct val="108000"/>
              </a:lnSpc>
              <a:buNone/>
              <a:defRPr sz="1800" b="1" i="0">
                <a:solidFill>
                  <a:srgbClr val="111111"/>
                </a:solidFill>
                <a:latin typeface="Georgia"/>
                <a:ea typeface="Georgia"/>
                <a:cs typeface="Georgia"/>
              </a:defRPr>
            </a:pPr>
            <a:r>
              <a:rPr sz="1440" b="1">
                <a:solidFill>
                  <a:srgbClr val="111111"/>
                </a:solidFill>
                <a:latin typeface="Georgia"/>
                <a:ea typeface="Georgia"/>
                <a:cs typeface="Georgia"/>
              </a:rPr>
              <a:t>The team did not work from a convenient sample extract. It created a local, relational, indexed, row-count-validated MIMIC-IV environment in Docker/PostgreSQL before analysis began.</a:t>
            </a:r>
          </a:p>
        </p:txBody>
      </p:sp>
      <p:sp>
        <p:nvSpPr>
          <p:cNvPr id="40" name="Straight Connector 39">
            <a:extLst>
              <a:ext uri="{FF2B5EF4-FFF2-40B4-BE49-F238E27FC236}">
                <a16:creationId xmlns:a16="http://schemas.microsoft.com/office/drawing/2014/main" id="{54A39358-D38F-488F-9522-BA2478763380}"/>
              </a:ext>
            </a:extLst>
          </p:cNvPr>
          <p:cNvSpPr>
            <a:spLocks noGrp="1"/>
          </p:cNvSpPr>
          <p:nvPr/>
        </p:nvSpPr>
        <p:spPr>
          <a:xfrm>
            <a:off x="609600" y="6507480"/>
            <a:ext cx="10972800" cy="0"/>
          </a:xfrm>
          <a:prstGeom prst="line">
            <a:avLst/>
          </a:prstGeom>
          <a:noFill/>
          <a:ln w="9525">
            <a:solidFill>
              <a:srgbClr val="DDDDDD"/>
            </a:solidFill>
            <a:prstDash val="solid"/>
          </a:ln>
        </p:spPr>
        <p:txBody>
          <a:bodyPr/>
          <a:lstStyle/>
          <a:p>
            <a:endParaRPr lang="en-US" sz="1440"/>
          </a:p>
        </p:txBody>
      </p:sp>
      <p:sp>
        <p:nvSpPr>
          <p:cNvPr id="41" name="Rectangle 40">
            <a:extLst>
              <a:ext uri="{FF2B5EF4-FFF2-40B4-BE49-F238E27FC236}">
                <a16:creationId xmlns:a16="http://schemas.microsoft.com/office/drawing/2014/main" id="{D2695F0E-7264-4E44-9D5D-917C231F9268}"/>
              </a:ext>
            </a:extLst>
          </p:cNvPr>
          <p:cNvSpPr>
            <a:spLocks noGrp="1"/>
          </p:cNvSpPr>
          <p:nvPr/>
        </p:nvSpPr>
        <p:spPr>
          <a:xfrm>
            <a:off x="624840" y="6568440"/>
            <a:ext cx="5791200" cy="167640"/>
          </a:xfrm>
          <a:prstGeom prst="rect">
            <a:avLst/>
          </a:prstGeom>
          <a:noFill/>
          <a:ln w="0">
            <a:noFill/>
            <a:prstDash val="solid"/>
          </a:ln>
        </p:spPr>
        <p:txBody>
          <a:bodyPr anchor="t">
            <a:noAutofit/>
          </a:bodyPr>
          <a:lstStyle/>
          <a:p>
            <a:pPr algn="l">
              <a:lnSpc>
                <a:spcPct val="108000"/>
              </a:lnSpc>
              <a:buNone/>
              <a:defRPr sz="975" b="0" i="0">
                <a:solidFill>
                  <a:srgbClr val="777777"/>
                </a:solidFill>
                <a:latin typeface="Aptos"/>
                <a:ea typeface="Aptos"/>
                <a:cs typeface="Aptos"/>
              </a:defRPr>
            </a:pPr>
            <a:r>
              <a:rPr sz="780">
                <a:solidFill>
                  <a:srgbClr val="777777"/>
                </a:solidFill>
                <a:latin typeface="Aptos"/>
                <a:ea typeface="Aptos"/>
                <a:cs typeface="Aptos"/>
              </a:rPr>
              <a:t>MIMIC-IV first-24-hour biochemical trajectory study</a:t>
            </a:r>
          </a:p>
        </p:txBody>
      </p:sp>
      <p:sp>
        <p:nvSpPr>
          <p:cNvPr id="42" name="Rectangle 41">
            <a:extLst>
              <a:ext uri="{FF2B5EF4-FFF2-40B4-BE49-F238E27FC236}">
                <a16:creationId xmlns:a16="http://schemas.microsoft.com/office/drawing/2014/main" id="{B4670DBF-D435-4076-83A6-AA3D65E9D43D}"/>
              </a:ext>
            </a:extLst>
          </p:cNvPr>
          <p:cNvSpPr>
            <a:spLocks noGrp="1"/>
          </p:cNvSpPr>
          <p:nvPr/>
        </p:nvSpPr>
        <p:spPr>
          <a:xfrm>
            <a:off x="11163300" y="6568440"/>
            <a:ext cx="381000" cy="167640"/>
          </a:xfrm>
          <a:prstGeom prst="rect">
            <a:avLst/>
          </a:prstGeom>
          <a:noFill/>
          <a:ln w="0">
            <a:noFill/>
            <a:prstDash val="solid"/>
          </a:ln>
        </p:spPr>
        <p:txBody>
          <a:bodyPr anchor="t">
            <a:noAutofit/>
          </a:bodyPr>
          <a:lstStyle/>
          <a:p>
            <a:pPr algn="r">
              <a:lnSpc>
                <a:spcPct val="108000"/>
              </a:lnSpc>
              <a:buNone/>
              <a:defRPr sz="975" b="0" i="0">
                <a:solidFill>
                  <a:srgbClr val="777777"/>
                </a:solidFill>
                <a:latin typeface="Aptos"/>
                <a:ea typeface="Aptos"/>
                <a:cs typeface="Aptos"/>
              </a:defRPr>
            </a:pPr>
            <a:r>
              <a:rPr sz="780">
                <a:solidFill>
                  <a:srgbClr val="777777"/>
                </a:solidFill>
                <a:latin typeface="Aptos"/>
                <a:ea typeface="Aptos"/>
                <a:cs typeface="Aptos"/>
              </a:rPr>
              <a:t>04</a:t>
            </a:r>
          </a:p>
        </p:txBody>
      </p:sp>
    </p:spTree>
    <p:extLst>
      <p:ext uri="{BB962C8B-B14F-4D97-AF65-F5344CB8AC3E}">
        <p14:creationId xmlns:p14="http://schemas.microsoft.com/office/powerpoint/2010/main" val="19598108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slide-title">
            <a:extLst>
              <a:ext uri="{FF2B5EF4-FFF2-40B4-BE49-F238E27FC236}">
                <a16:creationId xmlns:a16="http://schemas.microsoft.com/office/drawing/2014/main" id="{C9388051-F2F5-4713-AD1E-061E25200BB2}"/>
              </a:ext>
            </a:extLst>
          </p:cNvPr>
          <p:cNvSpPr>
            <a:spLocks noGrp="1"/>
          </p:cNvSpPr>
          <p:nvPr/>
        </p:nvSpPr>
        <p:spPr>
          <a:xfrm>
            <a:off x="594360" y="259080"/>
            <a:ext cx="8534400" cy="533400"/>
          </a:xfrm>
          <a:prstGeom prst="rect">
            <a:avLst/>
          </a:prstGeom>
          <a:noFill/>
          <a:ln w="0">
            <a:noFill/>
            <a:prstDash val="solid"/>
          </a:ln>
        </p:spPr>
        <p:txBody>
          <a:bodyPr anchor="t">
            <a:normAutofit fontScale="86305"/>
          </a:bodyPr>
          <a:lstStyle/>
          <a:p>
            <a:pPr algn="l">
              <a:lnSpc>
                <a:spcPct val="108000"/>
              </a:lnSpc>
              <a:buNone/>
              <a:defRPr sz="4050" b="1" i="0">
                <a:solidFill>
                  <a:srgbClr val="111111"/>
                </a:solidFill>
                <a:latin typeface="Georgia"/>
                <a:ea typeface="Georgia"/>
                <a:cs typeface="Georgia"/>
              </a:defRPr>
            </a:pPr>
            <a:r>
              <a:rPr sz="3240" b="1">
                <a:solidFill>
                  <a:srgbClr val="111111"/>
                </a:solidFill>
                <a:latin typeface="Georgia"/>
                <a:ea typeface="Georgia"/>
                <a:cs typeface="Georgia"/>
              </a:rPr>
              <a:t>Cohort Rules Came Before Modelling</a:t>
            </a:r>
          </a:p>
        </p:txBody>
      </p:sp>
      <p:sp>
        <p:nvSpPr>
          <p:cNvPr id="2" name="Rectangle 1">
            <a:extLst>
              <a:ext uri="{FF2B5EF4-FFF2-40B4-BE49-F238E27FC236}">
                <a16:creationId xmlns:a16="http://schemas.microsoft.com/office/drawing/2014/main" id="{5445BFBB-3B25-4491-AAE5-739CD97E7F33}"/>
              </a:ext>
            </a:extLst>
          </p:cNvPr>
          <p:cNvSpPr>
            <a:spLocks noGrp="1"/>
          </p:cNvSpPr>
          <p:nvPr/>
        </p:nvSpPr>
        <p:spPr>
          <a:xfrm>
            <a:off x="9372600" y="228600"/>
            <a:ext cx="2286000" cy="533400"/>
          </a:xfrm>
          <a:prstGeom prst="rect">
            <a:avLst/>
          </a:prstGeom>
          <a:noFill/>
          <a:ln w="0">
            <a:noFill/>
            <a:prstDash val="solid"/>
          </a:ln>
        </p:spPr>
        <p:txBody>
          <a:bodyPr anchor="t">
            <a:normAutofit/>
          </a:bodyPr>
          <a:lstStyle/>
          <a:p>
            <a:pPr algn="r">
              <a:lnSpc>
                <a:spcPct val="108000"/>
              </a:lnSpc>
              <a:buNone/>
              <a:defRPr sz="3000" b="1" i="0">
                <a:solidFill>
                  <a:srgbClr val="EF7D00"/>
                </a:solidFill>
                <a:latin typeface="Georgia"/>
                <a:ea typeface="Georgia"/>
                <a:cs typeface="Georgia"/>
              </a:defRPr>
            </a:pPr>
            <a:r>
              <a:rPr sz="2400" b="1">
                <a:solidFill>
                  <a:srgbClr val="EF7D00"/>
                </a:solidFill>
                <a:latin typeface="Georgia"/>
                <a:ea typeface="Georgia"/>
                <a:cs typeface="Georgia"/>
              </a:rPr>
              <a:t>Cohort Logic</a:t>
            </a:r>
          </a:p>
        </p:txBody>
      </p:sp>
      <p:sp>
        <p:nvSpPr>
          <p:cNvPr id="3" name="Rectangle 2">
            <a:extLst>
              <a:ext uri="{FF2B5EF4-FFF2-40B4-BE49-F238E27FC236}">
                <a16:creationId xmlns:a16="http://schemas.microsoft.com/office/drawing/2014/main" id="{30DEDB23-5662-4B55-A63E-2360DA84FE7A}"/>
              </a:ext>
            </a:extLst>
          </p:cNvPr>
          <p:cNvSpPr>
            <a:spLocks noGrp="1"/>
          </p:cNvSpPr>
          <p:nvPr/>
        </p:nvSpPr>
        <p:spPr>
          <a:xfrm>
            <a:off x="624840" y="853440"/>
            <a:ext cx="8610600" cy="259080"/>
          </a:xfrm>
          <a:prstGeom prst="rect">
            <a:avLst/>
          </a:prstGeom>
          <a:noFill/>
          <a:ln w="0">
            <a:noFill/>
            <a:prstDash val="solid"/>
          </a:ln>
        </p:spPr>
        <p:txBody>
          <a:bodyPr anchor="t">
            <a:noAutofit/>
          </a:bodyPr>
          <a:lstStyle/>
          <a:p>
            <a:pPr algn="l">
              <a:lnSpc>
                <a:spcPct val="108000"/>
              </a:lnSpc>
              <a:buNone/>
              <a:defRPr sz="1500" b="0" i="0">
                <a:solidFill>
                  <a:srgbClr val="5A5A5A"/>
                </a:solidFill>
                <a:latin typeface="Aptos"/>
                <a:ea typeface="Aptos"/>
                <a:cs typeface="Aptos"/>
              </a:defRPr>
            </a:pPr>
            <a:r>
              <a:rPr sz="1200">
                <a:solidFill>
                  <a:srgbClr val="5A5A5A"/>
                </a:solidFill>
                <a:latin typeface="Aptos"/>
                <a:ea typeface="Aptos"/>
                <a:cs typeface="Aptos"/>
              </a:rPr>
              <a:t>Eligibility ensures that a genuine first-24-hour trajectory can be calculated.</a:t>
            </a:r>
          </a:p>
        </p:txBody>
      </p:sp>
      <p:sp>
        <p:nvSpPr>
          <p:cNvPr id="4" name="Straight Connector 3">
            <a:extLst>
              <a:ext uri="{FF2B5EF4-FFF2-40B4-BE49-F238E27FC236}">
                <a16:creationId xmlns:a16="http://schemas.microsoft.com/office/drawing/2014/main" id="{B7B055A5-6099-42FD-AE15-FA209567E8CA}"/>
              </a:ext>
            </a:extLst>
          </p:cNvPr>
          <p:cNvSpPr>
            <a:spLocks noGrp="1"/>
          </p:cNvSpPr>
          <p:nvPr/>
        </p:nvSpPr>
        <p:spPr>
          <a:xfrm>
            <a:off x="2628900" y="1379220"/>
            <a:ext cx="723900" cy="0"/>
          </a:xfrm>
          <a:prstGeom prst="line">
            <a:avLst/>
          </a:prstGeom>
          <a:noFill/>
          <a:ln w="14288">
            <a:solidFill>
              <a:srgbClr val="B9B9B9"/>
            </a:solidFill>
            <a:prstDash val="solid"/>
          </a:ln>
        </p:spPr>
        <p:txBody>
          <a:bodyPr/>
          <a:lstStyle/>
          <a:p>
            <a:endParaRPr lang="en-US" sz="1440"/>
          </a:p>
        </p:txBody>
      </p:sp>
      <p:sp>
        <p:nvSpPr>
          <p:cNvPr id="5" name="Oval 4">
            <a:extLst>
              <a:ext uri="{FF2B5EF4-FFF2-40B4-BE49-F238E27FC236}">
                <a16:creationId xmlns:a16="http://schemas.microsoft.com/office/drawing/2014/main" id="{328D1BFE-C188-431B-8CAA-E8797F98B438}"/>
              </a:ext>
            </a:extLst>
          </p:cNvPr>
          <p:cNvSpPr>
            <a:spLocks noGrp="1"/>
          </p:cNvSpPr>
          <p:nvPr/>
        </p:nvSpPr>
        <p:spPr>
          <a:xfrm>
            <a:off x="647700" y="1203960"/>
            <a:ext cx="350520" cy="350520"/>
          </a:xfrm>
          <a:prstGeom prst="ellipse">
            <a:avLst/>
          </a:prstGeom>
          <a:solidFill>
            <a:srgbClr val="FFFFFF"/>
          </a:solidFill>
          <a:ln w="14288">
            <a:solidFill>
              <a:srgbClr val="1484D6"/>
            </a:solidFill>
            <a:prstDash val="solid"/>
          </a:ln>
        </p:spPr>
        <p:txBody>
          <a:bodyPr anchor="ctr"/>
          <a:lstStyle/>
          <a:p>
            <a:pPr algn="ctr">
              <a:defRPr sz="1200" b="1">
                <a:solidFill>
                  <a:srgbClr val="1484D6"/>
                </a:solidFill>
              </a:defRPr>
            </a:pPr>
            <a:r>
              <a:rPr sz="960" b="1">
                <a:solidFill>
                  <a:srgbClr val="1484D6"/>
                </a:solidFill>
              </a:rPr>
              <a:t>1</a:t>
            </a:r>
          </a:p>
        </p:txBody>
      </p:sp>
      <p:sp>
        <p:nvSpPr>
          <p:cNvPr id="6" name="Rectangle 5">
            <a:extLst>
              <a:ext uri="{FF2B5EF4-FFF2-40B4-BE49-F238E27FC236}">
                <a16:creationId xmlns:a16="http://schemas.microsoft.com/office/drawing/2014/main" id="{782D6AC2-6B32-4C9D-BA46-A66400AE519D}"/>
              </a:ext>
            </a:extLst>
          </p:cNvPr>
          <p:cNvSpPr>
            <a:spLocks noGrp="1"/>
          </p:cNvSpPr>
          <p:nvPr/>
        </p:nvSpPr>
        <p:spPr>
          <a:xfrm>
            <a:off x="1089660" y="1234440"/>
            <a:ext cx="1828800" cy="190500"/>
          </a:xfrm>
          <a:prstGeom prst="rect">
            <a:avLst/>
          </a:prstGeom>
          <a:noFill/>
          <a:ln w="0">
            <a:noFill/>
            <a:prstDash val="solid"/>
          </a:ln>
        </p:spPr>
        <p:txBody>
          <a:bodyPr anchor="t">
            <a:noAutofit/>
          </a:bodyPr>
          <a:lstStyle/>
          <a:p>
            <a:pPr algn="l">
              <a:lnSpc>
                <a:spcPct val="108000"/>
              </a:lnSpc>
              <a:buNone/>
              <a:defRPr sz="1050" b="1" i="0">
                <a:solidFill>
                  <a:srgbClr val="777777"/>
                </a:solidFill>
                <a:latin typeface="Aptos"/>
                <a:ea typeface="Aptos"/>
                <a:cs typeface="Aptos"/>
              </a:defRPr>
            </a:pPr>
            <a:r>
              <a:rPr sz="840" b="1">
                <a:solidFill>
                  <a:srgbClr val="777777"/>
                </a:solidFill>
                <a:latin typeface="Aptos"/>
                <a:ea typeface="Aptos"/>
                <a:cs typeface="Aptos"/>
              </a:rPr>
              <a:t>BUSINESS NEEDS</a:t>
            </a:r>
          </a:p>
        </p:txBody>
      </p:sp>
      <p:sp>
        <p:nvSpPr>
          <p:cNvPr id="7" name="Straight Connector 6">
            <a:extLst>
              <a:ext uri="{FF2B5EF4-FFF2-40B4-BE49-F238E27FC236}">
                <a16:creationId xmlns:a16="http://schemas.microsoft.com/office/drawing/2014/main" id="{A0617780-E627-4F88-AF9D-F12B8A9F0C11}"/>
              </a:ext>
            </a:extLst>
          </p:cNvPr>
          <p:cNvSpPr>
            <a:spLocks noGrp="1"/>
          </p:cNvSpPr>
          <p:nvPr/>
        </p:nvSpPr>
        <p:spPr>
          <a:xfrm>
            <a:off x="5448300" y="1379220"/>
            <a:ext cx="723900" cy="0"/>
          </a:xfrm>
          <a:prstGeom prst="line">
            <a:avLst/>
          </a:prstGeom>
          <a:noFill/>
          <a:ln w="14288">
            <a:solidFill>
              <a:srgbClr val="B9B9B9"/>
            </a:solidFill>
            <a:prstDash val="solid"/>
          </a:ln>
        </p:spPr>
        <p:txBody>
          <a:bodyPr/>
          <a:lstStyle/>
          <a:p>
            <a:endParaRPr lang="en-US" sz="1440"/>
          </a:p>
        </p:txBody>
      </p:sp>
      <p:sp>
        <p:nvSpPr>
          <p:cNvPr id="8" name="Oval 7">
            <a:extLst>
              <a:ext uri="{FF2B5EF4-FFF2-40B4-BE49-F238E27FC236}">
                <a16:creationId xmlns:a16="http://schemas.microsoft.com/office/drawing/2014/main" id="{7C1219A5-D7F3-4AF6-B3C9-63BB7DF88F83}"/>
              </a:ext>
            </a:extLst>
          </p:cNvPr>
          <p:cNvSpPr>
            <a:spLocks noGrp="1"/>
          </p:cNvSpPr>
          <p:nvPr/>
        </p:nvSpPr>
        <p:spPr>
          <a:xfrm>
            <a:off x="3467100" y="1203960"/>
            <a:ext cx="350520" cy="350520"/>
          </a:xfrm>
          <a:prstGeom prst="ellipse">
            <a:avLst/>
          </a:prstGeom>
          <a:solidFill>
            <a:srgbClr val="9552D0"/>
          </a:solidFill>
          <a:ln w="14288">
            <a:solidFill>
              <a:srgbClr val="9552D0"/>
            </a:solidFill>
            <a:prstDash val="solid"/>
          </a:ln>
        </p:spPr>
        <p:txBody>
          <a:bodyPr anchor="ctr"/>
          <a:lstStyle/>
          <a:p>
            <a:pPr algn="ctr">
              <a:defRPr sz="1200" b="1">
                <a:solidFill>
                  <a:srgbClr val="FFFFFF"/>
                </a:solidFill>
              </a:defRPr>
            </a:pPr>
            <a:r>
              <a:rPr sz="960" b="1">
                <a:solidFill>
                  <a:srgbClr val="FFFFFF"/>
                </a:solidFill>
              </a:rPr>
              <a:t>2</a:t>
            </a:r>
          </a:p>
        </p:txBody>
      </p:sp>
      <p:sp>
        <p:nvSpPr>
          <p:cNvPr id="9" name="Rectangle 8">
            <a:extLst>
              <a:ext uri="{FF2B5EF4-FFF2-40B4-BE49-F238E27FC236}">
                <a16:creationId xmlns:a16="http://schemas.microsoft.com/office/drawing/2014/main" id="{7249E163-A179-416F-8063-A1BC6E7C30C1}"/>
              </a:ext>
            </a:extLst>
          </p:cNvPr>
          <p:cNvSpPr>
            <a:spLocks noGrp="1"/>
          </p:cNvSpPr>
          <p:nvPr/>
        </p:nvSpPr>
        <p:spPr>
          <a:xfrm>
            <a:off x="3909060" y="1234440"/>
            <a:ext cx="1828800" cy="190500"/>
          </a:xfrm>
          <a:prstGeom prst="rect">
            <a:avLst/>
          </a:prstGeom>
          <a:noFill/>
          <a:ln w="0">
            <a:noFill/>
            <a:prstDash val="solid"/>
          </a:ln>
        </p:spPr>
        <p:txBody>
          <a:bodyPr anchor="t">
            <a:noAutofit/>
          </a:bodyPr>
          <a:lstStyle/>
          <a:p>
            <a:pPr algn="l">
              <a:lnSpc>
                <a:spcPct val="108000"/>
              </a:lnSpc>
              <a:buNone/>
              <a:defRPr sz="1050" b="1" i="0">
                <a:solidFill>
                  <a:srgbClr val="9552D0"/>
                </a:solidFill>
                <a:latin typeface="Aptos"/>
                <a:ea typeface="Aptos"/>
                <a:cs typeface="Aptos"/>
              </a:defRPr>
            </a:pPr>
            <a:r>
              <a:rPr sz="840" b="1">
                <a:solidFill>
                  <a:srgbClr val="9552D0"/>
                </a:solidFill>
                <a:latin typeface="Aptos"/>
                <a:ea typeface="Aptos"/>
                <a:cs typeface="Aptos"/>
              </a:rPr>
              <a:t>DATA PROCESSING</a:t>
            </a:r>
          </a:p>
        </p:txBody>
      </p:sp>
      <p:sp>
        <p:nvSpPr>
          <p:cNvPr id="10" name="Straight Connector 9">
            <a:extLst>
              <a:ext uri="{FF2B5EF4-FFF2-40B4-BE49-F238E27FC236}">
                <a16:creationId xmlns:a16="http://schemas.microsoft.com/office/drawing/2014/main" id="{1D3F672A-FA7E-4E34-9E67-F5AEE24622EF}"/>
              </a:ext>
            </a:extLst>
          </p:cNvPr>
          <p:cNvSpPr>
            <a:spLocks noGrp="1"/>
          </p:cNvSpPr>
          <p:nvPr/>
        </p:nvSpPr>
        <p:spPr>
          <a:xfrm>
            <a:off x="8267700" y="1379220"/>
            <a:ext cx="723900" cy="0"/>
          </a:xfrm>
          <a:prstGeom prst="line">
            <a:avLst/>
          </a:prstGeom>
          <a:noFill/>
          <a:ln w="14288">
            <a:solidFill>
              <a:srgbClr val="B9B9B9"/>
            </a:solidFill>
            <a:prstDash val="solid"/>
          </a:ln>
        </p:spPr>
        <p:txBody>
          <a:bodyPr/>
          <a:lstStyle/>
          <a:p>
            <a:endParaRPr lang="en-US" sz="1440"/>
          </a:p>
        </p:txBody>
      </p:sp>
      <p:sp>
        <p:nvSpPr>
          <p:cNvPr id="11" name="Oval 10">
            <a:extLst>
              <a:ext uri="{FF2B5EF4-FFF2-40B4-BE49-F238E27FC236}">
                <a16:creationId xmlns:a16="http://schemas.microsoft.com/office/drawing/2014/main" id="{A8C4C867-B6CF-483F-8660-17F9FC74C4B2}"/>
              </a:ext>
            </a:extLst>
          </p:cNvPr>
          <p:cNvSpPr>
            <a:spLocks noGrp="1"/>
          </p:cNvSpPr>
          <p:nvPr/>
        </p:nvSpPr>
        <p:spPr>
          <a:xfrm>
            <a:off x="6286500" y="1203960"/>
            <a:ext cx="350520" cy="350520"/>
          </a:xfrm>
          <a:prstGeom prst="ellipse">
            <a:avLst/>
          </a:prstGeom>
          <a:solidFill>
            <a:srgbClr val="FFFFFF"/>
          </a:solidFill>
          <a:ln w="14288">
            <a:solidFill>
              <a:srgbClr val="00A870"/>
            </a:solidFill>
            <a:prstDash val="solid"/>
          </a:ln>
        </p:spPr>
        <p:txBody>
          <a:bodyPr anchor="ctr"/>
          <a:lstStyle/>
          <a:p>
            <a:pPr algn="ctr">
              <a:defRPr sz="1200" b="1">
                <a:solidFill>
                  <a:srgbClr val="00A870"/>
                </a:solidFill>
              </a:defRPr>
            </a:pPr>
            <a:r>
              <a:rPr sz="960" b="1">
                <a:solidFill>
                  <a:srgbClr val="00A870"/>
                </a:solidFill>
              </a:rPr>
              <a:t>3</a:t>
            </a:r>
          </a:p>
        </p:txBody>
      </p:sp>
      <p:sp>
        <p:nvSpPr>
          <p:cNvPr id="12" name="Rectangle 11">
            <a:extLst>
              <a:ext uri="{FF2B5EF4-FFF2-40B4-BE49-F238E27FC236}">
                <a16:creationId xmlns:a16="http://schemas.microsoft.com/office/drawing/2014/main" id="{EA471E04-686E-4EB8-A7E9-82B06591E78D}"/>
              </a:ext>
            </a:extLst>
          </p:cNvPr>
          <p:cNvSpPr>
            <a:spLocks noGrp="1"/>
          </p:cNvSpPr>
          <p:nvPr/>
        </p:nvSpPr>
        <p:spPr>
          <a:xfrm>
            <a:off x="6728460" y="1234440"/>
            <a:ext cx="1828800" cy="190500"/>
          </a:xfrm>
          <a:prstGeom prst="rect">
            <a:avLst/>
          </a:prstGeom>
          <a:noFill/>
          <a:ln w="0">
            <a:noFill/>
            <a:prstDash val="solid"/>
          </a:ln>
        </p:spPr>
        <p:txBody>
          <a:bodyPr anchor="t">
            <a:noAutofit/>
          </a:bodyPr>
          <a:lstStyle/>
          <a:p>
            <a:pPr algn="l">
              <a:lnSpc>
                <a:spcPct val="108000"/>
              </a:lnSpc>
              <a:buNone/>
              <a:defRPr sz="1050" b="1" i="0">
                <a:solidFill>
                  <a:srgbClr val="777777"/>
                </a:solidFill>
                <a:latin typeface="Aptos"/>
                <a:ea typeface="Aptos"/>
                <a:cs typeface="Aptos"/>
              </a:defRPr>
            </a:pPr>
            <a:r>
              <a:rPr sz="840" b="1">
                <a:solidFill>
                  <a:srgbClr val="777777"/>
                </a:solidFill>
                <a:latin typeface="Aptos"/>
                <a:ea typeface="Aptos"/>
                <a:cs typeface="Aptos"/>
              </a:rPr>
              <a:t>DATA MODELLING</a:t>
            </a:r>
          </a:p>
        </p:txBody>
      </p:sp>
      <p:sp>
        <p:nvSpPr>
          <p:cNvPr id="13" name="Oval 12">
            <a:extLst>
              <a:ext uri="{FF2B5EF4-FFF2-40B4-BE49-F238E27FC236}">
                <a16:creationId xmlns:a16="http://schemas.microsoft.com/office/drawing/2014/main" id="{AC3F0C97-886D-4981-A0B9-0A1CE3A631E2}"/>
              </a:ext>
            </a:extLst>
          </p:cNvPr>
          <p:cNvSpPr>
            <a:spLocks noGrp="1"/>
          </p:cNvSpPr>
          <p:nvPr/>
        </p:nvSpPr>
        <p:spPr>
          <a:xfrm>
            <a:off x="9105900" y="1203960"/>
            <a:ext cx="350520" cy="350520"/>
          </a:xfrm>
          <a:prstGeom prst="ellipse">
            <a:avLst/>
          </a:prstGeom>
          <a:solidFill>
            <a:srgbClr val="FFFFFF"/>
          </a:solidFill>
          <a:ln w="14288">
            <a:solidFill>
              <a:srgbClr val="EF7D00"/>
            </a:solidFill>
            <a:prstDash val="solid"/>
          </a:ln>
        </p:spPr>
        <p:txBody>
          <a:bodyPr anchor="ctr"/>
          <a:lstStyle/>
          <a:p>
            <a:pPr algn="ctr">
              <a:defRPr sz="1200" b="1">
                <a:solidFill>
                  <a:srgbClr val="EF7D00"/>
                </a:solidFill>
              </a:defRPr>
            </a:pPr>
            <a:r>
              <a:rPr sz="960" b="1">
                <a:solidFill>
                  <a:srgbClr val="EF7D00"/>
                </a:solidFill>
              </a:rPr>
              <a:t>4</a:t>
            </a:r>
          </a:p>
        </p:txBody>
      </p:sp>
      <p:sp>
        <p:nvSpPr>
          <p:cNvPr id="14" name="Rectangle 13">
            <a:extLst>
              <a:ext uri="{FF2B5EF4-FFF2-40B4-BE49-F238E27FC236}">
                <a16:creationId xmlns:a16="http://schemas.microsoft.com/office/drawing/2014/main" id="{9BE593CB-DB93-4869-B2FA-861E05AB9ACC}"/>
              </a:ext>
            </a:extLst>
          </p:cNvPr>
          <p:cNvSpPr>
            <a:spLocks noGrp="1"/>
          </p:cNvSpPr>
          <p:nvPr/>
        </p:nvSpPr>
        <p:spPr>
          <a:xfrm>
            <a:off x="9547860" y="1234440"/>
            <a:ext cx="1828800" cy="190500"/>
          </a:xfrm>
          <a:prstGeom prst="rect">
            <a:avLst/>
          </a:prstGeom>
          <a:noFill/>
          <a:ln w="0">
            <a:noFill/>
            <a:prstDash val="solid"/>
          </a:ln>
        </p:spPr>
        <p:txBody>
          <a:bodyPr anchor="t">
            <a:noAutofit/>
          </a:bodyPr>
          <a:lstStyle/>
          <a:p>
            <a:pPr algn="l">
              <a:lnSpc>
                <a:spcPct val="108000"/>
              </a:lnSpc>
              <a:buNone/>
              <a:defRPr sz="1050" b="1" i="0">
                <a:solidFill>
                  <a:srgbClr val="777777"/>
                </a:solidFill>
                <a:latin typeface="Aptos"/>
                <a:ea typeface="Aptos"/>
                <a:cs typeface="Aptos"/>
              </a:defRPr>
            </a:pPr>
            <a:r>
              <a:rPr sz="840" b="1">
                <a:solidFill>
                  <a:srgbClr val="777777"/>
                </a:solidFill>
                <a:latin typeface="Aptos"/>
                <a:ea typeface="Aptos"/>
                <a:cs typeface="Aptos"/>
              </a:rPr>
              <a:t>BUSINESS INFRASTRUCTURE</a:t>
            </a:r>
          </a:p>
        </p:txBody>
      </p:sp>
      <p:sp>
        <p:nvSpPr>
          <p:cNvPr id="15" name="Straight Connector 14">
            <a:extLst>
              <a:ext uri="{FF2B5EF4-FFF2-40B4-BE49-F238E27FC236}">
                <a16:creationId xmlns:a16="http://schemas.microsoft.com/office/drawing/2014/main" id="{D3920D28-C96E-4B36-B827-73AB43FE4B16}"/>
              </a:ext>
            </a:extLst>
          </p:cNvPr>
          <p:cNvSpPr>
            <a:spLocks noGrp="1"/>
          </p:cNvSpPr>
          <p:nvPr/>
        </p:nvSpPr>
        <p:spPr>
          <a:xfrm>
            <a:off x="2628900" y="1379220"/>
            <a:ext cx="723900" cy="0"/>
          </a:xfrm>
          <a:prstGeom prst="line">
            <a:avLst/>
          </a:prstGeom>
          <a:noFill/>
          <a:ln w="14288">
            <a:solidFill>
              <a:srgbClr val="B9B9B9"/>
            </a:solidFill>
            <a:prstDash val="solid"/>
          </a:ln>
        </p:spPr>
        <p:txBody>
          <a:bodyPr/>
          <a:lstStyle/>
          <a:p>
            <a:endParaRPr lang="en-US" sz="1440"/>
          </a:p>
        </p:txBody>
      </p:sp>
      <p:sp>
        <p:nvSpPr>
          <p:cNvPr id="16" name="Oval 15">
            <a:extLst>
              <a:ext uri="{FF2B5EF4-FFF2-40B4-BE49-F238E27FC236}">
                <a16:creationId xmlns:a16="http://schemas.microsoft.com/office/drawing/2014/main" id="{9808048B-66AA-4630-B4EB-BC8AA4BF4E89}"/>
              </a:ext>
            </a:extLst>
          </p:cNvPr>
          <p:cNvSpPr>
            <a:spLocks noGrp="1"/>
          </p:cNvSpPr>
          <p:nvPr/>
        </p:nvSpPr>
        <p:spPr>
          <a:xfrm>
            <a:off x="647700" y="1203960"/>
            <a:ext cx="350520" cy="350520"/>
          </a:xfrm>
          <a:prstGeom prst="ellipse">
            <a:avLst/>
          </a:prstGeom>
          <a:solidFill>
            <a:srgbClr val="FFFFFF"/>
          </a:solidFill>
          <a:ln w="14288">
            <a:solidFill>
              <a:srgbClr val="1484D6"/>
            </a:solidFill>
            <a:prstDash val="solid"/>
          </a:ln>
        </p:spPr>
        <p:txBody>
          <a:bodyPr anchor="ctr"/>
          <a:lstStyle/>
          <a:p>
            <a:pPr algn="ctr">
              <a:defRPr sz="1200" b="1">
                <a:solidFill>
                  <a:srgbClr val="1484D6"/>
                </a:solidFill>
              </a:defRPr>
            </a:pPr>
            <a:r>
              <a:rPr sz="960" b="1">
                <a:solidFill>
                  <a:srgbClr val="1484D6"/>
                </a:solidFill>
              </a:rPr>
              <a:t>1</a:t>
            </a:r>
          </a:p>
        </p:txBody>
      </p:sp>
      <p:sp>
        <p:nvSpPr>
          <p:cNvPr id="17" name="Rectangle 16">
            <a:extLst>
              <a:ext uri="{FF2B5EF4-FFF2-40B4-BE49-F238E27FC236}">
                <a16:creationId xmlns:a16="http://schemas.microsoft.com/office/drawing/2014/main" id="{A64FA0F7-81C4-4361-885D-FA3383129EB8}"/>
              </a:ext>
            </a:extLst>
          </p:cNvPr>
          <p:cNvSpPr>
            <a:spLocks noGrp="1"/>
          </p:cNvSpPr>
          <p:nvPr/>
        </p:nvSpPr>
        <p:spPr>
          <a:xfrm>
            <a:off x="1089660" y="1234440"/>
            <a:ext cx="1828800" cy="190500"/>
          </a:xfrm>
          <a:prstGeom prst="rect">
            <a:avLst/>
          </a:prstGeom>
          <a:noFill/>
          <a:ln w="0">
            <a:noFill/>
            <a:prstDash val="solid"/>
          </a:ln>
        </p:spPr>
        <p:txBody>
          <a:bodyPr anchor="t">
            <a:noAutofit/>
          </a:bodyPr>
          <a:lstStyle/>
          <a:p>
            <a:pPr algn="l">
              <a:lnSpc>
                <a:spcPct val="108000"/>
              </a:lnSpc>
              <a:buNone/>
              <a:defRPr sz="1050" b="1" i="0">
                <a:solidFill>
                  <a:srgbClr val="777777"/>
                </a:solidFill>
                <a:latin typeface="Aptos"/>
                <a:ea typeface="Aptos"/>
                <a:cs typeface="Aptos"/>
              </a:defRPr>
            </a:pPr>
            <a:r>
              <a:rPr sz="840" b="1">
                <a:solidFill>
                  <a:srgbClr val="777777"/>
                </a:solidFill>
                <a:latin typeface="Aptos"/>
                <a:ea typeface="Aptos"/>
                <a:cs typeface="Aptos"/>
              </a:rPr>
              <a:t>BUSINESS NEEDS</a:t>
            </a:r>
          </a:p>
        </p:txBody>
      </p:sp>
      <p:sp>
        <p:nvSpPr>
          <p:cNvPr id="18" name="Straight Connector 17">
            <a:extLst>
              <a:ext uri="{FF2B5EF4-FFF2-40B4-BE49-F238E27FC236}">
                <a16:creationId xmlns:a16="http://schemas.microsoft.com/office/drawing/2014/main" id="{378AF80B-E374-481D-B277-71E8A8B1F85B}"/>
              </a:ext>
            </a:extLst>
          </p:cNvPr>
          <p:cNvSpPr>
            <a:spLocks noGrp="1"/>
          </p:cNvSpPr>
          <p:nvPr/>
        </p:nvSpPr>
        <p:spPr>
          <a:xfrm>
            <a:off x="5448300" y="1379220"/>
            <a:ext cx="723900" cy="0"/>
          </a:xfrm>
          <a:prstGeom prst="line">
            <a:avLst/>
          </a:prstGeom>
          <a:noFill/>
          <a:ln w="14288">
            <a:solidFill>
              <a:srgbClr val="B9B9B9"/>
            </a:solidFill>
            <a:prstDash val="solid"/>
          </a:ln>
        </p:spPr>
        <p:txBody>
          <a:bodyPr/>
          <a:lstStyle/>
          <a:p>
            <a:endParaRPr lang="en-US" sz="1440"/>
          </a:p>
        </p:txBody>
      </p:sp>
      <p:sp>
        <p:nvSpPr>
          <p:cNvPr id="19" name="Oval 18">
            <a:extLst>
              <a:ext uri="{FF2B5EF4-FFF2-40B4-BE49-F238E27FC236}">
                <a16:creationId xmlns:a16="http://schemas.microsoft.com/office/drawing/2014/main" id="{233E91CC-3BFD-47CC-B7E7-E0531CB0E8F5}"/>
              </a:ext>
            </a:extLst>
          </p:cNvPr>
          <p:cNvSpPr>
            <a:spLocks noGrp="1"/>
          </p:cNvSpPr>
          <p:nvPr/>
        </p:nvSpPr>
        <p:spPr>
          <a:xfrm>
            <a:off x="3467100" y="1203960"/>
            <a:ext cx="350520" cy="350520"/>
          </a:xfrm>
          <a:prstGeom prst="ellipse">
            <a:avLst/>
          </a:prstGeom>
          <a:solidFill>
            <a:srgbClr val="9552D0"/>
          </a:solidFill>
          <a:ln w="14288">
            <a:solidFill>
              <a:srgbClr val="9552D0"/>
            </a:solidFill>
            <a:prstDash val="solid"/>
          </a:ln>
        </p:spPr>
        <p:txBody>
          <a:bodyPr anchor="ctr"/>
          <a:lstStyle/>
          <a:p>
            <a:pPr algn="ctr">
              <a:defRPr sz="1200" b="1">
                <a:solidFill>
                  <a:srgbClr val="FFFFFF"/>
                </a:solidFill>
              </a:defRPr>
            </a:pPr>
            <a:r>
              <a:rPr sz="960" b="1">
                <a:solidFill>
                  <a:srgbClr val="FFFFFF"/>
                </a:solidFill>
              </a:rPr>
              <a:t>2</a:t>
            </a:r>
          </a:p>
        </p:txBody>
      </p:sp>
      <p:sp>
        <p:nvSpPr>
          <p:cNvPr id="20" name="Rectangle 19">
            <a:extLst>
              <a:ext uri="{FF2B5EF4-FFF2-40B4-BE49-F238E27FC236}">
                <a16:creationId xmlns:a16="http://schemas.microsoft.com/office/drawing/2014/main" id="{4F91D699-D6AF-4F14-A507-64999C26A909}"/>
              </a:ext>
            </a:extLst>
          </p:cNvPr>
          <p:cNvSpPr>
            <a:spLocks noGrp="1"/>
          </p:cNvSpPr>
          <p:nvPr/>
        </p:nvSpPr>
        <p:spPr>
          <a:xfrm>
            <a:off x="3909060" y="1234440"/>
            <a:ext cx="1828800" cy="190500"/>
          </a:xfrm>
          <a:prstGeom prst="rect">
            <a:avLst/>
          </a:prstGeom>
          <a:noFill/>
          <a:ln w="0">
            <a:noFill/>
            <a:prstDash val="solid"/>
          </a:ln>
        </p:spPr>
        <p:txBody>
          <a:bodyPr anchor="t">
            <a:noAutofit/>
          </a:bodyPr>
          <a:lstStyle/>
          <a:p>
            <a:pPr algn="l">
              <a:lnSpc>
                <a:spcPct val="108000"/>
              </a:lnSpc>
              <a:buNone/>
              <a:defRPr sz="1050" b="1" i="0">
                <a:solidFill>
                  <a:srgbClr val="9552D0"/>
                </a:solidFill>
                <a:latin typeface="Aptos"/>
                <a:ea typeface="Aptos"/>
                <a:cs typeface="Aptos"/>
              </a:defRPr>
            </a:pPr>
            <a:r>
              <a:rPr sz="840" b="1">
                <a:solidFill>
                  <a:srgbClr val="9552D0"/>
                </a:solidFill>
                <a:latin typeface="Aptos"/>
                <a:ea typeface="Aptos"/>
                <a:cs typeface="Aptos"/>
              </a:rPr>
              <a:t>DATA PROCESSING</a:t>
            </a:r>
          </a:p>
        </p:txBody>
      </p:sp>
      <p:sp>
        <p:nvSpPr>
          <p:cNvPr id="21" name="Straight Connector 20">
            <a:extLst>
              <a:ext uri="{FF2B5EF4-FFF2-40B4-BE49-F238E27FC236}">
                <a16:creationId xmlns:a16="http://schemas.microsoft.com/office/drawing/2014/main" id="{E405C0DD-E0F7-4243-B22D-49C95D407481}"/>
              </a:ext>
            </a:extLst>
          </p:cNvPr>
          <p:cNvSpPr>
            <a:spLocks noGrp="1"/>
          </p:cNvSpPr>
          <p:nvPr/>
        </p:nvSpPr>
        <p:spPr>
          <a:xfrm>
            <a:off x="8267700" y="1379220"/>
            <a:ext cx="723900" cy="0"/>
          </a:xfrm>
          <a:prstGeom prst="line">
            <a:avLst/>
          </a:prstGeom>
          <a:noFill/>
          <a:ln w="14288">
            <a:solidFill>
              <a:srgbClr val="B9B9B9"/>
            </a:solidFill>
            <a:prstDash val="solid"/>
          </a:ln>
        </p:spPr>
        <p:txBody>
          <a:bodyPr/>
          <a:lstStyle/>
          <a:p>
            <a:endParaRPr lang="en-US" sz="1440"/>
          </a:p>
        </p:txBody>
      </p:sp>
      <p:sp>
        <p:nvSpPr>
          <p:cNvPr id="22" name="Oval 21">
            <a:extLst>
              <a:ext uri="{FF2B5EF4-FFF2-40B4-BE49-F238E27FC236}">
                <a16:creationId xmlns:a16="http://schemas.microsoft.com/office/drawing/2014/main" id="{2478BB49-662A-4D5A-A832-8E98EC44D3D1}"/>
              </a:ext>
            </a:extLst>
          </p:cNvPr>
          <p:cNvSpPr>
            <a:spLocks noGrp="1"/>
          </p:cNvSpPr>
          <p:nvPr/>
        </p:nvSpPr>
        <p:spPr>
          <a:xfrm>
            <a:off x="6286500" y="1203960"/>
            <a:ext cx="350520" cy="350520"/>
          </a:xfrm>
          <a:prstGeom prst="ellipse">
            <a:avLst/>
          </a:prstGeom>
          <a:solidFill>
            <a:srgbClr val="FFFFFF"/>
          </a:solidFill>
          <a:ln w="14288">
            <a:solidFill>
              <a:srgbClr val="00A870"/>
            </a:solidFill>
            <a:prstDash val="solid"/>
          </a:ln>
        </p:spPr>
        <p:txBody>
          <a:bodyPr anchor="ctr"/>
          <a:lstStyle/>
          <a:p>
            <a:pPr algn="ctr">
              <a:defRPr sz="1200" b="1">
                <a:solidFill>
                  <a:srgbClr val="00A870"/>
                </a:solidFill>
              </a:defRPr>
            </a:pPr>
            <a:r>
              <a:rPr sz="960" b="1">
                <a:solidFill>
                  <a:srgbClr val="00A870"/>
                </a:solidFill>
              </a:rPr>
              <a:t>3</a:t>
            </a:r>
          </a:p>
        </p:txBody>
      </p:sp>
      <p:sp>
        <p:nvSpPr>
          <p:cNvPr id="23" name="Rectangle 22">
            <a:extLst>
              <a:ext uri="{FF2B5EF4-FFF2-40B4-BE49-F238E27FC236}">
                <a16:creationId xmlns:a16="http://schemas.microsoft.com/office/drawing/2014/main" id="{7F823899-3752-448F-852F-92F06A2195DC}"/>
              </a:ext>
            </a:extLst>
          </p:cNvPr>
          <p:cNvSpPr>
            <a:spLocks noGrp="1"/>
          </p:cNvSpPr>
          <p:nvPr/>
        </p:nvSpPr>
        <p:spPr>
          <a:xfrm>
            <a:off x="6728460" y="1234440"/>
            <a:ext cx="1828800" cy="190500"/>
          </a:xfrm>
          <a:prstGeom prst="rect">
            <a:avLst/>
          </a:prstGeom>
          <a:noFill/>
          <a:ln w="0">
            <a:noFill/>
            <a:prstDash val="solid"/>
          </a:ln>
        </p:spPr>
        <p:txBody>
          <a:bodyPr anchor="t">
            <a:noAutofit/>
          </a:bodyPr>
          <a:lstStyle/>
          <a:p>
            <a:pPr algn="l">
              <a:lnSpc>
                <a:spcPct val="108000"/>
              </a:lnSpc>
              <a:buNone/>
              <a:defRPr sz="1050" b="1" i="0">
                <a:solidFill>
                  <a:srgbClr val="777777"/>
                </a:solidFill>
                <a:latin typeface="Aptos"/>
                <a:ea typeface="Aptos"/>
                <a:cs typeface="Aptos"/>
              </a:defRPr>
            </a:pPr>
            <a:r>
              <a:rPr sz="840" b="1">
                <a:solidFill>
                  <a:srgbClr val="777777"/>
                </a:solidFill>
                <a:latin typeface="Aptos"/>
                <a:ea typeface="Aptos"/>
                <a:cs typeface="Aptos"/>
              </a:rPr>
              <a:t>DATA MODELLING</a:t>
            </a:r>
          </a:p>
        </p:txBody>
      </p:sp>
      <p:sp>
        <p:nvSpPr>
          <p:cNvPr id="24" name="Oval 23">
            <a:extLst>
              <a:ext uri="{FF2B5EF4-FFF2-40B4-BE49-F238E27FC236}">
                <a16:creationId xmlns:a16="http://schemas.microsoft.com/office/drawing/2014/main" id="{005FFAC8-6285-4A15-B749-B18ED8962051}"/>
              </a:ext>
            </a:extLst>
          </p:cNvPr>
          <p:cNvSpPr>
            <a:spLocks noGrp="1"/>
          </p:cNvSpPr>
          <p:nvPr/>
        </p:nvSpPr>
        <p:spPr>
          <a:xfrm>
            <a:off x="9105900" y="1203960"/>
            <a:ext cx="350520" cy="350520"/>
          </a:xfrm>
          <a:prstGeom prst="ellipse">
            <a:avLst/>
          </a:prstGeom>
          <a:solidFill>
            <a:srgbClr val="FFFFFF"/>
          </a:solidFill>
          <a:ln w="14288">
            <a:solidFill>
              <a:srgbClr val="EF7D00"/>
            </a:solidFill>
            <a:prstDash val="solid"/>
          </a:ln>
        </p:spPr>
        <p:txBody>
          <a:bodyPr anchor="ctr"/>
          <a:lstStyle/>
          <a:p>
            <a:pPr algn="ctr">
              <a:defRPr sz="1200" b="1">
                <a:solidFill>
                  <a:srgbClr val="EF7D00"/>
                </a:solidFill>
              </a:defRPr>
            </a:pPr>
            <a:r>
              <a:rPr sz="960" b="1">
                <a:solidFill>
                  <a:srgbClr val="EF7D00"/>
                </a:solidFill>
              </a:rPr>
              <a:t>4</a:t>
            </a:r>
          </a:p>
        </p:txBody>
      </p:sp>
      <p:sp>
        <p:nvSpPr>
          <p:cNvPr id="25" name="Rectangle 24">
            <a:extLst>
              <a:ext uri="{FF2B5EF4-FFF2-40B4-BE49-F238E27FC236}">
                <a16:creationId xmlns:a16="http://schemas.microsoft.com/office/drawing/2014/main" id="{83AC2E34-CF6F-47CA-8DDF-0ACA8BD9F46C}"/>
              </a:ext>
            </a:extLst>
          </p:cNvPr>
          <p:cNvSpPr>
            <a:spLocks noGrp="1"/>
          </p:cNvSpPr>
          <p:nvPr/>
        </p:nvSpPr>
        <p:spPr>
          <a:xfrm>
            <a:off x="9547860" y="1234440"/>
            <a:ext cx="1828800" cy="190500"/>
          </a:xfrm>
          <a:prstGeom prst="rect">
            <a:avLst/>
          </a:prstGeom>
          <a:noFill/>
          <a:ln w="0">
            <a:noFill/>
            <a:prstDash val="solid"/>
          </a:ln>
        </p:spPr>
        <p:txBody>
          <a:bodyPr anchor="t">
            <a:noAutofit/>
          </a:bodyPr>
          <a:lstStyle/>
          <a:p>
            <a:pPr algn="l">
              <a:lnSpc>
                <a:spcPct val="108000"/>
              </a:lnSpc>
              <a:buNone/>
              <a:defRPr sz="1050" b="1" i="0">
                <a:solidFill>
                  <a:srgbClr val="777777"/>
                </a:solidFill>
                <a:latin typeface="Aptos"/>
                <a:ea typeface="Aptos"/>
                <a:cs typeface="Aptos"/>
              </a:defRPr>
            </a:pPr>
            <a:r>
              <a:rPr sz="840" b="1">
                <a:solidFill>
                  <a:srgbClr val="777777"/>
                </a:solidFill>
                <a:latin typeface="Aptos"/>
                <a:ea typeface="Aptos"/>
                <a:cs typeface="Aptos"/>
              </a:rPr>
              <a:t>BUSINESS INFRASTRUCTURE</a:t>
            </a:r>
          </a:p>
        </p:txBody>
      </p:sp>
      <p:sp>
        <p:nvSpPr>
          <p:cNvPr id="26" name="Straight Connector 25">
            <a:extLst>
              <a:ext uri="{FF2B5EF4-FFF2-40B4-BE49-F238E27FC236}">
                <a16:creationId xmlns:a16="http://schemas.microsoft.com/office/drawing/2014/main" id="{736167D8-52B7-447E-AE37-986E048EEDE2}"/>
              </a:ext>
            </a:extLst>
          </p:cNvPr>
          <p:cNvSpPr>
            <a:spLocks noGrp="1"/>
          </p:cNvSpPr>
          <p:nvPr/>
        </p:nvSpPr>
        <p:spPr>
          <a:xfrm>
            <a:off x="2667000" y="2971800"/>
            <a:ext cx="1828800" cy="0"/>
          </a:xfrm>
          <a:prstGeom prst="line">
            <a:avLst/>
          </a:prstGeom>
          <a:noFill/>
          <a:ln w="19050">
            <a:solidFill>
              <a:srgbClr val="B9B9B9"/>
            </a:solidFill>
            <a:prstDash val="solid"/>
          </a:ln>
        </p:spPr>
        <p:txBody>
          <a:bodyPr/>
          <a:lstStyle/>
          <a:p>
            <a:endParaRPr lang="en-US" sz="1440"/>
          </a:p>
        </p:txBody>
      </p:sp>
      <p:sp>
        <p:nvSpPr>
          <p:cNvPr id="27" name="Straight Connector 26">
            <a:extLst>
              <a:ext uri="{FF2B5EF4-FFF2-40B4-BE49-F238E27FC236}">
                <a16:creationId xmlns:a16="http://schemas.microsoft.com/office/drawing/2014/main" id="{516002E0-F6B2-41C0-8D17-93A36B198781}"/>
              </a:ext>
            </a:extLst>
          </p:cNvPr>
          <p:cNvSpPr>
            <a:spLocks noGrp="1"/>
          </p:cNvSpPr>
          <p:nvPr/>
        </p:nvSpPr>
        <p:spPr>
          <a:xfrm>
            <a:off x="6324600" y="2971800"/>
            <a:ext cx="1828800" cy="0"/>
          </a:xfrm>
          <a:prstGeom prst="line">
            <a:avLst/>
          </a:prstGeom>
          <a:noFill/>
          <a:ln w="19050">
            <a:solidFill>
              <a:srgbClr val="B9B9B9"/>
            </a:solidFill>
            <a:prstDash val="solid"/>
          </a:ln>
        </p:spPr>
        <p:txBody>
          <a:bodyPr/>
          <a:lstStyle/>
          <a:p>
            <a:endParaRPr lang="en-US" sz="1440"/>
          </a:p>
        </p:txBody>
      </p:sp>
      <p:sp>
        <p:nvSpPr>
          <p:cNvPr id="28" name="Rounded Rectangle 27">
            <a:extLst>
              <a:ext uri="{FF2B5EF4-FFF2-40B4-BE49-F238E27FC236}">
                <a16:creationId xmlns:a16="http://schemas.microsoft.com/office/drawing/2014/main" id="{C7ABA299-2181-468C-835E-5BF98AE17971}"/>
              </a:ext>
            </a:extLst>
          </p:cNvPr>
          <p:cNvSpPr>
            <a:spLocks noGrp="1"/>
          </p:cNvSpPr>
          <p:nvPr/>
        </p:nvSpPr>
        <p:spPr>
          <a:xfrm>
            <a:off x="685800" y="2057400"/>
            <a:ext cx="1981200" cy="1866900"/>
          </a:xfrm>
          <a:prstGeom prst="roundRect">
            <a:avLst>
              <a:gd name="adj" fmla="val 6531"/>
            </a:avLst>
          </a:prstGeom>
          <a:solidFill>
            <a:srgbClr val="F5EEFC"/>
          </a:solidFill>
          <a:ln w="19050">
            <a:solidFill>
              <a:srgbClr val="9552D0"/>
            </a:solidFill>
            <a:prstDash val="solid"/>
          </a:ln>
        </p:spPr>
        <p:txBody>
          <a:bodyPr/>
          <a:lstStyle/>
          <a:p>
            <a:endParaRPr lang="en-US" sz="1440"/>
          </a:p>
        </p:txBody>
      </p:sp>
      <p:sp>
        <p:nvSpPr>
          <p:cNvPr id="29" name="Rectangle 28">
            <a:extLst>
              <a:ext uri="{FF2B5EF4-FFF2-40B4-BE49-F238E27FC236}">
                <a16:creationId xmlns:a16="http://schemas.microsoft.com/office/drawing/2014/main" id="{487FCACB-7F68-4066-9143-C2ECFEDA8D1C}"/>
              </a:ext>
            </a:extLst>
          </p:cNvPr>
          <p:cNvSpPr>
            <a:spLocks noGrp="1"/>
          </p:cNvSpPr>
          <p:nvPr/>
        </p:nvSpPr>
        <p:spPr>
          <a:xfrm>
            <a:off x="899160" y="2202180"/>
            <a:ext cx="1554480" cy="160020"/>
          </a:xfrm>
          <a:prstGeom prst="rect">
            <a:avLst/>
          </a:prstGeom>
          <a:noFill/>
          <a:ln w="0">
            <a:noFill/>
            <a:prstDash val="solid"/>
          </a:ln>
        </p:spPr>
        <p:txBody>
          <a:bodyPr anchor="t">
            <a:noAutofit/>
          </a:bodyPr>
          <a:lstStyle/>
          <a:p>
            <a:pPr algn="l">
              <a:lnSpc>
                <a:spcPct val="108000"/>
              </a:lnSpc>
              <a:buNone/>
              <a:defRPr sz="975" b="1" i="0">
                <a:solidFill>
                  <a:srgbClr val="9552D0"/>
                </a:solidFill>
                <a:latin typeface="Aptos"/>
                <a:ea typeface="Aptos"/>
                <a:cs typeface="Aptos"/>
              </a:defRPr>
            </a:pPr>
            <a:r>
              <a:rPr sz="780" b="1">
                <a:solidFill>
                  <a:srgbClr val="9552D0"/>
                </a:solidFill>
                <a:latin typeface="Aptos"/>
                <a:ea typeface="Aptos"/>
                <a:cs typeface="Aptos"/>
              </a:rPr>
              <a:t>SOURCE</a:t>
            </a:r>
          </a:p>
        </p:txBody>
      </p:sp>
      <p:sp>
        <p:nvSpPr>
          <p:cNvPr id="30" name="Rectangle 29">
            <a:extLst>
              <a:ext uri="{FF2B5EF4-FFF2-40B4-BE49-F238E27FC236}">
                <a16:creationId xmlns:a16="http://schemas.microsoft.com/office/drawing/2014/main" id="{3A0E5CEE-670D-4747-9683-CCB6547B7965}"/>
              </a:ext>
            </a:extLst>
          </p:cNvPr>
          <p:cNvSpPr>
            <a:spLocks noGrp="1"/>
          </p:cNvSpPr>
          <p:nvPr/>
        </p:nvSpPr>
        <p:spPr>
          <a:xfrm>
            <a:off x="899160" y="2400300"/>
            <a:ext cx="1554480" cy="441960"/>
          </a:xfrm>
          <a:prstGeom prst="rect">
            <a:avLst/>
          </a:prstGeom>
          <a:noFill/>
          <a:ln w="0">
            <a:noFill/>
            <a:prstDash val="solid"/>
          </a:ln>
        </p:spPr>
        <p:txBody>
          <a:bodyPr anchor="ctr">
            <a:normAutofit/>
          </a:bodyPr>
          <a:lstStyle/>
          <a:p>
            <a:pPr algn="l">
              <a:lnSpc>
                <a:spcPct val="108000"/>
              </a:lnSpc>
              <a:buNone/>
              <a:defRPr sz="1500" b="1" i="0">
                <a:solidFill>
                  <a:srgbClr val="111111"/>
                </a:solidFill>
                <a:latin typeface="Georgia"/>
                <a:ea typeface="Georgia"/>
                <a:cs typeface="Georgia"/>
              </a:defRPr>
            </a:pPr>
            <a:r>
              <a:rPr sz="1200" b="1">
                <a:solidFill>
                  <a:srgbClr val="111111"/>
                </a:solidFill>
                <a:latin typeface="Georgia"/>
                <a:ea typeface="Georgia"/>
                <a:cs typeface="Georgia"/>
              </a:rPr>
              <a:t>ICU stays</a:t>
            </a:r>
          </a:p>
        </p:txBody>
      </p:sp>
      <p:sp>
        <p:nvSpPr>
          <p:cNvPr id="31" name="Rectangle 30">
            <a:extLst>
              <a:ext uri="{FF2B5EF4-FFF2-40B4-BE49-F238E27FC236}">
                <a16:creationId xmlns:a16="http://schemas.microsoft.com/office/drawing/2014/main" id="{C7B930D4-E19C-4672-91C4-F5ECFC818623}"/>
              </a:ext>
            </a:extLst>
          </p:cNvPr>
          <p:cNvSpPr>
            <a:spLocks noGrp="1"/>
          </p:cNvSpPr>
          <p:nvPr/>
        </p:nvSpPr>
        <p:spPr>
          <a:xfrm>
            <a:off x="899160" y="2910840"/>
            <a:ext cx="1554480" cy="876300"/>
          </a:xfrm>
          <a:prstGeom prst="rect">
            <a:avLst/>
          </a:prstGeom>
          <a:noFill/>
          <a:ln w="0">
            <a:noFill/>
            <a:prstDash val="solid"/>
          </a:ln>
        </p:spPr>
        <p:txBody>
          <a:bodyPr anchor="t">
            <a:normAutofit/>
          </a:bodyPr>
          <a:lstStyle/>
          <a:p>
            <a:pPr algn="l">
              <a:lnSpc>
                <a:spcPct val="115000"/>
              </a:lnSpc>
              <a:buNone/>
              <a:defRPr sz="1425" b="0" i="0">
                <a:solidFill>
                  <a:srgbClr val="5A5A5A"/>
                </a:solidFill>
                <a:latin typeface="Aptos"/>
                <a:ea typeface="Aptos"/>
                <a:cs typeface="Aptos"/>
              </a:defRPr>
            </a:pPr>
            <a:r>
              <a:rPr sz="1140">
                <a:solidFill>
                  <a:srgbClr val="5A5A5A"/>
                </a:solidFill>
                <a:latin typeface="Aptos"/>
                <a:ea typeface="Aptos"/>
                <a:cs typeface="Aptos"/>
              </a:rPr>
              <a:t>MIMIC-IV v3.1 critical-care records.</a:t>
            </a:r>
          </a:p>
        </p:txBody>
      </p:sp>
      <p:sp>
        <p:nvSpPr>
          <p:cNvPr id="32" name="Rounded Rectangle 31">
            <a:extLst>
              <a:ext uri="{FF2B5EF4-FFF2-40B4-BE49-F238E27FC236}">
                <a16:creationId xmlns:a16="http://schemas.microsoft.com/office/drawing/2014/main" id="{43AFA991-3CA1-4057-A939-A96F3573687B}"/>
              </a:ext>
            </a:extLst>
          </p:cNvPr>
          <p:cNvSpPr>
            <a:spLocks noGrp="1"/>
          </p:cNvSpPr>
          <p:nvPr/>
        </p:nvSpPr>
        <p:spPr>
          <a:xfrm>
            <a:off x="3581400" y="1905000"/>
            <a:ext cx="2743200" cy="2171700"/>
          </a:xfrm>
          <a:prstGeom prst="roundRect">
            <a:avLst>
              <a:gd name="adj" fmla="val 5614"/>
            </a:avLst>
          </a:prstGeom>
          <a:solidFill>
            <a:srgbClr val="FFFFFF"/>
          </a:solidFill>
          <a:ln w="19050">
            <a:solidFill>
              <a:srgbClr val="9552D0"/>
            </a:solidFill>
            <a:prstDash val="solid"/>
          </a:ln>
        </p:spPr>
        <p:txBody>
          <a:bodyPr/>
          <a:lstStyle/>
          <a:p>
            <a:endParaRPr lang="en-US" sz="1440"/>
          </a:p>
        </p:txBody>
      </p:sp>
      <p:sp>
        <p:nvSpPr>
          <p:cNvPr id="33" name="Rectangle 32">
            <a:extLst>
              <a:ext uri="{FF2B5EF4-FFF2-40B4-BE49-F238E27FC236}">
                <a16:creationId xmlns:a16="http://schemas.microsoft.com/office/drawing/2014/main" id="{4833B184-DA4A-4D95-A1D1-FD6F3D6865AB}"/>
              </a:ext>
            </a:extLst>
          </p:cNvPr>
          <p:cNvSpPr>
            <a:spLocks noGrp="1"/>
          </p:cNvSpPr>
          <p:nvPr/>
        </p:nvSpPr>
        <p:spPr>
          <a:xfrm>
            <a:off x="3794760" y="2049780"/>
            <a:ext cx="2316480" cy="160020"/>
          </a:xfrm>
          <a:prstGeom prst="rect">
            <a:avLst/>
          </a:prstGeom>
          <a:noFill/>
          <a:ln w="0">
            <a:noFill/>
            <a:prstDash val="solid"/>
          </a:ln>
        </p:spPr>
        <p:txBody>
          <a:bodyPr anchor="t">
            <a:noAutofit/>
          </a:bodyPr>
          <a:lstStyle/>
          <a:p>
            <a:pPr algn="l">
              <a:lnSpc>
                <a:spcPct val="108000"/>
              </a:lnSpc>
              <a:buNone/>
              <a:defRPr sz="975" b="1" i="0">
                <a:solidFill>
                  <a:srgbClr val="9552D0"/>
                </a:solidFill>
                <a:latin typeface="Aptos"/>
                <a:ea typeface="Aptos"/>
                <a:cs typeface="Aptos"/>
              </a:defRPr>
            </a:pPr>
            <a:r>
              <a:rPr sz="780" b="1">
                <a:solidFill>
                  <a:srgbClr val="9552D0"/>
                </a:solidFill>
                <a:latin typeface="Aptos"/>
                <a:ea typeface="Aptos"/>
                <a:cs typeface="Aptos"/>
              </a:rPr>
              <a:t>COHORT RULES</a:t>
            </a:r>
          </a:p>
        </p:txBody>
      </p:sp>
      <p:sp>
        <p:nvSpPr>
          <p:cNvPr id="34" name="Rectangle 33">
            <a:extLst>
              <a:ext uri="{FF2B5EF4-FFF2-40B4-BE49-F238E27FC236}">
                <a16:creationId xmlns:a16="http://schemas.microsoft.com/office/drawing/2014/main" id="{D3F859FF-25AC-4A4D-8CBF-CF28F4B75F08}"/>
              </a:ext>
            </a:extLst>
          </p:cNvPr>
          <p:cNvSpPr>
            <a:spLocks noGrp="1"/>
          </p:cNvSpPr>
          <p:nvPr/>
        </p:nvSpPr>
        <p:spPr>
          <a:xfrm>
            <a:off x="3794760" y="2247900"/>
            <a:ext cx="2316480" cy="441960"/>
          </a:xfrm>
          <a:prstGeom prst="rect">
            <a:avLst/>
          </a:prstGeom>
          <a:noFill/>
          <a:ln w="0">
            <a:noFill/>
            <a:prstDash val="solid"/>
          </a:ln>
        </p:spPr>
        <p:txBody>
          <a:bodyPr anchor="ctr">
            <a:normAutofit/>
          </a:bodyPr>
          <a:lstStyle/>
          <a:p>
            <a:pPr algn="l">
              <a:lnSpc>
                <a:spcPct val="108000"/>
              </a:lnSpc>
              <a:buNone/>
              <a:defRPr sz="1800" b="1" i="0">
                <a:solidFill>
                  <a:srgbClr val="111111"/>
                </a:solidFill>
                <a:latin typeface="Georgia"/>
                <a:ea typeface="Georgia"/>
                <a:cs typeface="Georgia"/>
              </a:defRPr>
            </a:pPr>
            <a:r>
              <a:rPr sz="1440" b="1">
                <a:solidFill>
                  <a:srgbClr val="111111"/>
                </a:solidFill>
                <a:latin typeface="Georgia"/>
                <a:ea typeface="Georgia"/>
                <a:cs typeface="Georgia"/>
              </a:rPr>
              <a:t>Adult + ICU ≥24 hours</a:t>
            </a:r>
          </a:p>
        </p:txBody>
      </p:sp>
      <p:sp>
        <p:nvSpPr>
          <p:cNvPr id="35" name="Rectangle 34">
            <a:extLst>
              <a:ext uri="{FF2B5EF4-FFF2-40B4-BE49-F238E27FC236}">
                <a16:creationId xmlns:a16="http://schemas.microsoft.com/office/drawing/2014/main" id="{A87DC269-5BB6-4639-B696-0BAD496C1C5E}"/>
              </a:ext>
            </a:extLst>
          </p:cNvPr>
          <p:cNvSpPr>
            <a:spLocks noGrp="1"/>
          </p:cNvSpPr>
          <p:nvPr/>
        </p:nvSpPr>
        <p:spPr>
          <a:xfrm>
            <a:off x="3794760" y="2758440"/>
            <a:ext cx="2316480" cy="1181100"/>
          </a:xfrm>
          <a:prstGeom prst="rect">
            <a:avLst/>
          </a:prstGeom>
          <a:noFill/>
          <a:ln w="0">
            <a:noFill/>
            <a:prstDash val="solid"/>
          </a:ln>
        </p:spPr>
        <p:txBody>
          <a:bodyPr anchor="t">
            <a:normAutofit/>
          </a:bodyPr>
          <a:lstStyle/>
          <a:p>
            <a:pPr algn="l">
              <a:lnSpc>
                <a:spcPct val="115000"/>
              </a:lnSpc>
              <a:buNone/>
              <a:defRPr sz="1425" b="0" i="0">
                <a:solidFill>
                  <a:srgbClr val="5A5A5A"/>
                </a:solidFill>
                <a:latin typeface="Aptos"/>
                <a:ea typeface="Aptos"/>
                <a:cs typeface="Aptos"/>
              </a:defRPr>
            </a:pPr>
            <a:r>
              <a:rPr sz="1140">
                <a:solidFill>
                  <a:srgbClr val="5A5A5A"/>
                </a:solidFill>
                <a:latin typeface="Aptos"/>
                <a:ea typeface="Aptos"/>
                <a:cs typeface="Aptos"/>
              </a:rPr>
              <a:t>Age ≥18</a:t>
            </a:r>
          </a:p>
          <a:p>
            <a:pPr algn="l">
              <a:lnSpc>
                <a:spcPct val="115000"/>
              </a:lnSpc>
              <a:buNone/>
              <a:defRPr sz="1425" b="0" i="0">
                <a:solidFill>
                  <a:srgbClr val="5A5A5A"/>
                </a:solidFill>
                <a:latin typeface="Aptos"/>
                <a:ea typeface="Aptos"/>
                <a:cs typeface="Aptos"/>
              </a:defRPr>
            </a:pPr>
            <a:r>
              <a:rPr sz="1140">
                <a:solidFill>
                  <a:srgbClr val="5A5A5A"/>
                </a:solidFill>
                <a:latin typeface="Aptos"/>
                <a:ea typeface="Aptos"/>
                <a:cs typeface="Aptos"/>
              </a:rPr>
              <a:t>ICU length of stay ≥1.0 day</a:t>
            </a:r>
          </a:p>
          <a:p>
            <a:pPr algn="l">
              <a:lnSpc>
                <a:spcPct val="115000"/>
              </a:lnSpc>
              <a:buNone/>
              <a:defRPr sz="1425" b="0" i="0">
                <a:solidFill>
                  <a:srgbClr val="5A5A5A"/>
                </a:solidFill>
                <a:latin typeface="Aptos"/>
                <a:ea typeface="Aptos"/>
                <a:cs typeface="Aptos"/>
              </a:defRPr>
            </a:pPr>
            <a:r>
              <a:rPr sz="1140">
                <a:solidFill>
                  <a:srgbClr val="5A5A5A"/>
                </a:solidFill>
                <a:latin typeface="Aptos"/>
                <a:ea typeface="Aptos"/>
                <a:cs typeface="Aptos"/>
              </a:rPr>
              <a:t>Time anchored to ICU intime</a:t>
            </a:r>
          </a:p>
          <a:p>
            <a:endParaRPr sz="1140">
              <a:solidFill>
                <a:srgbClr val="5A5A5A"/>
              </a:solidFill>
              <a:latin typeface="Aptos"/>
              <a:ea typeface="Aptos"/>
              <a:cs typeface="Aptos"/>
            </a:endParaRPr>
          </a:p>
          <a:p>
            <a:pPr algn="l">
              <a:lnSpc>
                <a:spcPct val="115000"/>
              </a:lnSpc>
              <a:buNone/>
              <a:defRPr sz="1425" b="0" i="0">
                <a:solidFill>
                  <a:srgbClr val="5A5A5A"/>
                </a:solidFill>
                <a:latin typeface="Aptos"/>
                <a:ea typeface="Aptos"/>
                <a:cs typeface="Aptos"/>
              </a:defRPr>
            </a:pPr>
            <a:r>
              <a:rPr sz="1140">
                <a:solidFill>
                  <a:srgbClr val="5A5A5A"/>
                </a:solidFill>
                <a:latin typeface="Aptos"/>
                <a:ea typeface="Aptos"/>
                <a:cs typeface="Aptos"/>
              </a:rPr>
              <a:t>Result: 74,829 stays</a:t>
            </a:r>
          </a:p>
        </p:txBody>
      </p:sp>
      <p:sp>
        <p:nvSpPr>
          <p:cNvPr id="36" name="Rounded Rectangle 35">
            <a:extLst>
              <a:ext uri="{FF2B5EF4-FFF2-40B4-BE49-F238E27FC236}">
                <a16:creationId xmlns:a16="http://schemas.microsoft.com/office/drawing/2014/main" id="{E0BB7C11-375A-428F-8622-38910FDCD1DE}"/>
              </a:ext>
            </a:extLst>
          </p:cNvPr>
          <p:cNvSpPr>
            <a:spLocks noGrp="1"/>
          </p:cNvSpPr>
          <p:nvPr/>
        </p:nvSpPr>
        <p:spPr>
          <a:xfrm>
            <a:off x="7239000" y="1905000"/>
            <a:ext cx="3810000" cy="2171700"/>
          </a:xfrm>
          <a:prstGeom prst="roundRect">
            <a:avLst>
              <a:gd name="adj" fmla="val 5614"/>
            </a:avLst>
          </a:prstGeom>
          <a:solidFill>
            <a:srgbClr val="EAF8F2"/>
          </a:solidFill>
          <a:ln w="19050">
            <a:solidFill>
              <a:srgbClr val="00A870"/>
            </a:solidFill>
            <a:prstDash val="solid"/>
          </a:ln>
        </p:spPr>
        <p:txBody>
          <a:bodyPr/>
          <a:lstStyle/>
          <a:p>
            <a:endParaRPr lang="en-US" sz="1440"/>
          </a:p>
        </p:txBody>
      </p:sp>
      <p:sp>
        <p:nvSpPr>
          <p:cNvPr id="37" name="Rectangle 36">
            <a:extLst>
              <a:ext uri="{FF2B5EF4-FFF2-40B4-BE49-F238E27FC236}">
                <a16:creationId xmlns:a16="http://schemas.microsoft.com/office/drawing/2014/main" id="{1263A1DC-A6F4-41C6-ABE2-A94D1F7C2CA8}"/>
              </a:ext>
            </a:extLst>
          </p:cNvPr>
          <p:cNvSpPr>
            <a:spLocks noGrp="1"/>
          </p:cNvSpPr>
          <p:nvPr/>
        </p:nvSpPr>
        <p:spPr>
          <a:xfrm>
            <a:off x="7452360" y="2049780"/>
            <a:ext cx="3383280" cy="160020"/>
          </a:xfrm>
          <a:prstGeom prst="rect">
            <a:avLst/>
          </a:prstGeom>
          <a:noFill/>
          <a:ln w="0">
            <a:noFill/>
            <a:prstDash val="solid"/>
          </a:ln>
        </p:spPr>
        <p:txBody>
          <a:bodyPr anchor="t">
            <a:noAutofit/>
          </a:bodyPr>
          <a:lstStyle/>
          <a:p>
            <a:pPr algn="l">
              <a:lnSpc>
                <a:spcPct val="108000"/>
              </a:lnSpc>
              <a:buNone/>
              <a:defRPr sz="975" b="1" i="0">
                <a:solidFill>
                  <a:srgbClr val="00A870"/>
                </a:solidFill>
                <a:latin typeface="Aptos"/>
                <a:ea typeface="Aptos"/>
                <a:cs typeface="Aptos"/>
              </a:defRPr>
            </a:pPr>
            <a:r>
              <a:rPr sz="780" b="1">
                <a:solidFill>
                  <a:srgbClr val="00A870"/>
                </a:solidFill>
                <a:latin typeface="Aptos"/>
                <a:ea typeface="Aptos"/>
                <a:cs typeface="Aptos"/>
              </a:rPr>
              <a:t>TRAJECTORY ELIGIBILITY</a:t>
            </a:r>
          </a:p>
        </p:txBody>
      </p:sp>
      <p:sp>
        <p:nvSpPr>
          <p:cNvPr id="38" name="Rectangle 37">
            <a:extLst>
              <a:ext uri="{FF2B5EF4-FFF2-40B4-BE49-F238E27FC236}">
                <a16:creationId xmlns:a16="http://schemas.microsoft.com/office/drawing/2014/main" id="{B389750D-32ED-4F49-B738-AD6C14DF9F23}"/>
              </a:ext>
            </a:extLst>
          </p:cNvPr>
          <p:cNvSpPr>
            <a:spLocks noGrp="1"/>
          </p:cNvSpPr>
          <p:nvPr/>
        </p:nvSpPr>
        <p:spPr>
          <a:xfrm>
            <a:off x="7452360" y="2247900"/>
            <a:ext cx="3383280" cy="441960"/>
          </a:xfrm>
          <a:prstGeom prst="rect">
            <a:avLst/>
          </a:prstGeom>
          <a:noFill/>
          <a:ln w="0">
            <a:noFill/>
            <a:prstDash val="solid"/>
          </a:ln>
        </p:spPr>
        <p:txBody>
          <a:bodyPr anchor="ctr">
            <a:normAutofit fontScale="89331"/>
          </a:bodyPr>
          <a:lstStyle/>
          <a:p>
            <a:pPr algn="l">
              <a:lnSpc>
                <a:spcPct val="108000"/>
              </a:lnSpc>
              <a:buNone/>
              <a:defRPr sz="1800" b="1" i="0">
                <a:solidFill>
                  <a:srgbClr val="111111"/>
                </a:solidFill>
                <a:latin typeface="Georgia"/>
                <a:ea typeface="Georgia"/>
                <a:cs typeface="Georgia"/>
              </a:defRPr>
            </a:pPr>
            <a:r>
              <a:rPr sz="1440" b="1">
                <a:solidFill>
                  <a:srgbClr val="111111"/>
                </a:solidFill>
                <a:latin typeface="Georgia"/>
                <a:ea typeface="Georgia"/>
                <a:cs typeface="Georgia"/>
              </a:rPr>
              <a:t>A measurable trajectory is required</a:t>
            </a:r>
          </a:p>
        </p:txBody>
      </p:sp>
      <p:sp>
        <p:nvSpPr>
          <p:cNvPr id="39" name="Rectangle 38">
            <a:extLst>
              <a:ext uri="{FF2B5EF4-FFF2-40B4-BE49-F238E27FC236}">
                <a16:creationId xmlns:a16="http://schemas.microsoft.com/office/drawing/2014/main" id="{5E58A512-7DCC-49CC-8D31-FF6ED3F39121}"/>
              </a:ext>
            </a:extLst>
          </p:cNvPr>
          <p:cNvSpPr>
            <a:spLocks noGrp="1"/>
          </p:cNvSpPr>
          <p:nvPr/>
        </p:nvSpPr>
        <p:spPr>
          <a:xfrm>
            <a:off x="7452360" y="2758440"/>
            <a:ext cx="3383280" cy="1181100"/>
          </a:xfrm>
          <a:prstGeom prst="rect">
            <a:avLst/>
          </a:prstGeom>
          <a:noFill/>
          <a:ln w="0">
            <a:noFill/>
            <a:prstDash val="solid"/>
          </a:ln>
        </p:spPr>
        <p:txBody>
          <a:bodyPr anchor="t">
            <a:normAutofit/>
          </a:bodyPr>
          <a:lstStyle/>
          <a:p>
            <a:pPr algn="l">
              <a:lnSpc>
                <a:spcPct val="115000"/>
              </a:lnSpc>
              <a:buNone/>
              <a:defRPr sz="1425" b="0" i="0">
                <a:solidFill>
                  <a:srgbClr val="5A5A5A"/>
                </a:solidFill>
                <a:latin typeface="Aptos"/>
                <a:ea typeface="Aptos"/>
                <a:cs typeface="Aptos"/>
              </a:defRPr>
            </a:pPr>
            <a:r>
              <a:rPr sz="1140">
                <a:solidFill>
                  <a:srgbClr val="5A5A5A"/>
                </a:solidFill>
                <a:latin typeface="Aptos"/>
                <a:ea typeface="Aptos"/>
                <a:cs typeface="Aptos"/>
              </a:rPr>
              <a:t>Valid lactate trajectory + at least two of creatinine, WBC, and platelets. This produces the primary analytic cohort of 24,799 stays.</a:t>
            </a:r>
          </a:p>
        </p:txBody>
      </p:sp>
      <p:sp>
        <p:nvSpPr>
          <p:cNvPr id="40" name="Rounded Rectangle 39">
            <a:extLst>
              <a:ext uri="{FF2B5EF4-FFF2-40B4-BE49-F238E27FC236}">
                <a16:creationId xmlns:a16="http://schemas.microsoft.com/office/drawing/2014/main" id="{1A3C7F3A-AFBB-45D6-AF66-BC1989BA4C1E}"/>
              </a:ext>
            </a:extLst>
          </p:cNvPr>
          <p:cNvSpPr>
            <a:spLocks noGrp="1"/>
          </p:cNvSpPr>
          <p:nvPr/>
        </p:nvSpPr>
        <p:spPr>
          <a:xfrm>
            <a:off x="914400" y="4762500"/>
            <a:ext cx="2286000" cy="883920"/>
          </a:xfrm>
          <a:prstGeom prst="roundRect">
            <a:avLst>
              <a:gd name="adj" fmla="val 12069"/>
            </a:avLst>
          </a:prstGeom>
          <a:solidFill>
            <a:srgbClr val="F5EEFC"/>
          </a:solidFill>
          <a:ln w="15240">
            <a:solidFill>
              <a:srgbClr val="9552D0"/>
            </a:solidFill>
            <a:prstDash val="solid"/>
          </a:ln>
        </p:spPr>
        <p:txBody>
          <a:bodyPr/>
          <a:lstStyle/>
          <a:p>
            <a:endParaRPr lang="en-US" sz="1440"/>
          </a:p>
        </p:txBody>
      </p:sp>
      <p:sp>
        <p:nvSpPr>
          <p:cNvPr id="41" name="Rectangle 40">
            <a:extLst>
              <a:ext uri="{FF2B5EF4-FFF2-40B4-BE49-F238E27FC236}">
                <a16:creationId xmlns:a16="http://schemas.microsoft.com/office/drawing/2014/main" id="{E5FC44EB-1399-46D1-A4B6-3DF29924A061}"/>
              </a:ext>
            </a:extLst>
          </p:cNvPr>
          <p:cNvSpPr>
            <a:spLocks noGrp="1"/>
          </p:cNvSpPr>
          <p:nvPr/>
        </p:nvSpPr>
        <p:spPr>
          <a:xfrm>
            <a:off x="1005840" y="4869180"/>
            <a:ext cx="2103120" cy="358140"/>
          </a:xfrm>
          <a:prstGeom prst="rect">
            <a:avLst/>
          </a:prstGeom>
          <a:noFill/>
          <a:ln w="0">
            <a:noFill/>
            <a:prstDash val="solid"/>
          </a:ln>
        </p:spPr>
        <p:txBody>
          <a:bodyPr anchor="t">
            <a:normAutofit fontScale="89951" lnSpcReduction="20000"/>
          </a:bodyPr>
          <a:lstStyle/>
          <a:p>
            <a:pPr algn="ctr">
              <a:lnSpc>
                <a:spcPct val="108000"/>
              </a:lnSpc>
              <a:buNone/>
              <a:defRPr sz="2625" b="1" i="0">
                <a:solidFill>
                  <a:srgbClr val="9552D0"/>
                </a:solidFill>
                <a:latin typeface="Georgia"/>
                <a:ea typeface="Georgia"/>
                <a:cs typeface="Georgia"/>
              </a:defRPr>
            </a:pPr>
            <a:r>
              <a:rPr sz="2100" b="1">
                <a:solidFill>
                  <a:srgbClr val="9552D0"/>
                </a:solidFill>
                <a:latin typeface="Georgia"/>
                <a:ea typeface="Georgia"/>
                <a:cs typeface="Georgia"/>
              </a:rPr>
              <a:t>74,829</a:t>
            </a:r>
          </a:p>
        </p:txBody>
      </p:sp>
      <p:sp>
        <p:nvSpPr>
          <p:cNvPr id="42" name="Rectangle 41">
            <a:extLst>
              <a:ext uri="{FF2B5EF4-FFF2-40B4-BE49-F238E27FC236}">
                <a16:creationId xmlns:a16="http://schemas.microsoft.com/office/drawing/2014/main" id="{8F16E60E-B4B2-4066-808D-0CF35043ED66}"/>
              </a:ext>
            </a:extLst>
          </p:cNvPr>
          <p:cNvSpPr>
            <a:spLocks noGrp="1"/>
          </p:cNvSpPr>
          <p:nvPr/>
        </p:nvSpPr>
        <p:spPr>
          <a:xfrm>
            <a:off x="1051560" y="5280660"/>
            <a:ext cx="2011680" cy="259080"/>
          </a:xfrm>
          <a:prstGeom prst="rect">
            <a:avLst/>
          </a:prstGeom>
          <a:noFill/>
          <a:ln w="0">
            <a:noFill/>
            <a:prstDash val="solid"/>
          </a:ln>
        </p:spPr>
        <p:txBody>
          <a:bodyPr anchor="ctr">
            <a:normAutofit/>
          </a:bodyPr>
          <a:lstStyle/>
          <a:p>
            <a:pPr algn="ctr">
              <a:lnSpc>
                <a:spcPct val="108000"/>
              </a:lnSpc>
              <a:buNone/>
              <a:defRPr sz="1125" b="0" i="0">
                <a:solidFill>
                  <a:srgbClr val="5A5A5A"/>
                </a:solidFill>
                <a:latin typeface="Aptos"/>
                <a:ea typeface="Aptos"/>
                <a:cs typeface="Aptos"/>
              </a:defRPr>
            </a:pPr>
            <a:r>
              <a:rPr sz="900">
                <a:solidFill>
                  <a:srgbClr val="5A5A5A"/>
                </a:solidFill>
                <a:latin typeface="Aptos"/>
                <a:ea typeface="Aptos"/>
                <a:cs typeface="Aptos"/>
              </a:rPr>
              <a:t>adult ICU stays ≥24h</a:t>
            </a:r>
          </a:p>
        </p:txBody>
      </p:sp>
      <p:sp>
        <p:nvSpPr>
          <p:cNvPr id="43" name="Rounded Rectangle 42">
            <a:extLst>
              <a:ext uri="{FF2B5EF4-FFF2-40B4-BE49-F238E27FC236}">
                <a16:creationId xmlns:a16="http://schemas.microsoft.com/office/drawing/2014/main" id="{AF6331C1-9724-4171-9814-90A8FE54192D}"/>
              </a:ext>
            </a:extLst>
          </p:cNvPr>
          <p:cNvSpPr>
            <a:spLocks noGrp="1"/>
          </p:cNvSpPr>
          <p:nvPr/>
        </p:nvSpPr>
        <p:spPr>
          <a:xfrm>
            <a:off x="3962400" y="4762500"/>
            <a:ext cx="2286000" cy="883920"/>
          </a:xfrm>
          <a:prstGeom prst="roundRect">
            <a:avLst>
              <a:gd name="adj" fmla="val 12069"/>
            </a:avLst>
          </a:prstGeom>
          <a:solidFill>
            <a:srgbClr val="EAF8F2"/>
          </a:solidFill>
          <a:ln w="15240">
            <a:solidFill>
              <a:srgbClr val="00A870"/>
            </a:solidFill>
            <a:prstDash val="solid"/>
          </a:ln>
        </p:spPr>
        <p:txBody>
          <a:bodyPr/>
          <a:lstStyle/>
          <a:p>
            <a:endParaRPr lang="en-US" sz="1440"/>
          </a:p>
        </p:txBody>
      </p:sp>
      <p:sp>
        <p:nvSpPr>
          <p:cNvPr id="44" name="Rectangle 43">
            <a:extLst>
              <a:ext uri="{FF2B5EF4-FFF2-40B4-BE49-F238E27FC236}">
                <a16:creationId xmlns:a16="http://schemas.microsoft.com/office/drawing/2014/main" id="{B3BCFAED-0F18-4CA0-B75B-8A32D4B241A1}"/>
              </a:ext>
            </a:extLst>
          </p:cNvPr>
          <p:cNvSpPr>
            <a:spLocks noGrp="1"/>
          </p:cNvSpPr>
          <p:nvPr/>
        </p:nvSpPr>
        <p:spPr>
          <a:xfrm>
            <a:off x="4053840" y="4869180"/>
            <a:ext cx="2103120" cy="358140"/>
          </a:xfrm>
          <a:prstGeom prst="rect">
            <a:avLst/>
          </a:prstGeom>
          <a:noFill/>
          <a:ln w="0">
            <a:noFill/>
            <a:prstDash val="solid"/>
          </a:ln>
        </p:spPr>
        <p:txBody>
          <a:bodyPr anchor="t">
            <a:normAutofit fontScale="89951" lnSpcReduction="20000"/>
          </a:bodyPr>
          <a:lstStyle/>
          <a:p>
            <a:pPr algn="ctr">
              <a:lnSpc>
                <a:spcPct val="108000"/>
              </a:lnSpc>
              <a:buNone/>
              <a:defRPr sz="2625" b="1" i="0">
                <a:solidFill>
                  <a:srgbClr val="00A870"/>
                </a:solidFill>
                <a:latin typeface="Georgia"/>
                <a:ea typeface="Georgia"/>
                <a:cs typeface="Georgia"/>
              </a:defRPr>
            </a:pPr>
            <a:r>
              <a:rPr sz="2100" b="1">
                <a:solidFill>
                  <a:srgbClr val="00A870"/>
                </a:solidFill>
                <a:latin typeface="Georgia"/>
                <a:ea typeface="Georgia"/>
                <a:cs typeface="Georgia"/>
              </a:rPr>
              <a:t>24,799</a:t>
            </a:r>
          </a:p>
        </p:txBody>
      </p:sp>
      <p:sp>
        <p:nvSpPr>
          <p:cNvPr id="45" name="Rectangle 44">
            <a:extLst>
              <a:ext uri="{FF2B5EF4-FFF2-40B4-BE49-F238E27FC236}">
                <a16:creationId xmlns:a16="http://schemas.microsoft.com/office/drawing/2014/main" id="{99AF28A6-C446-4088-A840-6952BF6327D8}"/>
              </a:ext>
            </a:extLst>
          </p:cNvPr>
          <p:cNvSpPr>
            <a:spLocks noGrp="1"/>
          </p:cNvSpPr>
          <p:nvPr/>
        </p:nvSpPr>
        <p:spPr>
          <a:xfrm>
            <a:off x="4099560" y="5280660"/>
            <a:ext cx="2011680" cy="259080"/>
          </a:xfrm>
          <a:prstGeom prst="rect">
            <a:avLst/>
          </a:prstGeom>
          <a:noFill/>
          <a:ln w="0">
            <a:noFill/>
            <a:prstDash val="solid"/>
          </a:ln>
        </p:spPr>
        <p:txBody>
          <a:bodyPr anchor="ctr">
            <a:normAutofit/>
          </a:bodyPr>
          <a:lstStyle/>
          <a:p>
            <a:pPr algn="ctr">
              <a:lnSpc>
                <a:spcPct val="108000"/>
              </a:lnSpc>
              <a:buNone/>
              <a:defRPr sz="1125" b="0" i="0">
                <a:solidFill>
                  <a:srgbClr val="5A5A5A"/>
                </a:solidFill>
                <a:latin typeface="Aptos"/>
                <a:ea typeface="Aptos"/>
                <a:cs typeface="Aptos"/>
              </a:defRPr>
            </a:pPr>
            <a:r>
              <a:rPr sz="900">
                <a:solidFill>
                  <a:srgbClr val="5A5A5A"/>
                </a:solidFill>
                <a:latin typeface="Aptos"/>
                <a:ea typeface="Aptos"/>
                <a:cs typeface="Aptos"/>
              </a:rPr>
              <a:t>primary trajectory cohort</a:t>
            </a:r>
          </a:p>
        </p:txBody>
      </p:sp>
      <p:sp>
        <p:nvSpPr>
          <p:cNvPr id="46" name="Rounded Rectangle 45">
            <a:extLst>
              <a:ext uri="{FF2B5EF4-FFF2-40B4-BE49-F238E27FC236}">
                <a16:creationId xmlns:a16="http://schemas.microsoft.com/office/drawing/2014/main" id="{34F4ABF2-184D-4F01-8BB7-8D787B490BEC}"/>
              </a:ext>
            </a:extLst>
          </p:cNvPr>
          <p:cNvSpPr>
            <a:spLocks noGrp="1"/>
          </p:cNvSpPr>
          <p:nvPr/>
        </p:nvSpPr>
        <p:spPr>
          <a:xfrm>
            <a:off x="7010400" y="4762500"/>
            <a:ext cx="2286000" cy="883920"/>
          </a:xfrm>
          <a:prstGeom prst="roundRect">
            <a:avLst>
              <a:gd name="adj" fmla="val 12069"/>
            </a:avLst>
          </a:prstGeom>
          <a:solidFill>
            <a:srgbClr val="EAF5FD"/>
          </a:solidFill>
          <a:ln w="15240">
            <a:solidFill>
              <a:srgbClr val="1484D6"/>
            </a:solidFill>
            <a:prstDash val="solid"/>
          </a:ln>
        </p:spPr>
        <p:txBody>
          <a:bodyPr/>
          <a:lstStyle/>
          <a:p>
            <a:endParaRPr lang="en-US" sz="1440"/>
          </a:p>
        </p:txBody>
      </p:sp>
      <p:sp>
        <p:nvSpPr>
          <p:cNvPr id="47" name="Rectangle 46">
            <a:extLst>
              <a:ext uri="{FF2B5EF4-FFF2-40B4-BE49-F238E27FC236}">
                <a16:creationId xmlns:a16="http://schemas.microsoft.com/office/drawing/2014/main" id="{554E4252-D587-4F51-9F45-BF8E150C5AC5}"/>
              </a:ext>
            </a:extLst>
          </p:cNvPr>
          <p:cNvSpPr>
            <a:spLocks noGrp="1"/>
          </p:cNvSpPr>
          <p:nvPr/>
        </p:nvSpPr>
        <p:spPr>
          <a:xfrm>
            <a:off x="7101840" y="4869180"/>
            <a:ext cx="2103120" cy="358140"/>
          </a:xfrm>
          <a:prstGeom prst="rect">
            <a:avLst/>
          </a:prstGeom>
          <a:noFill/>
          <a:ln w="0">
            <a:noFill/>
            <a:prstDash val="solid"/>
          </a:ln>
        </p:spPr>
        <p:txBody>
          <a:bodyPr anchor="t">
            <a:normAutofit fontScale="89951" lnSpcReduction="20000"/>
          </a:bodyPr>
          <a:lstStyle/>
          <a:p>
            <a:pPr algn="ctr">
              <a:lnSpc>
                <a:spcPct val="108000"/>
              </a:lnSpc>
              <a:buNone/>
              <a:defRPr sz="2625" b="1" i="0">
                <a:solidFill>
                  <a:srgbClr val="1484D6"/>
                </a:solidFill>
                <a:latin typeface="Georgia"/>
                <a:ea typeface="Georgia"/>
                <a:cs typeface="Georgia"/>
              </a:defRPr>
            </a:pPr>
            <a:r>
              <a:rPr sz="2100" b="1">
                <a:solidFill>
                  <a:srgbClr val="1484D6"/>
                </a:solidFill>
                <a:latin typeface="Georgia"/>
                <a:ea typeface="Georgia"/>
                <a:cs typeface="Georgia"/>
              </a:rPr>
              <a:t>24,034</a:t>
            </a:r>
          </a:p>
        </p:txBody>
      </p:sp>
      <p:sp>
        <p:nvSpPr>
          <p:cNvPr id="48" name="Rectangle 47">
            <a:extLst>
              <a:ext uri="{FF2B5EF4-FFF2-40B4-BE49-F238E27FC236}">
                <a16:creationId xmlns:a16="http://schemas.microsoft.com/office/drawing/2014/main" id="{1ED04D44-D48E-4E58-B9B3-235A2235A9D5}"/>
              </a:ext>
            </a:extLst>
          </p:cNvPr>
          <p:cNvSpPr>
            <a:spLocks noGrp="1"/>
          </p:cNvSpPr>
          <p:nvPr/>
        </p:nvSpPr>
        <p:spPr>
          <a:xfrm>
            <a:off x="7147560" y="5280660"/>
            <a:ext cx="2011680" cy="259080"/>
          </a:xfrm>
          <a:prstGeom prst="rect">
            <a:avLst/>
          </a:prstGeom>
          <a:noFill/>
          <a:ln w="0">
            <a:noFill/>
            <a:prstDash val="solid"/>
          </a:ln>
        </p:spPr>
        <p:txBody>
          <a:bodyPr anchor="ctr">
            <a:normAutofit/>
          </a:bodyPr>
          <a:lstStyle/>
          <a:p>
            <a:pPr algn="ctr">
              <a:lnSpc>
                <a:spcPct val="108000"/>
              </a:lnSpc>
              <a:buNone/>
              <a:defRPr sz="1125" b="0" i="0">
                <a:solidFill>
                  <a:srgbClr val="5A5A5A"/>
                </a:solidFill>
                <a:latin typeface="Aptos"/>
                <a:ea typeface="Aptos"/>
                <a:cs typeface="Aptos"/>
              </a:defRPr>
            </a:pPr>
            <a:r>
              <a:rPr sz="900">
                <a:solidFill>
                  <a:srgbClr val="5A5A5A"/>
                </a:solidFill>
                <a:latin typeface="Aptos"/>
                <a:ea typeface="Aptos"/>
                <a:cs typeface="Aptos"/>
              </a:rPr>
              <a:t>complete four-trajectory cohort</a:t>
            </a:r>
          </a:p>
        </p:txBody>
      </p:sp>
      <p:sp>
        <p:nvSpPr>
          <p:cNvPr id="49" name="Rounded Rectangle 48">
            <a:extLst>
              <a:ext uri="{FF2B5EF4-FFF2-40B4-BE49-F238E27FC236}">
                <a16:creationId xmlns:a16="http://schemas.microsoft.com/office/drawing/2014/main" id="{8844A604-510A-4B3B-A314-78424DE376EC}"/>
              </a:ext>
            </a:extLst>
          </p:cNvPr>
          <p:cNvSpPr>
            <a:spLocks noGrp="1"/>
          </p:cNvSpPr>
          <p:nvPr/>
        </p:nvSpPr>
        <p:spPr>
          <a:xfrm>
            <a:off x="10058400" y="4762500"/>
            <a:ext cx="1447800" cy="883920"/>
          </a:xfrm>
          <a:prstGeom prst="roundRect">
            <a:avLst>
              <a:gd name="adj" fmla="val 12069"/>
            </a:avLst>
          </a:prstGeom>
          <a:solidFill>
            <a:srgbClr val="FFF3E5"/>
          </a:solidFill>
          <a:ln w="15240">
            <a:solidFill>
              <a:srgbClr val="EF7D00"/>
            </a:solidFill>
            <a:prstDash val="solid"/>
          </a:ln>
        </p:spPr>
        <p:txBody>
          <a:bodyPr/>
          <a:lstStyle/>
          <a:p>
            <a:endParaRPr lang="en-US" sz="1440"/>
          </a:p>
        </p:txBody>
      </p:sp>
      <p:sp>
        <p:nvSpPr>
          <p:cNvPr id="50" name="Rectangle 49">
            <a:extLst>
              <a:ext uri="{FF2B5EF4-FFF2-40B4-BE49-F238E27FC236}">
                <a16:creationId xmlns:a16="http://schemas.microsoft.com/office/drawing/2014/main" id="{671BDE48-7E71-4F14-BDD4-2A90B591156C}"/>
              </a:ext>
            </a:extLst>
          </p:cNvPr>
          <p:cNvSpPr>
            <a:spLocks noGrp="1"/>
          </p:cNvSpPr>
          <p:nvPr/>
        </p:nvSpPr>
        <p:spPr>
          <a:xfrm>
            <a:off x="10149840" y="4869180"/>
            <a:ext cx="1264920" cy="358140"/>
          </a:xfrm>
          <a:prstGeom prst="rect">
            <a:avLst/>
          </a:prstGeom>
          <a:noFill/>
          <a:ln w="0">
            <a:noFill/>
            <a:prstDash val="solid"/>
          </a:ln>
        </p:spPr>
        <p:txBody>
          <a:bodyPr anchor="t">
            <a:normAutofit fontScale="89951" lnSpcReduction="20000"/>
          </a:bodyPr>
          <a:lstStyle/>
          <a:p>
            <a:pPr algn="ctr">
              <a:lnSpc>
                <a:spcPct val="108000"/>
              </a:lnSpc>
              <a:buNone/>
              <a:defRPr sz="2625" b="1" i="0">
                <a:solidFill>
                  <a:srgbClr val="EF7D00"/>
                </a:solidFill>
                <a:latin typeface="Georgia"/>
                <a:ea typeface="Georgia"/>
                <a:cs typeface="Georgia"/>
              </a:defRPr>
            </a:pPr>
            <a:r>
              <a:rPr sz="2100" b="1">
                <a:solidFill>
                  <a:srgbClr val="EF7D00"/>
                </a:solidFill>
                <a:latin typeface="Georgia"/>
                <a:ea typeface="Georgia"/>
                <a:cs typeface="Georgia"/>
              </a:rPr>
              <a:t>765</a:t>
            </a:r>
          </a:p>
        </p:txBody>
      </p:sp>
      <p:sp>
        <p:nvSpPr>
          <p:cNvPr id="51" name="Rectangle 50">
            <a:extLst>
              <a:ext uri="{FF2B5EF4-FFF2-40B4-BE49-F238E27FC236}">
                <a16:creationId xmlns:a16="http://schemas.microsoft.com/office/drawing/2014/main" id="{5FE345D5-3D88-4F0E-8840-D6E6AC706BB9}"/>
              </a:ext>
            </a:extLst>
          </p:cNvPr>
          <p:cNvSpPr>
            <a:spLocks noGrp="1"/>
          </p:cNvSpPr>
          <p:nvPr/>
        </p:nvSpPr>
        <p:spPr>
          <a:xfrm>
            <a:off x="10195560" y="5280660"/>
            <a:ext cx="1173480" cy="259080"/>
          </a:xfrm>
          <a:prstGeom prst="rect">
            <a:avLst/>
          </a:prstGeom>
          <a:noFill/>
          <a:ln w="0">
            <a:noFill/>
            <a:prstDash val="solid"/>
          </a:ln>
        </p:spPr>
        <p:txBody>
          <a:bodyPr anchor="ctr">
            <a:normAutofit fontScale="70257" lnSpcReduction="20000"/>
          </a:bodyPr>
          <a:lstStyle/>
          <a:p>
            <a:pPr algn="ctr">
              <a:lnSpc>
                <a:spcPct val="108000"/>
              </a:lnSpc>
              <a:buNone/>
              <a:defRPr sz="1125" b="0" i="0">
                <a:solidFill>
                  <a:srgbClr val="5A5A5A"/>
                </a:solidFill>
                <a:latin typeface="Aptos"/>
                <a:ea typeface="Aptos"/>
                <a:cs typeface="Aptos"/>
              </a:defRPr>
            </a:pPr>
            <a:r>
              <a:rPr sz="900">
                <a:solidFill>
                  <a:srgbClr val="5A5A5A"/>
                </a:solidFill>
                <a:latin typeface="Aptos"/>
                <a:ea typeface="Aptos"/>
                <a:cs typeface="Aptos"/>
              </a:rPr>
              <a:t>stays with one imputed trajectory</a:t>
            </a:r>
          </a:p>
        </p:txBody>
      </p:sp>
      <p:sp>
        <p:nvSpPr>
          <p:cNvPr id="52" name="Straight Connector 51">
            <a:extLst>
              <a:ext uri="{FF2B5EF4-FFF2-40B4-BE49-F238E27FC236}">
                <a16:creationId xmlns:a16="http://schemas.microsoft.com/office/drawing/2014/main" id="{BBACAF15-DAFE-4936-B860-B810920363C0}"/>
              </a:ext>
            </a:extLst>
          </p:cNvPr>
          <p:cNvSpPr>
            <a:spLocks noGrp="1"/>
          </p:cNvSpPr>
          <p:nvPr/>
        </p:nvSpPr>
        <p:spPr>
          <a:xfrm>
            <a:off x="609600" y="6507480"/>
            <a:ext cx="10972800" cy="0"/>
          </a:xfrm>
          <a:prstGeom prst="line">
            <a:avLst/>
          </a:prstGeom>
          <a:noFill/>
          <a:ln w="9525">
            <a:solidFill>
              <a:srgbClr val="DDDDDD"/>
            </a:solidFill>
            <a:prstDash val="solid"/>
          </a:ln>
        </p:spPr>
        <p:txBody>
          <a:bodyPr/>
          <a:lstStyle/>
          <a:p>
            <a:endParaRPr lang="en-US" sz="1440"/>
          </a:p>
        </p:txBody>
      </p:sp>
      <p:sp>
        <p:nvSpPr>
          <p:cNvPr id="53" name="Rectangle 52">
            <a:extLst>
              <a:ext uri="{FF2B5EF4-FFF2-40B4-BE49-F238E27FC236}">
                <a16:creationId xmlns:a16="http://schemas.microsoft.com/office/drawing/2014/main" id="{194E7082-FA8F-4157-874C-6D7F21753EC1}"/>
              </a:ext>
            </a:extLst>
          </p:cNvPr>
          <p:cNvSpPr>
            <a:spLocks noGrp="1"/>
          </p:cNvSpPr>
          <p:nvPr/>
        </p:nvSpPr>
        <p:spPr>
          <a:xfrm>
            <a:off x="624840" y="6568440"/>
            <a:ext cx="5791200" cy="167640"/>
          </a:xfrm>
          <a:prstGeom prst="rect">
            <a:avLst/>
          </a:prstGeom>
          <a:noFill/>
          <a:ln w="0">
            <a:noFill/>
            <a:prstDash val="solid"/>
          </a:ln>
        </p:spPr>
        <p:txBody>
          <a:bodyPr anchor="t">
            <a:noAutofit/>
          </a:bodyPr>
          <a:lstStyle/>
          <a:p>
            <a:pPr algn="l">
              <a:lnSpc>
                <a:spcPct val="108000"/>
              </a:lnSpc>
              <a:buNone/>
              <a:defRPr sz="975" b="0" i="0">
                <a:solidFill>
                  <a:srgbClr val="777777"/>
                </a:solidFill>
                <a:latin typeface="Aptos"/>
                <a:ea typeface="Aptos"/>
                <a:cs typeface="Aptos"/>
              </a:defRPr>
            </a:pPr>
            <a:r>
              <a:rPr sz="780">
                <a:solidFill>
                  <a:srgbClr val="777777"/>
                </a:solidFill>
                <a:latin typeface="Aptos"/>
                <a:ea typeface="Aptos"/>
                <a:cs typeface="Aptos"/>
              </a:rPr>
              <a:t>MIMIC-IV first-24-hour biochemical trajectory study</a:t>
            </a:r>
          </a:p>
        </p:txBody>
      </p:sp>
      <p:sp>
        <p:nvSpPr>
          <p:cNvPr id="54" name="Rectangle 53">
            <a:extLst>
              <a:ext uri="{FF2B5EF4-FFF2-40B4-BE49-F238E27FC236}">
                <a16:creationId xmlns:a16="http://schemas.microsoft.com/office/drawing/2014/main" id="{7E6CDCC4-5E17-4C9A-B43E-14851CB8E15A}"/>
              </a:ext>
            </a:extLst>
          </p:cNvPr>
          <p:cNvSpPr>
            <a:spLocks noGrp="1"/>
          </p:cNvSpPr>
          <p:nvPr/>
        </p:nvSpPr>
        <p:spPr>
          <a:xfrm>
            <a:off x="11163300" y="6568440"/>
            <a:ext cx="381000" cy="167640"/>
          </a:xfrm>
          <a:prstGeom prst="rect">
            <a:avLst/>
          </a:prstGeom>
          <a:noFill/>
          <a:ln w="0">
            <a:noFill/>
            <a:prstDash val="solid"/>
          </a:ln>
        </p:spPr>
        <p:txBody>
          <a:bodyPr anchor="t">
            <a:noAutofit/>
          </a:bodyPr>
          <a:lstStyle/>
          <a:p>
            <a:pPr algn="r">
              <a:lnSpc>
                <a:spcPct val="108000"/>
              </a:lnSpc>
              <a:buNone/>
              <a:defRPr sz="975" b="0" i="0">
                <a:solidFill>
                  <a:srgbClr val="777777"/>
                </a:solidFill>
                <a:latin typeface="Aptos"/>
                <a:ea typeface="Aptos"/>
                <a:cs typeface="Aptos"/>
              </a:defRPr>
            </a:pPr>
            <a:r>
              <a:rPr sz="780">
                <a:solidFill>
                  <a:srgbClr val="777777"/>
                </a:solidFill>
                <a:latin typeface="Aptos"/>
                <a:ea typeface="Aptos"/>
                <a:cs typeface="Aptos"/>
              </a:rPr>
              <a:t>05</a:t>
            </a:r>
          </a:p>
        </p:txBody>
      </p:sp>
    </p:spTree>
    <p:extLst>
      <p:ext uri="{BB962C8B-B14F-4D97-AF65-F5344CB8AC3E}">
        <p14:creationId xmlns:p14="http://schemas.microsoft.com/office/powerpoint/2010/main" val="11880803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slide-title">
            <a:extLst>
              <a:ext uri="{FF2B5EF4-FFF2-40B4-BE49-F238E27FC236}">
                <a16:creationId xmlns:a16="http://schemas.microsoft.com/office/drawing/2014/main" id="{38A03E31-B0E5-474F-9592-EA671D5FC706}"/>
              </a:ext>
            </a:extLst>
          </p:cNvPr>
          <p:cNvSpPr>
            <a:spLocks noGrp="1"/>
          </p:cNvSpPr>
          <p:nvPr/>
        </p:nvSpPr>
        <p:spPr>
          <a:xfrm>
            <a:off x="594360" y="259080"/>
            <a:ext cx="8534400" cy="533400"/>
          </a:xfrm>
          <a:prstGeom prst="rect">
            <a:avLst/>
          </a:prstGeom>
          <a:noFill/>
          <a:ln w="0">
            <a:noFill/>
            <a:prstDash val="solid"/>
          </a:ln>
        </p:spPr>
        <p:txBody>
          <a:bodyPr anchor="t">
            <a:normAutofit fontScale="95496"/>
          </a:bodyPr>
          <a:lstStyle/>
          <a:p>
            <a:pPr algn="l">
              <a:lnSpc>
                <a:spcPct val="108000"/>
              </a:lnSpc>
              <a:buNone/>
              <a:defRPr sz="2550" b="1" i="0">
                <a:solidFill>
                  <a:srgbClr val="111111"/>
                </a:solidFill>
                <a:latin typeface="Georgia"/>
                <a:ea typeface="Georgia"/>
                <a:cs typeface="Georgia"/>
              </a:defRPr>
            </a:pPr>
            <a:r>
              <a:rPr sz="2040" b="1">
                <a:solidFill>
                  <a:srgbClr val="111111"/>
                </a:solidFill>
                <a:latin typeface="Georgia"/>
                <a:ea typeface="Georgia"/>
                <a:cs typeface="Georgia"/>
              </a:rPr>
              <a:t>Millions of Measurements Were Reduced to Four Lab Trajectories</a:t>
            </a:r>
          </a:p>
        </p:txBody>
      </p:sp>
      <p:sp>
        <p:nvSpPr>
          <p:cNvPr id="2" name="Rectangle 1">
            <a:extLst>
              <a:ext uri="{FF2B5EF4-FFF2-40B4-BE49-F238E27FC236}">
                <a16:creationId xmlns:a16="http://schemas.microsoft.com/office/drawing/2014/main" id="{FC3C41B0-5342-4A58-865C-C7DA153A474E}"/>
              </a:ext>
            </a:extLst>
          </p:cNvPr>
          <p:cNvSpPr>
            <a:spLocks noGrp="1"/>
          </p:cNvSpPr>
          <p:nvPr/>
        </p:nvSpPr>
        <p:spPr>
          <a:xfrm>
            <a:off x="9372600" y="228600"/>
            <a:ext cx="2286000" cy="533400"/>
          </a:xfrm>
          <a:prstGeom prst="rect">
            <a:avLst/>
          </a:prstGeom>
          <a:noFill/>
          <a:ln w="0">
            <a:noFill/>
            <a:prstDash val="solid"/>
          </a:ln>
        </p:spPr>
        <p:txBody>
          <a:bodyPr anchor="t">
            <a:normAutofit fontScale="78759" lnSpcReduction="10000"/>
          </a:bodyPr>
          <a:lstStyle/>
          <a:p>
            <a:pPr algn="r">
              <a:lnSpc>
                <a:spcPct val="108000"/>
              </a:lnSpc>
              <a:buNone/>
              <a:defRPr sz="2475" b="1" i="0">
                <a:solidFill>
                  <a:srgbClr val="EF7D00"/>
                </a:solidFill>
                <a:latin typeface="Georgia"/>
                <a:ea typeface="Georgia"/>
                <a:cs typeface="Georgia"/>
              </a:defRPr>
            </a:pPr>
            <a:r>
              <a:rPr sz="1980" b="1">
                <a:solidFill>
                  <a:srgbClr val="EF7D00"/>
                </a:solidFill>
                <a:latin typeface="Georgia"/>
                <a:ea typeface="Georgia"/>
                <a:cs typeface="Georgia"/>
              </a:rPr>
              <a:t>Feature Narrowing</a:t>
            </a:r>
          </a:p>
        </p:txBody>
      </p:sp>
      <p:sp>
        <p:nvSpPr>
          <p:cNvPr id="3" name="Rectangle 2">
            <a:extLst>
              <a:ext uri="{FF2B5EF4-FFF2-40B4-BE49-F238E27FC236}">
                <a16:creationId xmlns:a16="http://schemas.microsoft.com/office/drawing/2014/main" id="{DC39C486-BFF8-48A2-B4B8-5A4AF53AA32D}"/>
              </a:ext>
            </a:extLst>
          </p:cNvPr>
          <p:cNvSpPr>
            <a:spLocks noGrp="1"/>
          </p:cNvSpPr>
          <p:nvPr/>
        </p:nvSpPr>
        <p:spPr>
          <a:xfrm>
            <a:off x="624840" y="853440"/>
            <a:ext cx="8610600" cy="259080"/>
          </a:xfrm>
          <a:prstGeom prst="rect">
            <a:avLst/>
          </a:prstGeom>
          <a:noFill/>
          <a:ln w="0">
            <a:noFill/>
            <a:prstDash val="solid"/>
          </a:ln>
        </p:spPr>
        <p:txBody>
          <a:bodyPr anchor="t">
            <a:noAutofit/>
          </a:bodyPr>
          <a:lstStyle/>
          <a:p>
            <a:pPr algn="l">
              <a:lnSpc>
                <a:spcPct val="108000"/>
              </a:lnSpc>
              <a:buNone/>
              <a:defRPr sz="1500" b="0" i="0">
                <a:solidFill>
                  <a:srgbClr val="5A5A5A"/>
                </a:solidFill>
                <a:latin typeface="Aptos"/>
                <a:ea typeface="Aptos"/>
                <a:cs typeface="Aptos"/>
              </a:defRPr>
            </a:pPr>
            <a:r>
              <a:rPr sz="1200">
                <a:solidFill>
                  <a:srgbClr val="5A5A5A"/>
                </a:solidFill>
                <a:latin typeface="Aptos"/>
                <a:ea typeface="Aptos"/>
                <a:cs typeface="Aptos"/>
              </a:rPr>
              <a:t>The extraction was broad; the final phenotype model was deliberately lab-only.</a:t>
            </a:r>
          </a:p>
        </p:txBody>
      </p:sp>
      <p:sp>
        <p:nvSpPr>
          <p:cNvPr id="4" name="Straight Connector 3">
            <a:extLst>
              <a:ext uri="{FF2B5EF4-FFF2-40B4-BE49-F238E27FC236}">
                <a16:creationId xmlns:a16="http://schemas.microsoft.com/office/drawing/2014/main" id="{DD036AA6-E355-483A-8A6C-471FF2FD9F00}"/>
              </a:ext>
            </a:extLst>
          </p:cNvPr>
          <p:cNvSpPr>
            <a:spLocks noGrp="1"/>
          </p:cNvSpPr>
          <p:nvPr/>
        </p:nvSpPr>
        <p:spPr>
          <a:xfrm>
            <a:off x="2628900" y="1379220"/>
            <a:ext cx="723900" cy="0"/>
          </a:xfrm>
          <a:prstGeom prst="line">
            <a:avLst/>
          </a:prstGeom>
          <a:noFill/>
          <a:ln w="14288">
            <a:solidFill>
              <a:srgbClr val="B9B9B9"/>
            </a:solidFill>
            <a:prstDash val="solid"/>
          </a:ln>
        </p:spPr>
        <p:txBody>
          <a:bodyPr/>
          <a:lstStyle/>
          <a:p>
            <a:endParaRPr lang="en-US" sz="1440"/>
          </a:p>
        </p:txBody>
      </p:sp>
      <p:sp>
        <p:nvSpPr>
          <p:cNvPr id="5" name="Oval 4">
            <a:extLst>
              <a:ext uri="{FF2B5EF4-FFF2-40B4-BE49-F238E27FC236}">
                <a16:creationId xmlns:a16="http://schemas.microsoft.com/office/drawing/2014/main" id="{B644E6A7-5433-413F-98CA-A8279DD7F009}"/>
              </a:ext>
            </a:extLst>
          </p:cNvPr>
          <p:cNvSpPr>
            <a:spLocks noGrp="1"/>
          </p:cNvSpPr>
          <p:nvPr/>
        </p:nvSpPr>
        <p:spPr>
          <a:xfrm>
            <a:off x="647700" y="1203960"/>
            <a:ext cx="350520" cy="350520"/>
          </a:xfrm>
          <a:prstGeom prst="ellipse">
            <a:avLst/>
          </a:prstGeom>
          <a:solidFill>
            <a:srgbClr val="FFFFFF"/>
          </a:solidFill>
          <a:ln w="14288">
            <a:solidFill>
              <a:srgbClr val="1484D6"/>
            </a:solidFill>
            <a:prstDash val="solid"/>
          </a:ln>
        </p:spPr>
        <p:txBody>
          <a:bodyPr anchor="ctr"/>
          <a:lstStyle/>
          <a:p>
            <a:pPr algn="ctr">
              <a:defRPr sz="1200" b="1">
                <a:solidFill>
                  <a:srgbClr val="1484D6"/>
                </a:solidFill>
              </a:defRPr>
            </a:pPr>
            <a:r>
              <a:rPr sz="960" b="1">
                <a:solidFill>
                  <a:srgbClr val="1484D6"/>
                </a:solidFill>
              </a:rPr>
              <a:t>1</a:t>
            </a:r>
          </a:p>
        </p:txBody>
      </p:sp>
      <p:sp>
        <p:nvSpPr>
          <p:cNvPr id="6" name="Rectangle 5">
            <a:extLst>
              <a:ext uri="{FF2B5EF4-FFF2-40B4-BE49-F238E27FC236}">
                <a16:creationId xmlns:a16="http://schemas.microsoft.com/office/drawing/2014/main" id="{A0362493-143A-4FD9-8A6F-A71437BC8F66}"/>
              </a:ext>
            </a:extLst>
          </p:cNvPr>
          <p:cNvSpPr>
            <a:spLocks noGrp="1"/>
          </p:cNvSpPr>
          <p:nvPr/>
        </p:nvSpPr>
        <p:spPr>
          <a:xfrm>
            <a:off x="1089660" y="1234440"/>
            <a:ext cx="1828800" cy="190500"/>
          </a:xfrm>
          <a:prstGeom prst="rect">
            <a:avLst/>
          </a:prstGeom>
          <a:noFill/>
          <a:ln w="0">
            <a:noFill/>
            <a:prstDash val="solid"/>
          </a:ln>
        </p:spPr>
        <p:txBody>
          <a:bodyPr anchor="t">
            <a:noAutofit/>
          </a:bodyPr>
          <a:lstStyle/>
          <a:p>
            <a:pPr algn="l">
              <a:lnSpc>
                <a:spcPct val="108000"/>
              </a:lnSpc>
              <a:buNone/>
              <a:defRPr sz="1050" b="1" i="0">
                <a:solidFill>
                  <a:srgbClr val="777777"/>
                </a:solidFill>
                <a:latin typeface="Aptos"/>
                <a:ea typeface="Aptos"/>
                <a:cs typeface="Aptos"/>
              </a:defRPr>
            </a:pPr>
            <a:r>
              <a:rPr sz="840" b="1">
                <a:solidFill>
                  <a:srgbClr val="777777"/>
                </a:solidFill>
                <a:latin typeface="Aptos"/>
                <a:ea typeface="Aptos"/>
                <a:cs typeface="Aptos"/>
              </a:rPr>
              <a:t>BUSINESS NEEDS</a:t>
            </a:r>
          </a:p>
        </p:txBody>
      </p:sp>
      <p:sp>
        <p:nvSpPr>
          <p:cNvPr id="7" name="Straight Connector 6">
            <a:extLst>
              <a:ext uri="{FF2B5EF4-FFF2-40B4-BE49-F238E27FC236}">
                <a16:creationId xmlns:a16="http://schemas.microsoft.com/office/drawing/2014/main" id="{3310C95E-43B3-4674-B907-C7D07B7030B6}"/>
              </a:ext>
            </a:extLst>
          </p:cNvPr>
          <p:cNvSpPr>
            <a:spLocks noGrp="1"/>
          </p:cNvSpPr>
          <p:nvPr/>
        </p:nvSpPr>
        <p:spPr>
          <a:xfrm>
            <a:off x="5448300" y="1379220"/>
            <a:ext cx="723900" cy="0"/>
          </a:xfrm>
          <a:prstGeom prst="line">
            <a:avLst/>
          </a:prstGeom>
          <a:noFill/>
          <a:ln w="14288">
            <a:solidFill>
              <a:srgbClr val="B9B9B9"/>
            </a:solidFill>
            <a:prstDash val="solid"/>
          </a:ln>
        </p:spPr>
        <p:txBody>
          <a:bodyPr/>
          <a:lstStyle/>
          <a:p>
            <a:endParaRPr lang="en-US" sz="1440"/>
          </a:p>
        </p:txBody>
      </p:sp>
      <p:sp>
        <p:nvSpPr>
          <p:cNvPr id="8" name="Oval 7">
            <a:extLst>
              <a:ext uri="{FF2B5EF4-FFF2-40B4-BE49-F238E27FC236}">
                <a16:creationId xmlns:a16="http://schemas.microsoft.com/office/drawing/2014/main" id="{2F14D2C3-13A8-4DE5-8052-466181B1D8CB}"/>
              </a:ext>
            </a:extLst>
          </p:cNvPr>
          <p:cNvSpPr>
            <a:spLocks noGrp="1"/>
          </p:cNvSpPr>
          <p:nvPr/>
        </p:nvSpPr>
        <p:spPr>
          <a:xfrm>
            <a:off x="3467100" y="1203960"/>
            <a:ext cx="350520" cy="350520"/>
          </a:xfrm>
          <a:prstGeom prst="ellipse">
            <a:avLst/>
          </a:prstGeom>
          <a:solidFill>
            <a:srgbClr val="9552D0"/>
          </a:solidFill>
          <a:ln w="14288">
            <a:solidFill>
              <a:srgbClr val="9552D0"/>
            </a:solidFill>
            <a:prstDash val="solid"/>
          </a:ln>
        </p:spPr>
        <p:txBody>
          <a:bodyPr anchor="ctr"/>
          <a:lstStyle/>
          <a:p>
            <a:pPr algn="ctr">
              <a:defRPr sz="1200" b="1">
                <a:solidFill>
                  <a:srgbClr val="FFFFFF"/>
                </a:solidFill>
              </a:defRPr>
            </a:pPr>
            <a:r>
              <a:rPr sz="960" b="1">
                <a:solidFill>
                  <a:srgbClr val="FFFFFF"/>
                </a:solidFill>
              </a:rPr>
              <a:t>2</a:t>
            </a:r>
          </a:p>
        </p:txBody>
      </p:sp>
      <p:sp>
        <p:nvSpPr>
          <p:cNvPr id="9" name="Rectangle 8">
            <a:extLst>
              <a:ext uri="{FF2B5EF4-FFF2-40B4-BE49-F238E27FC236}">
                <a16:creationId xmlns:a16="http://schemas.microsoft.com/office/drawing/2014/main" id="{5E675F45-A914-4A64-8C46-24435B2B313F}"/>
              </a:ext>
            </a:extLst>
          </p:cNvPr>
          <p:cNvSpPr>
            <a:spLocks noGrp="1"/>
          </p:cNvSpPr>
          <p:nvPr/>
        </p:nvSpPr>
        <p:spPr>
          <a:xfrm>
            <a:off x="3909060" y="1234440"/>
            <a:ext cx="1828800" cy="190500"/>
          </a:xfrm>
          <a:prstGeom prst="rect">
            <a:avLst/>
          </a:prstGeom>
          <a:noFill/>
          <a:ln w="0">
            <a:noFill/>
            <a:prstDash val="solid"/>
          </a:ln>
        </p:spPr>
        <p:txBody>
          <a:bodyPr anchor="t">
            <a:noAutofit/>
          </a:bodyPr>
          <a:lstStyle/>
          <a:p>
            <a:pPr algn="l">
              <a:lnSpc>
                <a:spcPct val="108000"/>
              </a:lnSpc>
              <a:buNone/>
              <a:defRPr sz="1050" b="1" i="0">
                <a:solidFill>
                  <a:srgbClr val="9552D0"/>
                </a:solidFill>
                <a:latin typeface="Aptos"/>
                <a:ea typeface="Aptos"/>
                <a:cs typeface="Aptos"/>
              </a:defRPr>
            </a:pPr>
            <a:r>
              <a:rPr sz="840" b="1">
                <a:solidFill>
                  <a:srgbClr val="9552D0"/>
                </a:solidFill>
                <a:latin typeface="Aptos"/>
                <a:ea typeface="Aptos"/>
                <a:cs typeface="Aptos"/>
              </a:rPr>
              <a:t>DATA PROCESSING</a:t>
            </a:r>
          </a:p>
        </p:txBody>
      </p:sp>
      <p:sp>
        <p:nvSpPr>
          <p:cNvPr id="10" name="Straight Connector 9">
            <a:extLst>
              <a:ext uri="{FF2B5EF4-FFF2-40B4-BE49-F238E27FC236}">
                <a16:creationId xmlns:a16="http://schemas.microsoft.com/office/drawing/2014/main" id="{B60C2CEA-AADC-46AF-94DB-208F70879FAA}"/>
              </a:ext>
            </a:extLst>
          </p:cNvPr>
          <p:cNvSpPr>
            <a:spLocks noGrp="1"/>
          </p:cNvSpPr>
          <p:nvPr/>
        </p:nvSpPr>
        <p:spPr>
          <a:xfrm>
            <a:off x="8267700" y="1379220"/>
            <a:ext cx="723900" cy="0"/>
          </a:xfrm>
          <a:prstGeom prst="line">
            <a:avLst/>
          </a:prstGeom>
          <a:noFill/>
          <a:ln w="14288">
            <a:solidFill>
              <a:srgbClr val="B9B9B9"/>
            </a:solidFill>
            <a:prstDash val="solid"/>
          </a:ln>
        </p:spPr>
        <p:txBody>
          <a:bodyPr/>
          <a:lstStyle/>
          <a:p>
            <a:endParaRPr lang="en-US" sz="1440"/>
          </a:p>
        </p:txBody>
      </p:sp>
      <p:sp>
        <p:nvSpPr>
          <p:cNvPr id="11" name="Oval 10">
            <a:extLst>
              <a:ext uri="{FF2B5EF4-FFF2-40B4-BE49-F238E27FC236}">
                <a16:creationId xmlns:a16="http://schemas.microsoft.com/office/drawing/2014/main" id="{F40BF482-C7C3-4543-A6C3-720323A006A2}"/>
              </a:ext>
            </a:extLst>
          </p:cNvPr>
          <p:cNvSpPr>
            <a:spLocks noGrp="1"/>
          </p:cNvSpPr>
          <p:nvPr/>
        </p:nvSpPr>
        <p:spPr>
          <a:xfrm>
            <a:off x="6286500" y="1203960"/>
            <a:ext cx="350520" cy="350520"/>
          </a:xfrm>
          <a:prstGeom prst="ellipse">
            <a:avLst/>
          </a:prstGeom>
          <a:solidFill>
            <a:srgbClr val="FFFFFF"/>
          </a:solidFill>
          <a:ln w="14288">
            <a:solidFill>
              <a:srgbClr val="00A870"/>
            </a:solidFill>
            <a:prstDash val="solid"/>
          </a:ln>
        </p:spPr>
        <p:txBody>
          <a:bodyPr anchor="ctr"/>
          <a:lstStyle/>
          <a:p>
            <a:pPr algn="ctr">
              <a:defRPr sz="1200" b="1">
                <a:solidFill>
                  <a:srgbClr val="00A870"/>
                </a:solidFill>
              </a:defRPr>
            </a:pPr>
            <a:r>
              <a:rPr sz="960" b="1">
                <a:solidFill>
                  <a:srgbClr val="00A870"/>
                </a:solidFill>
              </a:rPr>
              <a:t>3</a:t>
            </a:r>
          </a:p>
        </p:txBody>
      </p:sp>
      <p:sp>
        <p:nvSpPr>
          <p:cNvPr id="12" name="Rectangle 11">
            <a:extLst>
              <a:ext uri="{FF2B5EF4-FFF2-40B4-BE49-F238E27FC236}">
                <a16:creationId xmlns:a16="http://schemas.microsoft.com/office/drawing/2014/main" id="{12980833-D58D-4902-AA11-DBDE01123DFA}"/>
              </a:ext>
            </a:extLst>
          </p:cNvPr>
          <p:cNvSpPr>
            <a:spLocks noGrp="1"/>
          </p:cNvSpPr>
          <p:nvPr/>
        </p:nvSpPr>
        <p:spPr>
          <a:xfrm>
            <a:off x="6728460" y="1234440"/>
            <a:ext cx="1828800" cy="190500"/>
          </a:xfrm>
          <a:prstGeom prst="rect">
            <a:avLst/>
          </a:prstGeom>
          <a:noFill/>
          <a:ln w="0">
            <a:noFill/>
            <a:prstDash val="solid"/>
          </a:ln>
        </p:spPr>
        <p:txBody>
          <a:bodyPr anchor="t">
            <a:noAutofit/>
          </a:bodyPr>
          <a:lstStyle/>
          <a:p>
            <a:pPr algn="l">
              <a:lnSpc>
                <a:spcPct val="108000"/>
              </a:lnSpc>
              <a:buNone/>
              <a:defRPr sz="1050" b="1" i="0">
                <a:solidFill>
                  <a:srgbClr val="777777"/>
                </a:solidFill>
                <a:latin typeface="Aptos"/>
                <a:ea typeface="Aptos"/>
                <a:cs typeface="Aptos"/>
              </a:defRPr>
            </a:pPr>
            <a:r>
              <a:rPr sz="840" b="1">
                <a:solidFill>
                  <a:srgbClr val="777777"/>
                </a:solidFill>
                <a:latin typeface="Aptos"/>
                <a:ea typeface="Aptos"/>
                <a:cs typeface="Aptos"/>
              </a:rPr>
              <a:t>DATA MODELLING</a:t>
            </a:r>
          </a:p>
        </p:txBody>
      </p:sp>
      <p:sp>
        <p:nvSpPr>
          <p:cNvPr id="13" name="Oval 12">
            <a:extLst>
              <a:ext uri="{FF2B5EF4-FFF2-40B4-BE49-F238E27FC236}">
                <a16:creationId xmlns:a16="http://schemas.microsoft.com/office/drawing/2014/main" id="{C8D637A0-7CAC-4970-B9F9-E2C8F3CAD71B}"/>
              </a:ext>
            </a:extLst>
          </p:cNvPr>
          <p:cNvSpPr>
            <a:spLocks noGrp="1"/>
          </p:cNvSpPr>
          <p:nvPr/>
        </p:nvSpPr>
        <p:spPr>
          <a:xfrm>
            <a:off x="9105900" y="1203960"/>
            <a:ext cx="350520" cy="350520"/>
          </a:xfrm>
          <a:prstGeom prst="ellipse">
            <a:avLst/>
          </a:prstGeom>
          <a:solidFill>
            <a:srgbClr val="FFFFFF"/>
          </a:solidFill>
          <a:ln w="14288">
            <a:solidFill>
              <a:srgbClr val="EF7D00"/>
            </a:solidFill>
            <a:prstDash val="solid"/>
          </a:ln>
        </p:spPr>
        <p:txBody>
          <a:bodyPr anchor="ctr"/>
          <a:lstStyle/>
          <a:p>
            <a:pPr algn="ctr">
              <a:defRPr sz="1200" b="1">
                <a:solidFill>
                  <a:srgbClr val="EF7D00"/>
                </a:solidFill>
              </a:defRPr>
            </a:pPr>
            <a:r>
              <a:rPr sz="960" b="1">
                <a:solidFill>
                  <a:srgbClr val="EF7D00"/>
                </a:solidFill>
              </a:rPr>
              <a:t>4</a:t>
            </a:r>
          </a:p>
        </p:txBody>
      </p:sp>
      <p:sp>
        <p:nvSpPr>
          <p:cNvPr id="14" name="Rectangle 13">
            <a:extLst>
              <a:ext uri="{FF2B5EF4-FFF2-40B4-BE49-F238E27FC236}">
                <a16:creationId xmlns:a16="http://schemas.microsoft.com/office/drawing/2014/main" id="{F2E52518-1D82-488F-A59F-70A8387FC149}"/>
              </a:ext>
            </a:extLst>
          </p:cNvPr>
          <p:cNvSpPr>
            <a:spLocks noGrp="1"/>
          </p:cNvSpPr>
          <p:nvPr/>
        </p:nvSpPr>
        <p:spPr>
          <a:xfrm>
            <a:off x="9547860" y="1234440"/>
            <a:ext cx="1828800" cy="190500"/>
          </a:xfrm>
          <a:prstGeom prst="rect">
            <a:avLst/>
          </a:prstGeom>
          <a:noFill/>
          <a:ln w="0">
            <a:noFill/>
            <a:prstDash val="solid"/>
          </a:ln>
        </p:spPr>
        <p:txBody>
          <a:bodyPr anchor="t">
            <a:noAutofit/>
          </a:bodyPr>
          <a:lstStyle/>
          <a:p>
            <a:pPr algn="l">
              <a:lnSpc>
                <a:spcPct val="108000"/>
              </a:lnSpc>
              <a:buNone/>
              <a:defRPr sz="1050" b="1" i="0">
                <a:solidFill>
                  <a:srgbClr val="777777"/>
                </a:solidFill>
                <a:latin typeface="Aptos"/>
                <a:ea typeface="Aptos"/>
                <a:cs typeface="Aptos"/>
              </a:defRPr>
            </a:pPr>
            <a:r>
              <a:rPr sz="840" b="1">
                <a:solidFill>
                  <a:srgbClr val="777777"/>
                </a:solidFill>
                <a:latin typeface="Aptos"/>
                <a:ea typeface="Aptos"/>
                <a:cs typeface="Aptos"/>
              </a:rPr>
              <a:t>BUSINESS INFRASTRUCTURE</a:t>
            </a:r>
          </a:p>
        </p:txBody>
      </p:sp>
      <p:sp>
        <p:nvSpPr>
          <p:cNvPr id="15" name="Straight Connector 14">
            <a:extLst>
              <a:ext uri="{FF2B5EF4-FFF2-40B4-BE49-F238E27FC236}">
                <a16:creationId xmlns:a16="http://schemas.microsoft.com/office/drawing/2014/main" id="{95AB0F71-464C-4B6B-B001-32602782E5F3}"/>
              </a:ext>
            </a:extLst>
          </p:cNvPr>
          <p:cNvSpPr>
            <a:spLocks noGrp="1"/>
          </p:cNvSpPr>
          <p:nvPr/>
        </p:nvSpPr>
        <p:spPr>
          <a:xfrm>
            <a:off x="2895600" y="2933700"/>
            <a:ext cx="1752600" cy="0"/>
          </a:xfrm>
          <a:prstGeom prst="line">
            <a:avLst/>
          </a:prstGeom>
          <a:noFill/>
          <a:ln w="19050">
            <a:solidFill>
              <a:srgbClr val="B9B9B9"/>
            </a:solidFill>
            <a:prstDash val="solid"/>
          </a:ln>
        </p:spPr>
        <p:txBody>
          <a:bodyPr/>
          <a:lstStyle/>
          <a:p>
            <a:endParaRPr lang="en-US" sz="1440"/>
          </a:p>
        </p:txBody>
      </p:sp>
      <p:sp>
        <p:nvSpPr>
          <p:cNvPr id="16" name="Straight Connector 15">
            <a:extLst>
              <a:ext uri="{FF2B5EF4-FFF2-40B4-BE49-F238E27FC236}">
                <a16:creationId xmlns:a16="http://schemas.microsoft.com/office/drawing/2014/main" id="{2049E6D1-709F-4BE8-886B-3075EE533C38}"/>
              </a:ext>
            </a:extLst>
          </p:cNvPr>
          <p:cNvSpPr>
            <a:spLocks noGrp="1"/>
          </p:cNvSpPr>
          <p:nvPr/>
        </p:nvSpPr>
        <p:spPr>
          <a:xfrm>
            <a:off x="6896100" y="2933700"/>
            <a:ext cx="1752600" cy="0"/>
          </a:xfrm>
          <a:prstGeom prst="line">
            <a:avLst/>
          </a:prstGeom>
          <a:noFill/>
          <a:ln w="19050">
            <a:solidFill>
              <a:srgbClr val="B9B9B9"/>
            </a:solidFill>
            <a:prstDash val="solid"/>
          </a:ln>
        </p:spPr>
        <p:txBody>
          <a:bodyPr/>
          <a:lstStyle/>
          <a:p>
            <a:endParaRPr lang="en-US" sz="1440"/>
          </a:p>
        </p:txBody>
      </p:sp>
      <p:sp>
        <p:nvSpPr>
          <p:cNvPr id="17" name="Rounded Rectangle 16">
            <a:extLst>
              <a:ext uri="{FF2B5EF4-FFF2-40B4-BE49-F238E27FC236}">
                <a16:creationId xmlns:a16="http://schemas.microsoft.com/office/drawing/2014/main" id="{F3314332-F85B-44D2-9FF6-DD6937B448E7}"/>
              </a:ext>
            </a:extLst>
          </p:cNvPr>
          <p:cNvSpPr>
            <a:spLocks noGrp="1"/>
          </p:cNvSpPr>
          <p:nvPr/>
        </p:nvSpPr>
        <p:spPr>
          <a:xfrm>
            <a:off x="609600" y="1905000"/>
            <a:ext cx="2286000" cy="2095500"/>
          </a:xfrm>
          <a:prstGeom prst="roundRect">
            <a:avLst>
              <a:gd name="adj" fmla="val 5818"/>
            </a:avLst>
          </a:prstGeom>
          <a:solidFill>
            <a:srgbClr val="F5EEFC"/>
          </a:solidFill>
          <a:ln w="19050">
            <a:solidFill>
              <a:srgbClr val="9552D0"/>
            </a:solidFill>
            <a:prstDash val="solid"/>
          </a:ln>
        </p:spPr>
        <p:txBody>
          <a:bodyPr/>
          <a:lstStyle/>
          <a:p>
            <a:endParaRPr lang="en-US" sz="1440"/>
          </a:p>
        </p:txBody>
      </p:sp>
      <p:sp>
        <p:nvSpPr>
          <p:cNvPr id="18" name="Rectangle 17">
            <a:extLst>
              <a:ext uri="{FF2B5EF4-FFF2-40B4-BE49-F238E27FC236}">
                <a16:creationId xmlns:a16="http://schemas.microsoft.com/office/drawing/2014/main" id="{F38EDCE0-D24D-4C89-9A78-83E6337B5C78}"/>
              </a:ext>
            </a:extLst>
          </p:cNvPr>
          <p:cNvSpPr>
            <a:spLocks noGrp="1"/>
          </p:cNvSpPr>
          <p:nvPr/>
        </p:nvSpPr>
        <p:spPr>
          <a:xfrm>
            <a:off x="822960" y="2049780"/>
            <a:ext cx="1859280" cy="160020"/>
          </a:xfrm>
          <a:prstGeom prst="rect">
            <a:avLst/>
          </a:prstGeom>
          <a:noFill/>
          <a:ln w="0">
            <a:noFill/>
            <a:prstDash val="solid"/>
          </a:ln>
        </p:spPr>
        <p:txBody>
          <a:bodyPr anchor="t">
            <a:noAutofit/>
          </a:bodyPr>
          <a:lstStyle/>
          <a:p>
            <a:pPr algn="l">
              <a:lnSpc>
                <a:spcPct val="108000"/>
              </a:lnSpc>
              <a:buNone/>
              <a:defRPr sz="975" b="1" i="0">
                <a:solidFill>
                  <a:srgbClr val="9552D0"/>
                </a:solidFill>
                <a:latin typeface="Aptos"/>
                <a:ea typeface="Aptos"/>
                <a:cs typeface="Aptos"/>
              </a:defRPr>
            </a:pPr>
            <a:r>
              <a:rPr sz="780" b="1">
                <a:solidFill>
                  <a:srgbClr val="9552D0"/>
                </a:solidFill>
                <a:latin typeface="Aptos"/>
                <a:ea typeface="Aptos"/>
                <a:cs typeface="Aptos"/>
              </a:rPr>
              <a:t>UNIFIED EXTRACTION</a:t>
            </a:r>
          </a:p>
        </p:txBody>
      </p:sp>
      <p:sp>
        <p:nvSpPr>
          <p:cNvPr id="19" name="Rectangle 18">
            <a:extLst>
              <a:ext uri="{FF2B5EF4-FFF2-40B4-BE49-F238E27FC236}">
                <a16:creationId xmlns:a16="http://schemas.microsoft.com/office/drawing/2014/main" id="{76646670-82B5-420C-AF96-00EDC42164EE}"/>
              </a:ext>
            </a:extLst>
          </p:cNvPr>
          <p:cNvSpPr>
            <a:spLocks noGrp="1"/>
          </p:cNvSpPr>
          <p:nvPr/>
        </p:nvSpPr>
        <p:spPr>
          <a:xfrm>
            <a:off x="822960" y="2247900"/>
            <a:ext cx="1859280" cy="441960"/>
          </a:xfrm>
          <a:prstGeom prst="rect">
            <a:avLst/>
          </a:prstGeom>
          <a:noFill/>
          <a:ln w="0">
            <a:noFill/>
            <a:prstDash val="solid"/>
          </a:ln>
        </p:spPr>
        <p:txBody>
          <a:bodyPr anchor="ctr">
            <a:normAutofit fontScale="80581" lnSpcReduction="20000"/>
          </a:bodyPr>
          <a:lstStyle/>
          <a:p>
            <a:pPr algn="l">
              <a:lnSpc>
                <a:spcPct val="108000"/>
              </a:lnSpc>
              <a:buNone/>
              <a:defRPr sz="1800" b="1" i="0">
                <a:solidFill>
                  <a:srgbClr val="111111"/>
                </a:solidFill>
                <a:latin typeface="Georgia"/>
                <a:ea typeface="Georgia"/>
                <a:cs typeface="Georgia"/>
              </a:defRPr>
            </a:pPr>
            <a:r>
              <a:rPr sz="1440" b="1">
                <a:solidFill>
                  <a:srgbClr val="111111"/>
                </a:solidFill>
                <a:latin typeface="Georgia"/>
                <a:ea typeface="Georgia"/>
                <a:cs typeface="Georgia"/>
              </a:rPr>
              <a:t>19.56M measurements</a:t>
            </a:r>
          </a:p>
        </p:txBody>
      </p:sp>
      <p:sp>
        <p:nvSpPr>
          <p:cNvPr id="20" name="Rectangle 19">
            <a:extLst>
              <a:ext uri="{FF2B5EF4-FFF2-40B4-BE49-F238E27FC236}">
                <a16:creationId xmlns:a16="http://schemas.microsoft.com/office/drawing/2014/main" id="{DEB59A3E-0952-49A4-928E-3A658492620E}"/>
              </a:ext>
            </a:extLst>
          </p:cNvPr>
          <p:cNvSpPr>
            <a:spLocks noGrp="1"/>
          </p:cNvSpPr>
          <p:nvPr/>
        </p:nvSpPr>
        <p:spPr>
          <a:xfrm>
            <a:off x="822960" y="2758440"/>
            <a:ext cx="1859280" cy="1104900"/>
          </a:xfrm>
          <a:prstGeom prst="rect">
            <a:avLst/>
          </a:prstGeom>
          <a:noFill/>
          <a:ln w="0">
            <a:noFill/>
            <a:prstDash val="solid"/>
          </a:ln>
        </p:spPr>
        <p:txBody>
          <a:bodyPr anchor="t">
            <a:normAutofit/>
          </a:bodyPr>
          <a:lstStyle/>
          <a:p>
            <a:pPr algn="l">
              <a:lnSpc>
                <a:spcPct val="115000"/>
              </a:lnSpc>
              <a:buNone/>
              <a:defRPr sz="1425" b="0" i="0">
                <a:solidFill>
                  <a:srgbClr val="5A5A5A"/>
                </a:solidFill>
                <a:latin typeface="Aptos"/>
                <a:ea typeface="Aptos"/>
                <a:cs typeface="Aptos"/>
              </a:defRPr>
            </a:pPr>
            <a:r>
              <a:rPr sz="1140">
                <a:solidFill>
                  <a:srgbClr val="5A5A5A"/>
                </a:solidFill>
                <a:latin typeface="Aptos"/>
                <a:ea typeface="Aptos"/>
                <a:cs typeface="Aptos"/>
              </a:rPr>
              <a:t>First-24-hour long-format table spanning 473 raw labels from the source system.</a:t>
            </a:r>
          </a:p>
        </p:txBody>
      </p:sp>
      <p:sp>
        <p:nvSpPr>
          <p:cNvPr id="21" name="Rounded Rectangle 20">
            <a:extLst>
              <a:ext uri="{FF2B5EF4-FFF2-40B4-BE49-F238E27FC236}">
                <a16:creationId xmlns:a16="http://schemas.microsoft.com/office/drawing/2014/main" id="{7781FEBE-7FEB-47BA-8E2D-02FEC72B305A}"/>
              </a:ext>
            </a:extLst>
          </p:cNvPr>
          <p:cNvSpPr>
            <a:spLocks noGrp="1"/>
          </p:cNvSpPr>
          <p:nvPr/>
        </p:nvSpPr>
        <p:spPr>
          <a:xfrm>
            <a:off x="3810000" y="1905000"/>
            <a:ext cx="3086100" cy="2095500"/>
          </a:xfrm>
          <a:prstGeom prst="roundRect">
            <a:avLst>
              <a:gd name="adj" fmla="val 5818"/>
            </a:avLst>
          </a:prstGeom>
          <a:solidFill>
            <a:srgbClr val="FFFFFF"/>
          </a:solidFill>
          <a:ln w="19050">
            <a:solidFill>
              <a:srgbClr val="9552D0"/>
            </a:solidFill>
            <a:prstDash val="solid"/>
          </a:ln>
        </p:spPr>
        <p:txBody>
          <a:bodyPr/>
          <a:lstStyle/>
          <a:p>
            <a:endParaRPr lang="en-US" sz="1440"/>
          </a:p>
        </p:txBody>
      </p:sp>
      <p:sp>
        <p:nvSpPr>
          <p:cNvPr id="22" name="Rectangle 21">
            <a:extLst>
              <a:ext uri="{FF2B5EF4-FFF2-40B4-BE49-F238E27FC236}">
                <a16:creationId xmlns:a16="http://schemas.microsoft.com/office/drawing/2014/main" id="{E7A7F428-50F2-4A8D-AA4F-D50558479935}"/>
              </a:ext>
            </a:extLst>
          </p:cNvPr>
          <p:cNvSpPr>
            <a:spLocks noGrp="1"/>
          </p:cNvSpPr>
          <p:nvPr/>
        </p:nvSpPr>
        <p:spPr>
          <a:xfrm>
            <a:off x="4023360" y="2049780"/>
            <a:ext cx="2659380" cy="160020"/>
          </a:xfrm>
          <a:prstGeom prst="rect">
            <a:avLst/>
          </a:prstGeom>
          <a:noFill/>
          <a:ln w="0">
            <a:noFill/>
            <a:prstDash val="solid"/>
          </a:ln>
        </p:spPr>
        <p:txBody>
          <a:bodyPr anchor="t">
            <a:noAutofit/>
          </a:bodyPr>
          <a:lstStyle/>
          <a:p>
            <a:pPr algn="l">
              <a:lnSpc>
                <a:spcPct val="108000"/>
              </a:lnSpc>
              <a:buNone/>
              <a:defRPr sz="975" b="1" i="0">
                <a:solidFill>
                  <a:srgbClr val="9552D0"/>
                </a:solidFill>
                <a:latin typeface="Aptos"/>
                <a:ea typeface="Aptos"/>
                <a:cs typeface="Aptos"/>
              </a:defRPr>
            </a:pPr>
            <a:r>
              <a:rPr sz="780" b="1">
                <a:solidFill>
                  <a:srgbClr val="9552D0"/>
                </a:solidFill>
                <a:latin typeface="Aptos"/>
                <a:ea typeface="Aptos"/>
                <a:cs typeface="Aptos"/>
              </a:rPr>
              <a:t>TEMPORAL ENGINEERING</a:t>
            </a:r>
          </a:p>
        </p:txBody>
      </p:sp>
      <p:sp>
        <p:nvSpPr>
          <p:cNvPr id="23" name="Rectangle 22">
            <a:extLst>
              <a:ext uri="{FF2B5EF4-FFF2-40B4-BE49-F238E27FC236}">
                <a16:creationId xmlns:a16="http://schemas.microsoft.com/office/drawing/2014/main" id="{9F39F644-9D0A-4580-8668-ED60B6066A99}"/>
              </a:ext>
            </a:extLst>
          </p:cNvPr>
          <p:cNvSpPr>
            <a:spLocks noGrp="1"/>
          </p:cNvSpPr>
          <p:nvPr/>
        </p:nvSpPr>
        <p:spPr>
          <a:xfrm>
            <a:off x="4023360" y="2247900"/>
            <a:ext cx="2659380" cy="441960"/>
          </a:xfrm>
          <a:prstGeom prst="rect">
            <a:avLst/>
          </a:prstGeom>
          <a:noFill/>
          <a:ln w="0">
            <a:noFill/>
            <a:prstDash val="solid"/>
          </a:ln>
        </p:spPr>
        <p:txBody>
          <a:bodyPr anchor="ctr">
            <a:normAutofit/>
          </a:bodyPr>
          <a:lstStyle/>
          <a:p>
            <a:pPr algn="l">
              <a:lnSpc>
                <a:spcPct val="108000"/>
              </a:lnSpc>
              <a:buNone/>
              <a:defRPr sz="1800" b="1" i="0">
                <a:solidFill>
                  <a:srgbClr val="111111"/>
                </a:solidFill>
                <a:latin typeface="Georgia"/>
                <a:ea typeface="Georgia"/>
                <a:cs typeface="Georgia"/>
              </a:defRPr>
            </a:pPr>
            <a:r>
              <a:rPr sz="1440" b="1">
                <a:solidFill>
                  <a:srgbClr val="111111"/>
                </a:solidFill>
                <a:latin typeface="Georgia"/>
                <a:ea typeface="Georgia"/>
                <a:cs typeface="Georgia"/>
              </a:rPr>
              <a:t>8 core variables</a:t>
            </a:r>
          </a:p>
        </p:txBody>
      </p:sp>
      <p:sp>
        <p:nvSpPr>
          <p:cNvPr id="24" name="Rectangle 23">
            <a:extLst>
              <a:ext uri="{FF2B5EF4-FFF2-40B4-BE49-F238E27FC236}">
                <a16:creationId xmlns:a16="http://schemas.microsoft.com/office/drawing/2014/main" id="{674A3601-8A2A-4F2B-B495-E14ECC4854B8}"/>
              </a:ext>
            </a:extLst>
          </p:cNvPr>
          <p:cNvSpPr>
            <a:spLocks noGrp="1"/>
          </p:cNvSpPr>
          <p:nvPr/>
        </p:nvSpPr>
        <p:spPr>
          <a:xfrm>
            <a:off x="4023360" y="2758440"/>
            <a:ext cx="2659380" cy="1104900"/>
          </a:xfrm>
          <a:prstGeom prst="rect">
            <a:avLst/>
          </a:prstGeom>
          <a:noFill/>
          <a:ln w="0">
            <a:noFill/>
            <a:prstDash val="solid"/>
          </a:ln>
        </p:spPr>
        <p:txBody>
          <a:bodyPr anchor="t">
            <a:normAutofit/>
          </a:bodyPr>
          <a:lstStyle/>
          <a:p>
            <a:pPr algn="l">
              <a:lnSpc>
                <a:spcPct val="115000"/>
              </a:lnSpc>
              <a:buNone/>
              <a:defRPr sz="1425" b="0" i="0">
                <a:solidFill>
                  <a:srgbClr val="5A5A5A"/>
                </a:solidFill>
                <a:latin typeface="Aptos"/>
                <a:ea typeface="Aptos"/>
                <a:cs typeface="Aptos"/>
              </a:defRPr>
            </a:pPr>
            <a:r>
              <a:rPr sz="1140">
                <a:solidFill>
                  <a:srgbClr val="5A5A5A"/>
                </a:solidFill>
                <a:latin typeface="Aptos"/>
                <a:ea typeface="Aptos"/>
                <a:cs typeface="Aptos"/>
              </a:rPr>
              <a:t>First value, last value, change, slope/availability, and defensive checks were constructed at the ICU-stay level.</a:t>
            </a:r>
          </a:p>
        </p:txBody>
      </p:sp>
      <p:sp>
        <p:nvSpPr>
          <p:cNvPr id="25" name="Rounded Rectangle 24">
            <a:extLst>
              <a:ext uri="{FF2B5EF4-FFF2-40B4-BE49-F238E27FC236}">
                <a16:creationId xmlns:a16="http://schemas.microsoft.com/office/drawing/2014/main" id="{80A51BCE-C8D5-4BA4-9AB8-285AF999B584}"/>
              </a:ext>
            </a:extLst>
          </p:cNvPr>
          <p:cNvSpPr>
            <a:spLocks noGrp="1"/>
          </p:cNvSpPr>
          <p:nvPr/>
        </p:nvSpPr>
        <p:spPr>
          <a:xfrm>
            <a:off x="7810500" y="1752600"/>
            <a:ext cx="3695700" cy="2400300"/>
          </a:xfrm>
          <a:prstGeom prst="roundRect">
            <a:avLst>
              <a:gd name="adj" fmla="val 5079"/>
            </a:avLst>
          </a:prstGeom>
          <a:solidFill>
            <a:srgbClr val="EAF8F2"/>
          </a:solidFill>
          <a:ln w="19050">
            <a:solidFill>
              <a:srgbClr val="00A870"/>
            </a:solidFill>
            <a:prstDash val="solid"/>
          </a:ln>
        </p:spPr>
        <p:txBody>
          <a:bodyPr/>
          <a:lstStyle/>
          <a:p>
            <a:endParaRPr lang="en-US" sz="1440"/>
          </a:p>
        </p:txBody>
      </p:sp>
      <p:sp>
        <p:nvSpPr>
          <p:cNvPr id="26" name="Rectangle 25">
            <a:extLst>
              <a:ext uri="{FF2B5EF4-FFF2-40B4-BE49-F238E27FC236}">
                <a16:creationId xmlns:a16="http://schemas.microsoft.com/office/drawing/2014/main" id="{231AF31A-9DF9-4B62-8669-AF0B18B43ED6}"/>
              </a:ext>
            </a:extLst>
          </p:cNvPr>
          <p:cNvSpPr>
            <a:spLocks noGrp="1"/>
          </p:cNvSpPr>
          <p:nvPr/>
        </p:nvSpPr>
        <p:spPr>
          <a:xfrm>
            <a:off x="8023860" y="1897380"/>
            <a:ext cx="3268980" cy="160020"/>
          </a:xfrm>
          <a:prstGeom prst="rect">
            <a:avLst/>
          </a:prstGeom>
          <a:noFill/>
          <a:ln w="0">
            <a:noFill/>
            <a:prstDash val="solid"/>
          </a:ln>
        </p:spPr>
        <p:txBody>
          <a:bodyPr anchor="t">
            <a:noAutofit/>
          </a:bodyPr>
          <a:lstStyle/>
          <a:p>
            <a:pPr algn="l">
              <a:lnSpc>
                <a:spcPct val="108000"/>
              </a:lnSpc>
              <a:buNone/>
              <a:defRPr sz="975" b="1" i="0">
                <a:solidFill>
                  <a:srgbClr val="00A870"/>
                </a:solidFill>
                <a:latin typeface="Aptos"/>
                <a:ea typeface="Aptos"/>
                <a:cs typeface="Aptos"/>
              </a:defRPr>
            </a:pPr>
            <a:r>
              <a:rPr sz="780" b="1">
                <a:solidFill>
                  <a:srgbClr val="00A870"/>
                </a:solidFill>
                <a:latin typeface="Aptos"/>
                <a:ea typeface="Aptos"/>
                <a:cs typeface="Aptos"/>
              </a:rPr>
              <a:t>FINAL BIOCHEMICAL FOCUS</a:t>
            </a:r>
          </a:p>
        </p:txBody>
      </p:sp>
      <p:sp>
        <p:nvSpPr>
          <p:cNvPr id="27" name="Rectangle 26">
            <a:extLst>
              <a:ext uri="{FF2B5EF4-FFF2-40B4-BE49-F238E27FC236}">
                <a16:creationId xmlns:a16="http://schemas.microsoft.com/office/drawing/2014/main" id="{43DB79D2-55CA-416D-BC88-4389FFE48FE4}"/>
              </a:ext>
            </a:extLst>
          </p:cNvPr>
          <p:cNvSpPr>
            <a:spLocks noGrp="1"/>
          </p:cNvSpPr>
          <p:nvPr/>
        </p:nvSpPr>
        <p:spPr>
          <a:xfrm>
            <a:off x="8023860" y="2095500"/>
            <a:ext cx="3268980" cy="441960"/>
          </a:xfrm>
          <a:prstGeom prst="rect">
            <a:avLst/>
          </a:prstGeom>
          <a:noFill/>
          <a:ln w="0">
            <a:noFill/>
            <a:prstDash val="solid"/>
          </a:ln>
        </p:spPr>
        <p:txBody>
          <a:bodyPr anchor="ctr">
            <a:normAutofit/>
          </a:bodyPr>
          <a:lstStyle/>
          <a:p>
            <a:pPr algn="l">
              <a:lnSpc>
                <a:spcPct val="108000"/>
              </a:lnSpc>
              <a:buNone/>
              <a:defRPr sz="1800" b="1" i="0">
                <a:solidFill>
                  <a:srgbClr val="111111"/>
                </a:solidFill>
                <a:latin typeface="Georgia"/>
                <a:ea typeface="Georgia"/>
                <a:cs typeface="Georgia"/>
              </a:defRPr>
            </a:pPr>
            <a:r>
              <a:rPr sz="1440" b="1">
                <a:solidFill>
                  <a:srgbClr val="111111"/>
                </a:solidFill>
                <a:latin typeface="Georgia"/>
                <a:ea typeface="Georgia"/>
                <a:cs typeface="Georgia"/>
              </a:rPr>
              <a:t>Four laboratory biomarkers</a:t>
            </a:r>
          </a:p>
        </p:txBody>
      </p:sp>
      <p:sp>
        <p:nvSpPr>
          <p:cNvPr id="28" name="Rectangle 27">
            <a:extLst>
              <a:ext uri="{FF2B5EF4-FFF2-40B4-BE49-F238E27FC236}">
                <a16:creationId xmlns:a16="http://schemas.microsoft.com/office/drawing/2014/main" id="{9FCEF61B-B76E-4F49-8997-0DACDDF70F85}"/>
              </a:ext>
            </a:extLst>
          </p:cNvPr>
          <p:cNvSpPr>
            <a:spLocks noGrp="1"/>
          </p:cNvSpPr>
          <p:nvPr/>
        </p:nvSpPr>
        <p:spPr>
          <a:xfrm>
            <a:off x="8023860" y="2606040"/>
            <a:ext cx="3268980" cy="1409700"/>
          </a:xfrm>
          <a:prstGeom prst="rect">
            <a:avLst/>
          </a:prstGeom>
          <a:noFill/>
          <a:ln w="0">
            <a:noFill/>
            <a:prstDash val="solid"/>
          </a:ln>
        </p:spPr>
        <p:txBody>
          <a:bodyPr anchor="t">
            <a:normAutofit/>
          </a:bodyPr>
          <a:lstStyle/>
          <a:p>
            <a:pPr algn="l">
              <a:lnSpc>
                <a:spcPct val="115000"/>
              </a:lnSpc>
              <a:buNone/>
              <a:defRPr sz="1425" b="0" i="0">
                <a:solidFill>
                  <a:srgbClr val="5A5A5A"/>
                </a:solidFill>
                <a:latin typeface="Aptos"/>
                <a:ea typeface="Aptos"/>
                <a:cs typeface="Aptos"/>
              </a:defRPr>
            </a:pPr>
            <a:r>
              <a:rPr sz="1140">
                <a:solidFill>
                  <a:srgbClr val="5A5A5A"/>
                </a:solidFill>
                <a:latin typeface="Aptos"/>
                <a:ea typeface="Aptos"/>
                <a:cs typeface="Aptos"/>
              </a:rPr>
              <a:t>Lactate — perfusion</a:t>
            </a:r>
          </a:p>
          <a:p>
            <a:pPr algn="l">
              <a:lnSpc>
                <a:spcPct val="115000"/>
              </a:lnSpc>
              <a:buNone/>
              <a:defRPr sz="1425" b="0" i="0">
                <a:solidFill>
                  <a:srgbClr val="5A5A5A"/>
                </a:solidFill>
                <a:latin typeface="Aptos"/>
                <a:ea typeface="Aptos"/>
                <a:cs typeface="Aptos"/>
              </a:defRPr>
            </a:pPr>
            <a:r>
              <a:rPr sz="1140">
                <a:solidFill>
                  <a:srgbClr val="5A5A5A"/>
                </a:solidFill>
                <a:latin typeface="Aptos"/>
                <a:ea typeface="Aptos"/>
                <a:cs typeface="Aptos"/>
              </a:rPr>
              <a:t>Creatinine — renal function</a:t>
            </a:r>
          </a:p>
          <a:p>
            <a:pPr algn="l">
              <a:lnSpc>
                <a:spcPct val="115000"/>
              </a:lnSpc>
              <a:buNone/>
              <a:defRPr sz="1425" b="0" i="0">
                <a:solidFill>
                  <a:srgbClr val="5A5A5A"/>
                </a:solidFill>
                <a:latin typeface="Aptos"/>
                <a:ea typeface="Aptos"/>
                <a:cs typeface="Aptos"/>
              </a:defRPr>
            </a:pPr>
            <a:r>
              <a:rPr sz="1140">
                <a:solidFill>
                  <a:srgbClr val="5A5A5A"/>
                </a:solidFill>
                <a:latin typeface="Aptos"/>
                <a:ea typeface="Aptos"/>
                <a:cs typeface="Aptos"/>
              </a:rPr>
              <a:t>WBC — inflammatory response</a:t>
            </a:r>
          </a:p>
          <a:p>
            <a:pPr algn="l">
              <a:lnSpc>
                <a:spcPct val="115000"/>
              </a:lnSpc>
              <a:buNone/>
              <a:defRPr sz="1425" b="0" i="0">
                <a:solidFill>
                  <a:srgbClr val="5A5A5A"/>
                </a:solidFill>
                <a:latin typeface="Aptos"/>
                <a:ea typeface="Aptos"/>
                <a:cs typeface="Aptos"/>
              </a:defRPr>
            </a:pPr>
            <a:r>
              <a:rPr sz="1140">
                <a:solidFill>
                  <a:srgbClr val="5A5A5A"/>
                </a:solidFill>
                <a:latin typeface="Aptos"/>
                <a:ea typeface="Aptos"/>
                <a:cs typeface="Aptos"/>
              </a:rPr>
              <a:t>Platelets — coagulation response</a:t>
            </a:r>
          </a:p>
        </p:txBody>
      </p:sp>
      <p:sp>
        <p:nvSpPr>
          <p:cNvPr id="29" name="Rectangle 28">
            <a:extLst>
              <a:ext uri="{FF2B5EF4-FFF2-40B4-BE49-F238E27FC236}">
                <a16:creationId xmlns:a16="http://schemas.microsoft.com/office/drawing/2014/main" id="{F6852F68-B504-4072-96AC-B73760B85675}"/>
              </a:ext>
            </a:extLst>
          </p:cNvPr>
          <p:cNvSpPr>
            <a:spLocks noGrp="1"/>
          </p:cNvSpPr>
          <p:nvPr/>
        </p:nvSpPr>
        <p:spPr>
          <a:xfrm>
            <a:off x="723900" y="4762500"/>
            <a:ext cx="1676400" cy="266700"/>
          </a:xfrm>
          <a:prstGeom prst="rect">
            <a:avLst/>
          </a:prstGeom>
          <a:noFill/>
          <a:ln w="0">
            <a:noFill/>
            <a:prstDash val="solid"/>
          </a:ln>
        </p:spPr>
        <p:txBody>
          <a:bodyPr anchor="t">
            <a:noAutofit/>
          </a:bodyPr>
          <a:lstStyle/>
          <a:p>
            <a:pPr algn="l">
              <a:lnSpc>
                <a:spcPct val="108000"/>
              </a:lnSpc>
              <a:buNone/>
              <a:defRPr sz="1950" b="1" i="0">
                <a:solidFill>
                  <a:srgbClr val="EF7D00"/>
                </a:solidFill>
                <a:latin typeface="Georgia"/>
                <a:ea typeface="Georgia"/>
                <a:cs typeface="Georgia"/>
              </a:defRPr>
            </a:pPr>
            <a:r>
              <a:rPr sz="1560" b="1">
                <a:solidFill>
                  <a:srgbClr val="EF7D00"/>
                </a:solidFill>
                <a:latin typeface="Georgia"/>
                <a:ea typeface="Georgia"/>
                <a:cs typeface="Georgia"/>
              </a:rPr>
              <a:t>Clarification</a:t>
            </a:r>
          </a:p>
        </p:txBody>
      </p:sp>
      <p:sp>
        <p:nvSpPr>
          <p:cNvPr id="30" name="Rectangle 29">
            <a:extLst>
              <a:ext uri="{FF2B5EF4-FFF2-40B4-BE49-F238E27FC236}">
                <a16:creationId xmlns:a16="http://schemas.microsoft.com/office/drawing/2014/main" id="{20F0D42F-1E1B-4B2B-8D8A-8D212B2F26EE}"/>
              </a:ext>
            </a:extLst>
          </p:cNvPr>
          <p:cNvSpPr>
            <a:spLocks noGrp="1"/>
          </p:cNvSpPr>
          <p:nvPr/>
        </p:nvSpPr>
        <p:spPr>
          <a:xfrm>
            <a:off x="723900" y="5158740"/>
            <a:ext cx="10058400" cy="563880"/>
          </a:xfrm>
          <a:prstGeom prst="rect">
            <a:avLst/>
          </a:prstGeom>
          <a:noFill/>
          <a:ln w="0">
            <a:noFill/>
            <a:prstDash val="solid"/>
          </a:ln>
        </p:spPr>
        <p:txBody>
          <a:bodyPr anchor="t">
            <a:noAutofit/>
          </a:bodyPr>
          <a:lstStyle/>
          <a:p>
            <a:pPr algn="l">
              <a:lnSpc>
                <a:spcPct val="108000"/>
              </a:lnSpc>
              <a:buNone/>
              <a:defRPr sz="1875" b="1" i="0">
                <a:solidFill>
                  <a:srgbClr val="111111"/>
                </a:solidFill>
                <a:latin typeface="Georgia"/>
                <a:ea typeface="Georgia"/>
                <a:cs typeface="Georgia"/>
              </a:defRPr>
            </a:pPr>
            <a:r>
              <a:rPr sz="1500" b="1">
                <a:solidFill>
                  <a:srgbClr val="111111"/>
                </a:solidFill>
                <a:latin typeface="Georgia"/>
                <a:ea typeface="Georgia"/>
                <a:cs typeface="Georgia"/>
              </a:rPr>
              <a:t>Vitals and labs were available in the unified extraction, but the canonical clustering result intentionally narrowed the modelling input to these four biochemical laboratory trajectories.</a:t>
            </a:r>
          </a:p>
        </p:txBody>
      </p:sp>
      <p:sp>
        <p:nvSpPr>
          <p:cNvPr id="31" name="Rectangle 30">
            <a:extLst>
              <a:ext uri="{FF2B5EF4-FFF2-40B4-BE49-F238E27FC236}">
                <a16:creationId xmlns:a16="http://schemas.microsoft.com/office/drawing/2014/main" id="{05FDB8B1-22FC-4589-A8A3-C3FB324A9D8B}"/>
              </a:ext>
            </a:extLst>
          </p:cNvPr>
          <p:cNvSpPr>
            <a:spLocks noGrp="1"/>
          </p:cNvSpPr>
          <p:nvPr/>
        </p:nvSpPr>
        <p:spPr>
          <a:xfrm>
            <a:off x="723900" y="5928360"/>
            <a:ext cx="10058400" cy="213360"/>
          </a:xfrm>
          <a:prstGeom prst="rect">
            <a:avLst/>
          </a:prstGeom>
          <a:noFill/>
          <a:ln w="0">
            <a:noFill/>
            <a:prstDash val="solid"/>
          </a:ln>
        </p:spPr>
        <p:txBody>
          <a:bodyPr anchor="t">
            <a:noAutofit/>
          </a:bodyPr>
          <a:lstStyle/>
          <a:p>
            <a:pPr algn="l">
              <a:lnSpc>
                <a:spcPct val="108000"/>
              </a:lnSpc>
              <a:buNone/>
              <a:defRPr sz="1350" b="1" i="0">
                <a:solidFill>
                  <a:srgbClr val="D64B45"/>
                </a:solidFill>
                <a:latin typeface="Aptos"/>
                <a:ea typeface="Aptos"/>
                <a:cs typeface="Aptos"/>
              </a:defRPr>
            </a:pPr>
            <a:r>
              <a:rPr sz="1080" b="1">
                <a:solidFill>
                  <a:srgbClr val="D64B45"/>
                </a:solidFill>
                <a:latin typeface="Aptos"/>
                <a:ea typeface="Aptos"/>
                <a:cs typeface="Aptos"/>
              </a:rPr>
              <a:t>473 raw labels — not approximately 180 features — is the count documented in the project report.</a:t>
            </a:r>
          </a:p>
        </p:txBody>
      </p:sp>
      <p:sp>
        <p:nvSpPr>
          <p:cNvPr id="32" name="Straight Connector 31">
            <a:extLst>
              <a:ext uri="{FF2B5EF4-FFF2-40B4-BE49-F238E27FC236}">
                <a16:creationId xmlns:a16="http://schemas.microsoft.com/office/drawing/2014/main" id="{72C43455-FE5F-4802-8AF1-D0D988D9BE4C}"/>
              </a:ext>
            </a:extLst>
          </p:cNvPr>
          <p:cNvSpPr>
            <a:spLocks noGrp="1"/>
          </p:cNvSpPr>
          <p:nvPr/>
        </p:nvSpPr>
        <p:spPr>
          <a:xfrm>
            <a:off x="609600" y="6507480"/>
            <a:ext cx="10972800" cy="0"/>
          </a:xfrm>
          <a:prstGeom prst="line">
            <a:avLst/>
          </a:prstGeom>
          <a:noFill/>
          <a:ln w="9525">
            <a:solidFill>
              <a:srgbClr val="DDDDDD"/>
            </a:solidFill>
            <a:prstDash val="solid"/>
          </a:ln>
        </p:spPr>
        <p:txBody>
          <a:bodyPr/>
          <a:lstStyle/>
          <a:p>
            <a:endParaRPr lang="en-US" sz="1440"/>
          </a:p>
        </p:txBody>
      </p:sp>
      <p:sp>
        <p:nvSpPr>
          <p:cNvPr id="33" name="Rectangle 32">
            <a:extLst>
              <a:ext uri="{FF2B5EF4-FFF2-40B4-BE49-F238E27FC236}">
                <a16:creationId xmlns:a16="http://schemas.microsoft.com/office/drawing/2014/main" id="{1F0B7E4F-F0AE-4686-A90D-B6BBEBFB2E32}"/>
              </a:ext>
            </a:extLst>
          </p:cNvPr>
          <p:cNvSpPr>
            <a:spLocks noGrp="1"/>
          </p:cNvSpPr>
          <p:nvPr/>
        </p:nvSpPr>
        <p:spPr>
          <a:xfrm>
            <a:off x="624840" y="6568440"/>
            <a:ext cx="5791200" cy="167640"/>
          </a:xfrm>
          <a:prstGeom prst="rect">
            <a:avLst/>
          </a:prstGeom>
          <a:noFill/>
          <a:ln w="0">
            <a:noFill/>
            <a:prstDash val="solid"/>
          </a:ln>
        </p:spPr>
        <p:txBody>
          <a:bodyPr anchor="t">
            <a:noAutofit/>
          </a:bodyPr>
          <a:lstStyle/>
          <a:p>
            <a:pPr algn="l">
              <a:lnSpc>
                <a:spcPct val="108000"/>
              </a:lnSpc>
              <a:buNone/>
              <a:defRPr sz="975" b="0" i="0">
                <a:solidFill>
                  <a:srgbClr val="777777"/>
                </a:solidFill>
                <a:latin typeface="Aptos"/>
                <a:ea typeface="Aptos"/>
                <a:cs typeface="Aptos"/>
              </a:defRPr>
            </a:pPr>
            <a:r>
              <a:rPr sz="780">
                <a:solidFill>
                  <a:srgbClr val="777777"/>
                </a:solidFill>
                <a:latin typeface="Aptos"/>
                <a:ea typeface="Aptos"/>
                <a:cs typeface="Aptos"/>
              </a:rPr>
              <a:t>MIMIC-IV first-24-hour biochemical trajectory study</a:t>
            </a:r>
          </a:p>
        </p:txBody>
      </p:sp>
      <p:sp>
        <p:nvSpPr>
          <p:cNvPr id="34" name="Rectangle 33">
            <a:extLst>
              <a:ext uri="{FF2B5EF4-FFF2-40B4-BE49-F238E27FC236}">
                <a16:creationId xmlns:a16="http://schemas.microsoft.com/office/drawing/2014/main" id="{340DDC2E-3534-492E-803C-E27EEA08A93B}"/>
              </a:ext>
            </a:extLst>
          </p:cNvPr>
          <p:cNvSpPr>
            <a:spLocks noGrp="1"/>
          </p:cNvSpPr>
          <p:nvPr/>
        </p:nvSpPr>
        <p:spPr>
          <a:xfrm>
            <a:off x="11163300" y="6568440"/>
            <a:ext cx="381000" cy="167640"/>
          </a:xfrm>
          <a:prstGeom prst="rect">
            <a:avLst/>
          </a:prstGeom>
          <a:noFill/>
          <a:ln w="0">
            <a:noFill/>
            <a:prstDash val="solid"/>
          </a:ln>
        </p:spPr>
        <p:txBody>
          <a:bodyPr anchor="t">
            <a:noAutofit/>
          </a:bodyPr>
          <a:lstStyle/>
          <a:p>
            <a:pPr algn="r">
              <a:lnSpc>
                <a:spcPct val="108000"/>
              </a:lnSpc>
              <a:buNone/>
              <a:defRPr sz="975" b="0" i="0">
                <a:solidFill>
                  <a:srgbClr val="777777"/>
                </a:solidFill>
                <a:latin typeface="Aptos"/>
                <a:ea typeface="Aptos"/>
                <a:cs typeface="Aptos"/>
              </a:defRPr>
            </a:pPr>
            <a:r>
              <a:rPr sz="780">
                <a:solidFill>
                  <a:srgbClr val="777777"/>
                </a:solidFill>
                <a:latin typeface="Aptos"/>
                <a:ea typeface="Aptos"/>
                <a:cs typeface="Aptos"/>
              </a:rPr>
              <a:t>06</a:t>
            </a:r>
          </a:p>
        </p:txBody>
      </p:sp>
    </p:spTree>
    <p:extLst>
      <p:ext uri="{BB962C8B-B14F-4D97-AF65-F5344CB8AC3E}">
        <p14:creationId xmlns:p14="http://schemas.microsoft.com/office/powerpoint/2010/main" val="14022765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slide-title">
            <a:extLst>
              <a:ext uri="{FF2B5EF4-FFF2-40B4-BE49-F238E27FC236}">
                <a16:creationId xmlns:a16="http://schemas.microsoft.com/office/drawing/2014/main" id="{5545E795-6AA3-4924-A3E6-1E8E2CC0D1B2}"/>
              </a:ext>
            </a:extLst>
          </p:cNvPr>
          <p:cNvSpPr>
            <a:spLocks noGrp="1"/>
          </p:cNvSpPr>
          <p:nvPr/>
        </p:nvSpPr>
        <p:spPr>
          <a:xfrm>
            <a:off x="594360" y="259080"/>
            <a:ext cx="8534400" cy="533400"/>
          </a:xfrm>
          <a:prstGeom prst="rect">
            <a:avLst/>
          </a:prstGeom>
          <a:noFill/>
          <a:ln w="0">
            <a:noFill/>
            <a:prstDash val="solid"/>
          </a:ln>
        </p:spPr>
        <p:txBody>
          <a:bodyPr anchor="t">
            <a:normAutofit fontScale="86305"/>
          </a:bodyPr>
          <a:lstStyle/>
          <a:p>
            <a:pPr algn="l">
              <a:lnSpc>
                <a:spcPct val="108000"/>
              </a:lnSpc>
              <a:buNone/>
              <a:defRPr sz="4050" b="1" i="0">
                <a:solidFill>
                  <a:srgbClr val="111111"/>
                </a:solidFill>
                <a:latin typeface="Georgia"/>
                <a:ea typeface="Georgia"/>
                <a:cs typeface="Georgia"/>
              </a:defRPr>
            </a:pPr>
            <a:r>
              <a:rPr sz="3240" b="1">
                <a:solidFill>
                  <a:srgbClr val="111111"/>
                </a:solidFill>
                <a:latin typeface="Georgia"/>
                <a:ea typeface="Georgia"/>
                <a:cs typeface="Georgia"/>
              </a:rPr>
              <a:t>Change - Not Baseline - Defined Phenotypes</a:t>
            </a:r>
          </a:p>
        </p:txBody>
      </p:sp>
      <p:sp>
        <p:nvSpPr>
          <p:cNvPr id="2" name="Rectangle 1">
            <a:extLst>
              <a:ext uri="{FF2B5EF4-FFF2-40B4-BE49-F238E27FC236}">
                <a16:creationId xmlns:a16="http://schemas.microsoft.com/office/drawing/2014/main" id="{07349EF5-BD20-4DD9-9E78-B83F059A0C5E}"/>
              </a:ext>
            </a:extLst>
          </p:cNvPr>
          <p:cNvSpPr>
            <a:spLocks noGrp="1"/>
          </p:cNvSpPr>
          <p:nvPr/>
        </p:nvSpPr>
        <p:spPr>
          <a:xfrm>
            <a:off x="9372600" y="228600"/>
            <a:ext cx="2286000" cy="533400"/>
          </a:xfrm>
          <a:prstGeom prst="rect">
            <a:avLst/>
          </a:prstGeom>
          <a:noFill/>
          <a:ln w="0">
            <a:noFill/>
            <a:prstDash val="solid"/>
          </a:ln>
        </p:spPr>
        <p:txBody>
          <a:bodyPr anchor="t">
            <a:normAutofit fontScale="92116"/>
          </a:bodyPr>
          <a:lstStyle/>
          <a:p>
            <a:pPr algn="r">
              <a:lnSpc>
                <a:spcPct val="108000"/>
              </a:lnSpc>
              <a:buNone/>
              <a:defRPr sz="3000" b="1" i="0">
                <a:solidFill>
                  <a:srgbClr val="EF7D00"/>
                </a:solidFill>
                <a:latin typeface="Georgia"/>
                <a:ea typeface="Georgia"/>
                <a:cs typeface="Georgia"/>
              </a:defRPr>
            </a:pPr>
            <a:r>
              <a:rPr sz="2400" b="1">
                <a:solidFill>
                  <a:srgbClr val="EF7D00"/>
                </a:solidFill>
                <a:latin typeface="Georgia"/>
                <a:ea typeface="Georgia"/>
                <a:cs typeface="Georgia"/>
              </a:rPr>
              <a:t>Feature Logic</a:t>
            </a:r>
          </a:p>
        </p:txBody>
      </p:sp>
      <p:sp>
        <p:nvSpPr>
          <p:cNvPr id="3" name="Rectangle 2">
            <a:extLst>
              <a:ext uri="{FF2B5EF4-FFF2-40B4-BE49-F238E27FC236}">
                <a16:creationId xmlns:a16="http://schemas.microsoft.com/office/drawing/2014/main" id="{C7BD8979-DAE5-4D0C-8E67-62A23FC70013}"/>
              </a:ext>
            </a:extLst>
          </p:cNvPr>
          <p:cNvSpPr>
            <a:spLocks noGrp="1"/>
          </p:cNvSpPr>
          <p:nvPr/>
        </p:nvSpPr>
        <p:spPr>
          <a:xfrm>
            <a:off x="624840" y="853440"/>
            <a:ext cx="8610600" cy="259080"/>
          </a:xfrm>
          <a:prstGeom prst="rect">
            <a:avLst/>
          </a:prstGeom>
          <a:noFill/>
          <a:ln w="0">
            <a:noFill/>
            <a:prstDash val="solid"/>
          </a:ln>
        </p:spPr>
        <p:txBody>
          <a:bodyPr anchor="t">
            <a:noAutofit/>
          </a:bodyPr>
          <a:lstStyle/>
          <a:p>
            <a:pPr algn="l">
              <a:lnSpc>
                <a:spcPct val="108000"/>
              </a:lnSpc>
              <a:buNone/>
              <a:defRPr sz="1500" b="0" i="0">
                <a:solidFill>
                  <a:srgbClr val="5A5A5A"/>
                </a:solidFill>
                <a:latin typeface="Aptos"/>
                <a:ea typeface="Aptos"/>
                <a:cs typeface="Aptos"/>
              </a:defRPr>
            </a:pPr>
            <a:r>
              <a:rPr sz="1200">
                <a:solidFill>
                  <a:srgbClr val="5A5A5A"/>
                </a:solidFill>
                <a:latin typeface="Aptos"/>
                <a:ea typeface="Aptos"/>
                <a:cs typeface="Aptos"/>
              </a:rPr>
              <a:t>Baseline values were retained for later risk adjustment, not for pure-trajectory clustering.</a:t>
            </a:r>
          </a:p>
        </p:txBody>
      </p:sp>
      <p:sp>
        <p:nvSpPr>
          <p:cNvPr id="4" name="Straight Connector 3">
            <a:extLst>
              <a:ext uri="{FF2B5EF4-FFF2-40B4-BE49-F238E27FC236}">
                <a16:creationId xmlns:a16="http://schemas.microsoft.com/office/drawing/2014/main" id="{69BB3D1B-8637-4302-8858-05C5C94C6679}"/>
              </a:ext>
            </a:extLst>
          </p:cNvPr>
          <p:cNvSpPr>
            <a:spLocks noGrp="1"/>
          </p:cNvSpPr>
          <p:nvPr/>
        </p:nvSpPr>
        <p:spPr>
          <a:xfrm>
            <a:off x="2628900" y="1379220"/>
            <a:ext cx="723900" cy="0"/>
          </a:xfrm>
          <a:prstGeom prst="line">
            <a:avLst/>
          </a:prstGeom>
          <a:noFill/>
          <a:ln w="14288">
            <a:solidFill>
              <a:srgbClr val="B9B9B9"/>
            </a:solidFill>
            <a:prstDash val="solid"/>
          </a:ln>
        </p:spPr>
        <p:txBody>
          <a:bodyPr/>
          <a:lstStyle/>
          <a:p>
            <a:endParaRPr lang="en-US" sz="1440"/>
          </a:p>
        </p:txBody>
      </p:sp>
      <p:sp>
        <p:nvSpPr>
          <p:cNvPr id="5" name="Oval 4">
            <a:extLst>
              <a:ext uri="{FF2B5EF4-FFF2-40B4-BE49-F238E27FC236}">
                <a16:creationId xmlns:a16="http://schemas.microsoft.com/office/drawing/2014/main" id="{60242988-D794-4B3D-82BD-0E328EC80AFE}"/>
              </a:ext>
            </a:extLst>
          </p:cNvPr>
          <p:cNvSpPr>
            <a:spLocks noGrp="1"/>
          </p:cNvSpPr>
          <p:nvPr/>
        </p:nvSpPr>
        <p:spPr>
          <a:xfrm>
            <a:off x="647700" y="1203960"/>
            <a:ext cx="350520" cy="350520"/>
          </a:xfrm>
          <a:prstGeom prst="ellipse">
            <a:avLst/>
          </a:prstGeom>
          <a:solidFill>
            <a:srgbClr val="FFFFFF"/>
          </a:solidFill>
          <a:ln w="14288">
            <a:solidFill>
              <a:srgbClr val="1484D6"/>
            </a:solidFill>
            <a:prstDash val="solid"/>
          </a:ln>
        </p:spPr>
        <p:txBody>
          <a:bodyPr anchor="ctr"/>
          <a:lstStyle/>
          <a:p>
            <a:pPr algn="ctr">
              <a:defRPr sz="1200" b="1">
                <a:solidFill>
                  <a:srgbClr val="1484D6"/>
                </a:solidFill>
              </a:defRPr>
            </a:pPr>
            <a:r>
              <a:rPr sz="960" b="1">
                <a:solidFill>
                  <a:srgbClr val="1484D6"/>
                </a:solidFill>
              </a:rPr>
              <a:t>1</a:t>
            </a:r>
          </a:p>
        </p:txBody>
      </p:sp>
      <p:sp>
        <p:nvSpPr>
          <p:cNvPr id="6" name="Rectangle 5">
            <a:extLst>
              <a:ext uri="{FF2B5EF4-FFF2-40B4-BE49-F238E27FC236}">
                <a16:creationId xmlns:a16="http://schemas.microsoft.com/office/drawing/2014/main" id="{37B29A77-DA44-4CED-8736-F31FB734A5A6}"/>
              </a:ext>
            </a:extLst>
          </p:cNvPr>
          <p:cNvSpPr>
            <a:spLocks noGrp="1"/>
          </p:cNvSpPr>
          <p:nvPr/>
        </p:nvSpPr>
        <p:spPr>
          <a:xfrm>
            <a:off x="1089660" y="1234440"/>
            <a:ext cx="1828800" cy="190500"/>
          </a:xfrm>
          <a:prstGeom prst="rect">
            <a:avLst/>
          </a:prstGeom>
          <a:noFill/>
          <a:ln w="0">
            <a:noFill/>
            <a:prstDash val="solid"/>
          </a:ln>
        </p:spPr>
        <p:txBody>
          <a:bodyPr anchor="t">
            <a:noAutofit/>
          </a:bodyPr>
          <a:lstStyle/>
          <a:p>
            <a:pPr algn="l">
              <a:lnSpc>
                <a:spcPct val="108000"/>
              </a:lnSpc>
              <a:buNone/>
              <a:defRPr sz="1050" b="1" i="0">
                <a:solidFill>
                  <a:srgbClr val="777777"/>
                </a:solidFill>
                <a:latin typeface="Aptos"/>
                <a:ea typeface="Aptos"/>
                <a:cs typeface="Aptos"/>
              </a:defRPr>
            </a:pPr>
            <a:r>
              <a:rPr sz="840" b="1">
                <a:solidFill>
                  <a:srgbClr val="777777"/>
                </a:solidFill>
                <a:latin typeface="Aptos"/>
                <a:ea typeface="Aptos"/>
                <a:cs typeface="Aptos"/>
              </a:rPr>
              <a:t>BUSINESS NEEDS</a:t>
            </a:r>
          </a:p>
        </p:txBody>
      </p:sp>
      <p:sp>
        <p:nvSpPr>
          <p:cNvPr id="7" name="Straight Connector 6">
            <a:extLst>
              <a:ext uri="{FF2B5EF4-FFF2-40B4-BE49-F238E27FC236}">
                <a16:creationId xmlns:a16="http://schemas.microsoft.com/office/drawing/2014/main" id="{7E62184D-A295-4F09-8B39-8D35B1348463}"/>
              </a:ext>
            </a:extLst>
          </p:cNvPr>
          <p:cNvSpPr>
            <a:spLocks noGrp="1"/>
          </p:cNvSpPr>
          <p:nvPr/>
        </p:nvSpPr>
        <p:spPr>
          <a:xfrm>
            <a:off x="5448300" y="1379220"/>
            <a:ext cx="723900" cy="0"/>
          </a:xfrm>
          <a:prstGeom prst="line">
            <a:avLst/>
          </a:prstGeom>
          <a:noFill/>
          <a:ln w="14288">
            <a:solidFill>
              <a:srgbClr val="B9B9B9"/>
            </a:solidFill>
            <a:prstDash val="solid"/>
          </a:ln>
        </p:spPr>
        <p:txBody>
          <a:bodyPr/>
          <a:lstStyle/>
          <a:p>
            <a:endParaRPr lang="en-US" sz="1440"/>
          </a:p>
        </p:txBody>
      </p:sp>
      <p:sp>
        <p:nvSpPr>
          <p:cNvPr id="8" name="Oval 7">
            <a:extLst>
              <a:ext uri="{FF2B5EF4-FFF2-40B4-BE49-F238E27FC236}">
                <a16:creationId xmlns:a16="http://schemas.microsoft.com/office/drawing/2014/main" id="{01B842AA-C155-4D50-A35B-5A6B672E4261}"/>
              </a:ext>
            </a:extLst>
          </p:cNvPr>
          <p:cNvSpPr>
            <a:spLocks noGrp="1"/>
          </p:cNvSpPr>
          <p:nvPr/>
        </p:nvSpPr>
        <p:spPr>
          <a:xfrm>
            <a:off x="3467100" y="1203960"/>
            <a:ext cx="350520" cy="350520"/>
          </a:xfrm>
          <a:prstGeom prst="ellipse">
            <a:avLst/>
          </a:prstGeom>
          <a:solidFill>
            <a:srgbClr val="9552D0"/>
          </a:solidFill>
          <a:ln w="14288">
            <a:solidFill>
              <a:srgbClr val="9552D0"/>
            </a:solidFill>
            <a:prstDash val="solid"/>
          </a:ln>
        </p:spPr>
        <p:txBody>
          <a:bodyPr anchor="ctr"/>
          <a:lstStyle/>
          <a:p>
            <a:pPr algn="ctr">
              <a:defRPr sz="1200" b="1">
                <a:solidFill>
                  <a:srgbClr val="FFFFFF"/>
                </a:solidFill>
              </a:defRPr>
            </a:pPr>
            <a:r>
              <a:rPr sz="960" b="1">
                <a:solidFill>
                  <a:srgbClr val="FFFFFF"/>
                </a:solidFill>
              </a:rPr>
              <a:t>2</a:t>
            </a:r>
          </a:p>
        </p:txBody>
      </p:sp>
      <p:sp>
        <p:nvSpPr>
          <p:cNvPr id="9" name="Rectangle 8">
            <a:extLst>
              <a:ext uri="{FF2B5EF4-FFF2-40B4-BE49-F238E27FC236}">
                <a16:creationId xmlns:a16="http://schemas.microsoft.com/office/drawing/2014/main" id="{C9288891-278A-410F-8F24-DC40E4DF6F4E}"/>
              </a:ext>
            </a:extLst>
          </p:cNvPr>
          <p:cNvSpPr>
            <a:spLocks noGrp="1"/>
          </p:cNvSpPr>
          <p:nvPr/>
        </p:nvSpPr>
        <p:spPr>
          <a:xfrm>
            <a:off x="3909060" y="1234440"/>
            <a:ext cx="1828800" cy="190500"/>
          </a:xfrm>
          <a:prstGeom prst="rect">
            <a:avLst/>
          </a:prstGeom>
          <a:noFill/>
          <a:ln w="0">
            <a:noFill/>
            <a:prstDash val="solid"/>
          </a:ln>
        </p:spPr>
        <p:txBody>
          <a:bodyPr anchor="t">
            <a:noAutofit/>
          </a:bodyPr>
          <a:lstStyle/>
          <a:p>
            <a:pPr algn="l">
              <a:lnSpc>
                <a:spcPct val="108000"/>
              </a:lnSpc>
              <a:buNone/>
              <a:defRPr sz="1050" b="1" i="0">
                <a:solidFill>
                  <a:srgbClr val="9552D0"/>
                </a:solidFill>
                <a:latin typeface="Aptos"/>
                <a:ea typeface="Aptos"/>
                <a:cs typeface="Aptos"/>
              </a:defRPr>
            </a:pPr>
            <a:r>
              <a:rPr sz="840" b="1">
                <a:solidFill>
                  <a:srgbClr val="9552D0"/>
                </a:solidFill>
                <a:latin typeface="Aptos"/>
                <a:ea typeface="Aptos"/>
                <a:cs typeface="Aptos"/>
              </a:rPr>
              <a:t>DATA PROCESSING</a:t>
            </a:r>
          </a:p>
        </p:txBody>
      </p:sp>
      <p:sp>
        <p:nvSpPr>
          <p:cNvPr id="10" name="Straight Connector 9">
            <a:extLst>
              <a:ext uri="{FF2B5EF4-FFF2-40B4-BE49-F238E27FC236}">
                <a16:creationId xmlns:a16="http://schemas.microsoft.com/office/drawing/2014/main" id="{9509F90D-89AB-4496-BE4E-3FDD08F3C691}"/>
              </a:ext>
            </a:extLst>
          </p:cNvPr>
          <p:cNvSpPr>
            <a:spLocks noGrp="1"/>
          </p:cNvSpPr>
          <p:nvPr/>
        </p:nvSpPr>
        <p:spPr>
          <a:xfrm>
            <a:off x="8267700" y="1379220"/>
            <a:ext cx="723900" cy="0"/>
          </a:xfrm>
          <a:prstGeom prst="line">
            <a:avLst/>
          </a:prstGeom>
          <a:noFill/>
          <a:ln w="14288">
            <a:solidFill>
              <a:srgbClr val="B9B9B9"/>
            </a:solidFill>
            <a:prstDash val="solid"/>
          </a:ln>
        </p:spPr>
        <p:txBody>
          <a:bodyPr/>
          <a:lstStyle/>
          <a:p>
            <a:endParaRPr lang="en-US" sz="1440"/>
          </a:p>
        </p:txBody>
      </p:sp>
      <p:sp>
        <p:nvSpPr>
          <p:cNvPr id="11" name="Oval 10">
            <a:extLst>
              <a:ext uri="{FF2B5EF4-FFF2-40B4-BE49-F238E27FC236}">
                <a16:creationId xmlns:a16="http://schemas.microsoft.com/office/drawing/2014/main" id="{1C1FADD2-7CFD-486F-91BF-F21ADEC61FEC}"/>
              </a:ext>
            </a:extLst>
          </p:cNvPr>
          <p:cNvSpPr>
            <a:spLocks noGrp="1"/>
          </p:cNvSpPr>
          <p:nvPr/>
        </p:nvSpPr>
        <p:spPr>
          <a:xfrm>
            <a:off x="6286500" y="1203960"/>
            <a:ext cx="350520" cy="350520"/>
          </a:xfrm>
          <a:prstGeom prst="ellipse">
            <a:avLst/>
          </a:prstGeom>
          <a:solidFill>
            <a:srgbClr val="FFFFFF"/>
          </a:solidFill>
          <a:ln w="14288">
            <a:solidFill>
              <a:srgbClr val="00A870"/>
            </a:solidFill>
            <a:prstDash val="solid"/>
          </a:ln>
        </p:spPr>
        <p:txBody>
          <a:bodyPr anchor="ctr"/>
          <a:lstStyle/>
          <a:p>
            <a:pPr algn="ctr">
              <a:defRPr sz="1200" b="1">
                <a:solidFill>
                  <a:srgbClr val="00A870"/>
                </a:solidFill>
              </a:defRPr>
            </a:pPr>
            <a:r>
              <a:rPr sz="960" b="1">
                <a:solidFill>
                  <a:srgbClr val="00A870"/>
                </a:solidFill>
              </a:rPr>
              <a:t>3</a:t>
            </a:r>
          </a:p>
        </p:txBody>
      </p:sp>
      <p:sp>
        <p:nvSpPr>
          <p:cNvPr id="12" name="Rectangle 11">
            <a:extLst>
              <a:ext uri="{FF2B5EF4-FFF2-40B4-BE49-F238E27FC236}">
                <a16:creationId xmlns:a16="http://schemas.microsoft.com/office/drawing/2014/main" id="{ECFCA8E7-6E4D-4FA9-886D-6A168E5FF12C}"/>
              </a:ext>
            </a:extLst>
          </p:cNvPr>
          <p:cNvSpPr>
            <a:spLocks noGrp="1"/>
          </p:cNvSpPr>
          <p:nvPr/>
        </p:nvSpPr>
        <p:spPr>
          <a:xfrm>
            <a:off x="6728460" y="1234440"/>
            <a:ext cx="1828800" cy="190500"/>
          </a:xfrm>
          <a:prstGeom prst="rect">
            <a:avLst/>
          </a:prstGeom>
          <a:noFill/>
          <a:ln w="0">
            <a:noFill/>
            <a:prstDash val="solid"/>
          </a:ln>
        </p:spPr>
        <p:txBody>
          <a:bodyPr anchor="t">
            <a:noAutofit/>
          </a:bodyPr>
          <a:lstStyle/>
          <a:p>
            <a:pPr algn="l">
              <a:lnSpc>
                <a:spcPct val="108000"/>
              </a:lnSpc>
              <a:buNone/>
              <a:defRPr sz="1050" b="1" i="0">
                <a:solidFill>
                  <a:srgbClr val="777777"/>
                </a:solidFill>
                <a:latin typeface="Aptos"/>
                <a:ea typeface="Aptos"/>
                <a:cs typeface="Aptos"/>
              </a:defRPr>
            </a:pPr>
            <a:r>
              <a:rPr sz="840" b="1">
                <a:solidFill>
                  <a:srgbClr val="777777"/>
                </a:solidFill>
                <a:latin typeface="Aptos"/>
                <a:ea typeface="Aptos"/>
                <a:cs typeface="Aptos"/>
              </a:rPr>
              <a:t>DATA MODELLING</a:t>
            </a:r>
          </a:p>
        </p:txBody>
      </p:sp>
      <p:sp>
        <p:nvSpPr>
          <p:cNvPr id="13" name="Oval 12">
            <a:extLst>
              <a:ext uri="{FF2B5EF4-FFF2-40B4-BE49-F238E27FC236}">
                <a16:creationId xmlns:a16="http://schemas.microsoft.com/office/drawing/2014/main" id="{967EBD87-04A7-4FFB-ADE5-8B21845C8244}"/>
              </a:ext>
            </a:extLst>
          </p:cNvPr>
          <p:cNvSpPr>
            <a:spLocks noGrp="1"/>
          </p:cNvSpPr>
          <p:nvPr/>
        </p:nvSpPr>
        <p:spPr>
          <a:xfrm>
            <a:off x="9105900" y="1203960"/>
            <a:ext cx="350520" cy="350520"/>
          </a:xfrm>
          <a:prstGeom prst="ellipse">
            <a:avLst/>
          </a:prstGeom>
          <a:solidFill>
            <a:srgbClr val="FFFFFF"/>
          </a:solidFill>
          <a:ln w="14288">
            <a:solidFill>
              <a:srgbClr val="EF7D00"/>
            </a:solidFill>
            <a:prstDash val="solid"/>
          </a:ln>
        </p:spPr>
        <p:txBody>
          <a:bodyPr anchor="ctr"/>
          <a:lstStyle/>
          <a:p>
            <a:pPr algn="ctr">
              <a:defRPr sz="1200" b="1">
                <a:solidFill>
                  <a:srgbClr val="EF7D00"/>
                </a:solidFill>
              </a:defRPr>
            </a:pPr>
            <a:r>
              <a:rPr sz="960" b="1">
                <a:solidFill>
                  <a:srgbClr val="EF7D00"/>
                </a:solidFill>
              </a:rPr>
              <a:t>4</a:t>
            </a:r>
          </a:p>
        </p:txBody>
      </p:sp>
      <p:sp>
        <p:nvSpPr>
          <p:cNvPr id="14" name="Rectangle 13">
            <a:extLst>
              <a:ext uri="{FF2B5EF4-FFF2-40B4-BE49-F238E27FC236}">
                <a16:creationId xmlns:a16="http://schemas.microsoft.com/office/drawing/2014/main" id="{7FF133D9-F716-4BEF-9399-69906076BF40}"/>
              </a:ext>
            </a:extLst>
          </p:cNvPr>
          <p:cNvSpPr>
            <a:spLocks noGrp="1"/>
          </p:cNvSpPr>
          <p:nvPr/>
        </p:nvSpPr>
        <p:spPr>
          <a:xfrm>
            <a:off x="9547860" y="1234440"/>
            <a:ext cx="1828800" cy="190500"/>
          </a:xfrm>
          <a:prstGeom prst="rect">
            <a:avLst/>
          </a:prstGeom>
          <a:noFill/>
          <a:ln w="0">
            <a:noFill/>
            <a:prstDash val="solid"/>
          </a:ln>
        </p:spPr>
        <p:txBody>
          <a:bodyPr anchor="t">
            <a:noAutofit/>
          </a:bodyPr>
          <a:lstStyle/>
          <a:p>
            <a:pPr algn="l">
              <a:lnSpc>
                <a:spcPct val="108000"/>
              </a:lnSpc>
              <a:buNone/>
              <a:defRPr sz="1050" b="1" i="0">
                <a:solidFill>
                  <a:srgbClr val="777777"/>
                </a:solidFill>
                <a:latin typeface="Aptos"/>
                <a:ea typeface="Aptos"/>
                <a:cs typeface="Aptos"/>
              </a:defRPr>
            </a:pPr>
            <a:r>
              <a:rPr sz="840" b="1">
                <a:solidFill>
                  <a:srgbClr val="777777"/>
                </a:solidFill>
                <a:latin typeface="Aptos"/>
                <a:ea typeface="Aptos"/>
                <a:cs typeface="Aptos"/>
              </a:rPr>
              <a:t>BUSINESS INFRASTRUCTURE</a:t>
            </a:r>
          </a:p>
        </p:txBody>
      </p:sp>
      <p:sp>
        <p:nvSpPr>
          <p:cNvPr id="15" name="Rectangle 14">
            <a:extLst>
              <a:ext uri="{FF2B5EF4-FFF2-40B4-BE49-F238E27FC236}">
                <a16:creationId xmlns:a16="http://schemas.microsoft.com/office/drawing/2014/main" id="{B6C6C1AA-A0DA-4033-84D8-BDD62AB51D37}"/>
              </a:ext>
            </a:extLst>
          </p:cNvPr>
          <p:cNvSpPr>
            <a:spLocks noGrp="1"/>
          </p:cNvSpPr>
          <p:nvPr/>
        </p:nvSpPr>
        <p:spPr>
          <a:xfrm>
            <a:off x="723900" y="1866900"/>
            <a:ext cx="2057400" cy="259080"/>
          </a:xfrm>
          <a:prstGeom prst="rect">
            <a:avLst/>
          </a:prstGeom>
          <a:noFill/>
          <a:ln w="0">
            <a:noFill/>
            <a:prstDash val="solid"/>
          </a:ln>
        </p:spPr>
        <p:txBody>
          <a:bodyPr anchor="t">
            <a:noAutofit/>
          </a:bodyPr>
          <a:lstStyle/>
          <a:p>
            <a:pPr algn="ctr">
              <a:lnSpc>
                <a:spcPct val="108000"/>
              </a:lnSpc>
              <a:buNone/>
              <a:defRPr sz="1800" b="1" i="0">
                <a:solidFill>
                  <a:srgbClr val="00A870"/>
                </a:solidFill>
                <a:latin typeface="Georgia"/>
                <a:ea typeface="Georgia"/>
                <a:cs typeface="Georgia"/>
              </a:defRPr>
            </a:pPr>
            <a:r>
              <a:rPr sz="1440" b="1">
                <a:solidFill>
                  <a:srgbClr val="00A870"/>
                </a:solidFill>
                <a:latin typeface="Georgia"/>
                <a:ea typeface="Georgia"/>
                <a:cs typeface="Georgia"/>
              </a:rPr>
              <a:t>Lactate</a:t>
            </a:r>
          </a:p>
        </p:txBody>
      </p:sp>
      <p:sp>
        <p:nvSpPr>
          <p:cNvPr id="16" name="Rounded Rectangle 15">
            <a:extLst>
              <a:ext uri="{FF2B5EF4-FFF2-40B4-BE49-F238E27FC236}">
                <a16:creationId xmlns:a16="http://schemas.microsoft.com/office/drawing/2014/main" id="{23D1015A-7C09-43A7-9536-D3AEBF698DED}"/>
              </a:ext>
            </a:extLst>
          </p:cNvPr>
          <p:cNvSpPr>
            <a:spLocks noGrp="1"/>
          </p:cNvSpPr>
          <p:nvPr/>
        </p:nvSpPr>
        <p:spPr>
          <a:xfrm>
            <a:off x="723900" y="2286000"/>
            <a:ext cx="952500" cy="472440"/>
          </a:xfrm>
          <a:prstGeom prst="roundRect">
            <a:avLst>
              <a:gd name="adj" fmla="val 16129"/>
            </a:avLst>
          </a:prstGeom>
          <a:solidFill>
            <a:srgbClr val="F7F6F2"/>
          </a:solidFill>
          <a:ln w="11430">
            <a:solidFill>
              <a:srgbClr val="B9B9B9"/>
            </a:solidFill>
            <a:prstDash val="solid"/>
          </a:ln>
        </p:spPr>
        <p:txBody>
          <a:bodyPr/>
          <a:lstStyle/>
          <a:p>
            <a:endParaRPr lang="en-US" sz="1440"/>
          </a:p>
        </p:txBody>
      </p:sp>
      <p:sp>
        <p:nvSpPr>
          <p:cNvPr id="17" name="Rounded Rectangle 16">
            <a:extLst>
              <a:ext uri="{FF2B5EF4-FFF2-40B4-BE49-F238E27FC236}">
                <a16:creationId xmlns:a16="http://schemas.microsoft.com/office/drawing/2014/main" id="{AACC0345-3BFC-4F79-9642-03F4068574FC}"/>
              </a:ext>
            </a:extLst>
          </p:cNvPr>
          <p:cNvSpPr>
            <a:spLocks noGrp="1"/>
          </p:cNvSpPr>
          <p:nvPr/>
        </p:nvSpPr>
        <p:spPr>
          <a:xfrm>
            <a:off x="1828800" y="2286000"/>
            <a:ext cx="952500" cy="472440"/>
          </a:xfrm>
          <a:prstGeom prst="roundRect">
            <a:avLst>
              <a:gd name="adj" fmla="val 16129"/>
            </a:avLst>
          </a:prstGeom>
          <a:solidFill>
            <a:srgbClr val="EAF8F2"/>
          </a:solidFill>
          <a:ln w="14288">
            <a:solidFill>
              <a:srgbClr val="00A870"/>
            </a:solidFill>
            <a:prstDash val="solid"/>
          </a:ln>
        </p:spPr>
        <p:txBody>
          <a:bodyPr/>
          <a:lstStyle/>
          <a:p>
            <a:endParaRPr lang="en-US" sz="1440"/>
          </a:p>
        </p:txBody>
      </p:sp>
      <p:sp>
        <p:nvSpPr>
          <p:cNvPr id="18" name="Rectangle 17">
            <a:extLst>
              <a:ext uri="{FF2B5EF4-FFF2-40B4-BE49-F238E27FC236}">
                <a16:creationId xmlns:a16="http://schemas.microsoft.com/office/drawing/2014/main" id="{B20A5B86-0A99-46F9-A8C9-E7A280F08442}"/>
              </a:ext>
            </a:extLst>
          </p:cNvPr>
          <p:cNvSpPr>
            <a:spLocks noGrp="1"/>
          </p:cNvSpPr>
          <p:nvPr/>
        </p:nvSpPr>
        <p:spPr>
          <a:xfrm>
            <a:off x="800100" y="2407920"/>
            <a:ext cx="800100" cy="182880"/>
          </a:xfrm>
          <a:prstGeom prst="rect">
            <a:avLst/>
          </a:prstGeom>
          <a:noFill/>
          <a:ln w="0">
            <a:noFill/>
            <a:prstDash val="solid"/>
          </a:ln>
        </p:spPr>
        <p:txBody>
          <a:bodyPr anchor="t">
            <a:noAutofit/>
          </a:bodyPr>
          <a:lstStyle/>
          <a:p>
            <a:pPr algn="ctr">
              <a:lnSpc>
                <a:spcPct val="108000"/>
              </a:lnSpc>
              <a:buNone/>
              <a:defRPr sz="1275" b="0" i="0">
                <a:solidFill>
                  <a:srgbClr val="5A5A5A"/>
                </a:solidFill>
                <a:latin typeface="Aptos"/>
                <a:ea typeface="Aptos"/>
                <a:cs typeface="Aptos"/>
              </a:defRPr>
            </a:pPr>
            <a:r>
              <a:rPr sz="1020">
                <a:solidFill>
                  <a:srgbClr val="5A5A5A"/>
                </a:solidFill>
                <a:latin typeface="Aptos"/>
                <a:ea typeface="Aptos"/>
                <a:cs typeface="Aptos"/>
              </a:rPr>
              <a:t>initial</a:t>
            </a:r>
          </a:p>
        </p:txBody>
      </p:sp>
      <p:sp>
        <p:nvSpPr>
          <p:cNvPr id="19" name="Rectangle 18">
            <a:extLst>
              <a:ext uri="{FF2B5EF4-FFF2-40B4-BE49-F238E27FC236}">
                <a16:creationId xmlns:a16="http://schemas.microsoft.com/office/drawing/2014/main" id="{43815DBA-298A-4D12-8E2B-4FD8ECFDBA52}"/>
              </a:ext>
            </a:extLst>
          </p:cNvPr>
          <p:cNvSpPr>
            <a:spLocks noGrp="1"/>
          </p:cNvSpPr>
          <p:nvPr/>
        </p:nvSpPr>
        <p:spPr>
          <a:xfrm>
            <a:off x="1905000" y="2407920"/>
            <a:ext cx="800100" cy="182880"/>
          </a:xfrm>
          <a:prstGeom prst="rect">
            <a:avLst/>
          </a:prstGeom>
          <a:noFill/>
          <a:ln w="0">
            <a:noFill/>
            <a:prstDash val="solid"/>
          </a:ln>
        </p:spPr>
        <p:txBody>
          <a:bodyPr anchor="t">
            <a:noAutofit/>
          </a:bodyPr>
          <a:lstStyle/>
          <a:p>
            <a:pPr algn="ctr">
              <a:lnSpc>
                <a:spcPct val="108000"/>
              </a:lnSpc>
              <a:buNone/>
              <a:defRPr sz="1275" b="1" i="0">
                <a:solidFill>
                  <a:srgbClr val="00A870"/>
                </a:solidFill>
                <a:latin typeface="Aptos"/>
                <a:ea typeface="Aptos"/>
                <a:cs typeface="Aptos"/>
              </a:defRPr>
            </a:pPr>
            <a:r>
              <a:rPr sz="1020" b="1">
                <a:solidFill>
                  <a:srgbClr val="00A870"/>
                </a:solidFill>
                <a:latin typeface="Aptos"/>
                <a:ea typeface="Aptos"/>
                <a:cs typeface="Aptos"/>
              </a:rPr>
              <a:t>clearance %</a:t>
            </a:r>
          </a:p>
        </p:txBody>
      </p:sp>
      <p:sp>
        <p:nvSpPr>
          <p:cNvPr id="20" name="Rectangle 19">
            <a:extLst>
              <a:ext uri="{FF2B5EF4-FFF2-40B4-BE49-F238E27FC236}">
                <a16:creationId xmlns:a16="http://schemas.microsoft.com/office/drawing/2014/main" id="{86B76C30-3503-4814-93B9-FE50890F8799}"/>
              </a:ext>
            </a:extLst>
          </p:cNvPr>
          <p:cNvSpPr>
            <a:spLocks noGrp="1"/>
          </p:cNvSpPr>
          <p:nvPr/>
        </p:nvSpPr>
        <p:spPr>
          <a:xfrm>
            <a:off x="3543300" y="1866900"/>
            <a:ext cx="2057400" cy="259080"/>
          </a:xfrm>
          <a:prstGeom prst="rect">
            <a:avLst/>
          </a:prstGeom>
          <a:noFill/>
          <a:ln w="0">
            <a:noFill/>
            <a:prstDash val="solid"/>
          </a:ln>
        </p:spPr>
        <p:txBody>
          <a:bodyPr anchor="t">
            <a:noAutofit/>
          </a:bodyPr>
          <a:lstStyle/>
          <a:p>
            <a:pPr algn="ctr">
              <a:lnSpc>
                <a:spcPct val="108000"/>
              </a:lnSpc>
              <a:buNone/>
              <a:defRPr sz="1800" b="1" i="0">
                <a:solidFill>
                  <a:srgbClr val="00A870"/>
                </a:solidFill>
                <a:latin typeface="Georgia"/>
                <a:ea typeface="Georgia"/>
                <a:cs typeface="Georgia"/>
              </a:defRPr>
            </a:pPr>
            <a:r>
              <a:rPr sz="1440" b="1">
                <a:solidFill>
                  <a:srgbClr val="00A870"/>
                </a:solidFill>
                <a:latin typeface="Georgia"/>
                <a:ea typeface="Georgia"/>
                <a:cs typeface="Georgia"/>
              </a:rPr>
              <a:t>Creatinine</a:t>
            </a:r>
          </a:p>
        </p:txBody>
      </p:sp>
      <p:sp>
        <p:nvSpPr>
          <p:cNvPr id="21" name="Rounded Rectangle 20">
            <a:extLst>
              <a:ext uri="{FF2B5EF4-FFF2-40B4-BE49-F238E27FC236}">
                <a16:creationId xmlns:a16="http://schemas.microsoft.com/office/drawing/2014/main" id="{46DD3D52-6626-4E9C-9D57-F16C6CD25ADD}"/>
              </a:ext>
            </a:extLst>
          </p:cNvPr>
          <p:cNvSpPr>
            <a:spLocks noGrp="1"/>
          </p:cNvSpPr>
          <p:nvPr/>
        </p:nvSpPr>
        <p:spPr>
          <a:xfrm>
            <a:off x="3543300" y="2286000"/>
            <a:ext cx="952500" cy="472440"/>
          </a:xfrm>
          <a:prstGeom prst="roundRect">
            <a:avLst>
              <a:gd name="adj" fmla="val 16129"/>
            </a:avLst>
          </a:prstGeom>
          <a:solidFill>
            <a:srgbClr val="F7F6F2"/>
          </a:solidFill>
          <a:ln w="11430">
            <a:solidFill>
              <a:srgbClr val="B9B9B9"/>
            </a:solidFill>
            <a:prstDash val="solid"/>
          </a:ln>
        </p:spPr>
        <p:txBody>
          <a:bodyPr/>
          <a:lstStyle/>
          <a:p>
            <a:endParaRPr lang="en-US" sz="1440"/>
          </a:p>
        </p:txBody>
      </p:sp>
      <p:sp>
        <p:nvSpPr>
          <p:cNvPr id="22" name="Rounded Rectangle 21">
            <a:extLst>
              <a:ext uri="{FF2B5EF4-FFF2-40B4-BE49-F238E27FC236}">
                <a16:creationId xmlns:a16="http://schemas.microsoft.com/office/drawing/2014/main" id="{4575571C-E9B7-42FB-AA80-562A8D1C6481}"/>
              </a:ext>
            </a:extLst>
          </p:cNvPr>
          <p:cNvSpPr>
            <a:spLocks noGrp="1"/>
          </p:cNvSpPr>
          <p:nvPr/>
        </p:nvSpPr>
        <p:spPr>
          <a:xfrm>
            <a:off x="4648200" y="2286000"/>
            <a:ext cx="952500" cy="472440"/>
          </a:xfrm>
          <a:prstGeom prst="roundRect">
            <a:avLst>
              <a:gd name="adj" fmla="val 16129"/>
            </a:avLst>
          </a:prstGeom>
          <a:solidFill>
            <a:srgbClr val="EAF8F2"/>
          </a:solidFill>
          <a:ln w="14288">
            <a:solidFill>
              <a:srgbClr val="00A870"/>
            </a:solidFill>
            <a:prstDash val="solid"/>
          </a:ln>
        </p:spPr>
        <p:txBody>
          <a:bodyPr/>
          <a:lstStyle/>
          <a:p>
            <a:endParaRPr lang="en-US" sz="1440"/>
          </a:p>
        </p:txBody>
      </p:sp>
      <p:sp>
        <p:nvSpPr>
          <p:cNvPr id="23" name="Rectangle 22">
            <a:extLst>
              <a:ext uri="{FF2B5EF4-FFF2-40B4-BE49-F238E27FC236}">
                <a16:creationId xmlns:a16="http://schemas.microsoft.com/office/drawing/2014/main" id="{3E3192DA-C94B-45FF-A073-CEE5A6CFF6F4}"/>
              </a:ext>
            </a:extLst>
          </p:cNvPr>
          <p:cNvSpPr>
            <a:spLocks noGrp="1"/>
          </p:cNvSpPr>
          <p:nvPr/>
        </p:nvSpPr>
        <p:spPr>
          <a:xfrm>
            <a:off x="3619500" y="2407920"/>
            <a:ext cx="800100" cy="182880"/>
          </a:xfrm>
          <a:prstGeom prst="rect">
            <a:avLst/>
          </a:prstGeom>
          <a:noFill/>
          <a:ln w="0">
            <a:noFill/>
            <a:prstDash val="solid"/>
          </a:ln>
        </p:spPr>
        <p:txBody>
          <a:bodyPr anchor="t">
            <a:noAutofit/>
          </a:bodyPr>
          <a:lstStyle/>
          <a:p>
            <a:pPr algn="ctr">
              <a:lnSpc>
                <a:spcPct val="108000"/>
              </a:lnSpc>
              <a:buNone/>
              <a:defRPr sz="1275" b="0" i="0">
                <a:solidFill>
                  <a:srgbClr val="5A5A5A"/>
                </a:solidFill>
                <a:latin typeface="Aptos"/>
                <a:ea typeface="Aptos"/>
                <a:cs typeface="Aptos"/>
              </a:defRPr>
            </a:pPr>
            <a:r>
              <a:rPr sz="1020">
                <a:solidFill>
                  <a:srgbClr val="5A5A5A"/>
                </a:solidFill>
                <a:latin typeface="Aptos"/>
                <a:ea typeface="Aptos"/>
                <a:cs typeface="Aptos"/>
              </a:rPr>
              <a:t>initial</a:t>
            </a:r>
          </a:p>
        </p:txBody>
      </p:sp>
      <p:sp>
        <p:nvSpPr>
          <p:cNvPr id="24" name="Rectangle 23">
            <a:extLst>
              <a:ext uri="{FF2B5EF4-FFF2-40B4-BE49-F238E27FC236}">
                <a16:creationId xmlns:a16="http://schemas.microsoft.com/office/drawing/2014/main" id="{8BC0677F-8B34-4FA5-A102-3739B91E56C1}"/>
              </a:ext>
            </a:extLst>
          </p:cNvPr>
          <p:cNvSpPr>
            <a:spLocks noGrp="1"/>
          </p:cNvSpPr>
          <p:nvPr/>
        </p:nvSpPr>
        <p:spPr>
          <a:xfrm>
            <a:off x="4724400" y="2407920"/>
            <a:ext cx="800100" cy="182880"/>
          </a:xfrm>
          <a:prstGeom prst="rect">
            <a:avLst/>
          </a:prstGeom>
          <a:noFill/>
          <a:ln w="0">
            <a:noFill/>
            <a:prstDash val="solid"/>
          </a:ln>
        </p:spPr>
        <p:txBody>
          <a:bodyPr anchor="t">
            <a:noAutofit/>
          </a:bodyPr>
          <a:lstStyle/>
          <a:p>
            <a:pPr algn="ctr">
              <a:lnSpc>
                <a:spcPct val="108000"/>
              </a:lnSpc>
              <a:buNone/>
              <a:defRPr sz="1275" b="1" i="0">
                <a:solidFill>
                  <a:srgbClr val="00A870"/>
                </a:solidFill>
                <a:latin typeface="Aptos"/>
                <a:ea typeface="Aptos"/>
                <a:cs typeface="Aptos"/>
              </a:defRPr>
            </a:pPr>
            <a:r>
              <a:rPr sz="1020" b="1">
                <a:solidFill>
                  <a:srgbClr val="00A870"/>
                </a:solidFill>
                <a:latin typeface="Aptos"/>
                <a:ea typeface="Aptos"/>
                <a:cs typeface="Aptos"/>
              </a:rPr>
              <a:t>change %</a:t>
            </a:r>
          </a:p>
        </p:txBody>
      </p:sp>
      <p:sp>
        <p:nvSpPr>
          <p:cNvPr id="25" name="Rectangle 24">
            <a:extLst>
              <a:ext uri="{FF2B5EF4-FFF2-40B4-BE49-F238E27FC236}">
                <a16:creationId xmlns:a16="http://schemas.microsoft.com/office/drawing/2014/main" id="{99ED0E11-4AAB-4231-86A3-FCBD7F1B3A79}"/>
              </a:ext>
            </a:extLst>
          </p:cNvPr>
          <p:cNvSpPr>
            <a:spLocks noGrp="1"/>
          </p:cNvSpPr>
          <p:nvPr/>
        </p:nvSpPr>
        <p:spPr>
          <a:xfrm>
            <a:off x="6362700" y="1866900"/>
            <a:ext cx="2057400" cy="259080"/>
          </a:xfrm>
          <a:prstGeom prst="rect">
            <a:avLst/>
          </a:prstGeom>
          <a:noFill/>
          <a:ln w="0">
            <a:noFill/>
            <a:prstDash val="solid"/>
          </a:ln>
        </p:spPr>
        <p:txBody>
          <a:bodyPr anchor="t">
            <a:noAutofit/>
          </a:bodyPr>
          <a:lstStyle/>
          <a:p>
            <a:pPr algn="ctr">
              <a:lnSpc>
                <a:spcPct val="108000"/>
              </a:lnSpc>
              <a:buNone/>
              <a:defRPr sz="1800" b="1" i="0">
                <a:solidFill>
                  <a:srgbClr val="00A870"/>
                </a:solidFill>
                <a:latin typeface="Georgia"/>
                <a:ea typeface="Georgia"/>
                <a:cs typeface="Georgia"/>
              </a:defRPr>
            </a:pPr>
            <a:r>
              <a:rPr sz="1440" b="1">
                <a:solidFill>
                  <a:srgbClr val="00A870"/>
                </a:solidFill>
                <a:latin typeface="Georgia"/>
                <a:ea typeface="Georgia"/>
                <a:cs typeface="Georgia"/>
              </a:rPr>
              <a:t>WBC</a:t>
            </a:r>
          </a:p>
        </p:txBody>
      </p:sp>
      <p:sp>
        <p:nvSpPr>
          <p:cNvPr id="26" name="Rounded Rectangle 25">
            <a:extLst>
              <a:ext uri="{FF2B5EF4-FFF2-40B4-BE49-F238E27FC236}">
                <a16:creationId xmlns:a16="http://schemas.microsoft.com/office/drawing/2014/main" id="{2E9F3002-B70F-4C4B-AF82-5ABF852FD3E6}"/>
              </a:ext>
            </a:extLst>
          </p:cNvPr>
          <p:cNvSpPr>
            <a:spLocks noGrp="1"/>
          </p:cNvSpPr>
          <p:nvPr/>
        </p:nvSpPr>
        <p:spPr>
          <a:xfrm>
            <a:off x="6362700" y="2286000"/>
            <a:ext cx="952500" cy="472440"/>
          </a:xfrm>
          <a:prstGeom prst="roundRect">
            <a:avLst>
              <a:gd name="adj" fmla="val 16129"/>
            </a:avLst>
          </a:prstGeom>
          <a:solidFill>
            <a:srgbClr val="F7F6F2"/>
          </a:solidFill>
          <a:ln w="11430">
            <a:solidFill>
              <a:srgbClr val="B9B9B9"/>
            </a:solidFill>
            <a:prstDash val="solid"/>
          </a:ln>
        </p:spPr>
        <p:txBody>
          <a:bodyPr/>
          <a:lstStyle/>
          <a:p>
            <a:endParaRPr lang="en-US" sz="1440"/>
          </a:p>
        </p:txBody>
      </p:sp>
      <p:sp>
        <p:nvSpPr>
          <p:cNvPr id="27" name="Rounded Rectangle 26">
            <a:extLst>
              <a:ext uri="{FF2B5EF4-FFF2-40B4-BE49-F238E27FC236}">
                <a16:creationId xmlns:a16="http://schemas.microsoft.com/office/drawing/2014/main" id="{D161B8E5-3B94-4B34-AC5E-2681B57505FA}"/>
              </a:ext>
            </a:extLst>
          </p:cNvPr>
          <p:cNvSpPr>
            <a:spLocks noGrp="1"/>
          </p:cNvSpPr>
          <p:nvPr/>
        </p:nvSpPr>
        <p:spPr>
          <a:xfrm>
            <a:off x="7467600" y="2286000"/>
            <a:ext cx="952500" cy="472440"/>
          </a:xfrm>
          <a:prstGeom prst="roundRect">
            <a:avLst>
              <a:gd name="adj" fmla="val 16129"/>
            </a:avLst>
          </a:prstGeom>
          <a:solidFill>
            <a:srgbClr val="EAF8F2"/>
          </a:solidFill>
          <a:ln w="14288">
            <a:solidFill>
              <a:srgbClr val="00A870"/>
            </a:solidFill>
            <a:prstDash val="solid"/>
          </a:ln>
        </p:spPr>
        <p:txBody>
          <a:bodyPr/>
          <a:lstStyle/>
          <a:p>
            <a:endParaRPr lang="en-US" sz="1440"/>
          </a:p>
        </p:txBody>
      </p:sp>
      <p:sp>
        <p:nvSpPr>
          <p:cNvPr id="28" name="Rectangle 27">
            <a:extLst>
              <a:ext uri="{FF2B5EF4-FFF2-40B4-BE49-F238E27FC236}">
                <a16:creationId xmlns:a16="http://schemas.microsoft.com/office/drawing/2014/main" id="{B608A505-51C4-4687-B86C-0F5E225F1FD6}"/>
              </a:ext>
            </a:extLst>
          </p:cNvPr>
          <p:cNvSpPr>
            <a:spLocks noGrp="1"/>
          </p:cNvSpPr>
          <p:nvPr/>
        </p:nvSpPr>
        <p:spPr>
          <a:xfrm>
            <a:off x="6438900" y="2407920"/>
            <a:ext cx="800100" cy="182880"/>
          </a:xfrm>
          <a:prstGeom prst="rect">
            <a:avLst/>
          </a:prstGeom>
          <a:noFill/>
          <a:ln w="0">
            <a:noFill/>
            <a:prstDash val="solid"/>
          </a:ln>
        </p:spPr>
        <p:txBody>
          <a:bodyPr anchor="t">
            <a:noAutofit/>
          </a:bodyPr>
          <a:lstStyle/>
          <a:p>
            <a:pPr algn="ctr">
              <a:lnSpc>
                <a:spcPct val="108000"/>
              </a:lnSpc>
              <a:buNone/>
              <a:defRPr sz="1275" b="0" i="0">
                <a:solidFill>
                  <a:srgbClr val="5A5A5A"/>
                </a:solidFill>
                <a:latin typeface="Aptos"/>
                <a:ea typeface="Aptos"/>
                <a:cs typeface="Aptos"/>
              </a:defRPr>
            </a:pPr>
            <a:r>
              <a:rPr sz="1020">
                <a:solidFill>
                  <a:srgbClr val="5A5A5A"/>
                </a:solidFill>
                <a:latin typeface="Aptos"/>
                <a:ea typeface="Aptos"/>
                <a:cs typeface="Aptos"/>
              </a:rPr>
              <a:t>initial</a:t>
            </a:r>
          </a:p>
        </p:txBody>
      </p:sp>
      <p:sp>
        <p:nvSpPr>
          <p:cNvPr id="29" name="Rectangle 28">
            <a:extLst>
              <a:ext uri="{FF2B5EF4-FFF2-40B4-BE49-F238E27FC236}">
                <a16:creationId xmlns:a16="http://schemas.microsoft.com/office/drawing/2014/main" id="{2EDC97DA-0556-41FC-936D-ED257ACB37CF}"/>
              </a:ext>
            </a:extLst>
          </p:cNvPr>
          <p:cNvSpPr>
            <a:spLocks noGrp="1"/>
          </p:cNvSpPr>
          <p:nvPr/>
        </p:nvSpPr>
        <p:spPr>
          <a:xfrm>
            <a:off x="7543800" y="2407920"/>
            <a:ext cx="800100" cy="182880"/>
          </a:xfrm>
          <a:prstGeom prst="rect">
            <a:avLst/>
          </a:prstGeom>
          <a:noFill/>
          <a:ln w="0">
            <a:noFill/>
            <a:prstDash val="solid"/>
          </a:ln>
        </p:spPr>
        <p:txBody>
          <a:bodyPr anchor="t">
            <a:noAutofit/>
          </a:bodyPr>
          <a:lstStyle/>
          <a:p>
            <a:pPr algn="ctr">
              <a:lnSpc>
                <a:spcPct val="108000"/>
              </a:lnSpc>
              <a:buNone/>
              <a:defRPr sz="1275" b="1" i="0">
                <a:solidFill>
                  <a:srgbClr val="00A870"/>
                </a:solidFill>
                <a:latin typeface="Aptos"/>
                <a:ea typeface="Aptos"/>
                <a:cs typeface="Aptos"/>
              </a:defRPr>
            </a:pPr>
            <a:r>
              <a:rPr sz="1020" b="1">
                <a:solidFill>
                  <a:srgbClr val="00A870"/>
                </a:solidFill>
                <a:latin typeface="Aptos"/>
                <a:ea typeface="Aptos"/>
                <a:cs typeface="Aptos"/>
              </a:rPr>
              <a:t>change %</a:t>
            </a:r>
          </a:p>
        </p:txBody>
      </p:sp>
      <p:sp>
        <p:nvSpPr>
          <p:cNvPr id="30" name="Rectangle 29">
            <a:extLst>
              <a:ext uri="{FF2B5EF4-FFF2-40B4-BE49-F238E27FC236}">
                <a16:creationId xmlns:a16="http://schemas.microsoft.com/office/drawing/2014/main" id="{7890FA69-BB5A-4991-AD3C-5DE4D43973E7}"/>
              </a:ext>
            </a:extLst>
          </p:cNvPr>
          <p:cNvSpPr>
            <a:spLocks noGrp="1"/>
          </p:cNvSpPr>
          <p:nvPr/>
        </p:nvSpPr>
        <p:spPr>
          <a:xfrm>
            <a:off x="9182100" y="1866900"/>
            <a:ext cx="2057400" cy="259080"/>
          </a:xfrm>
          <a:prstGeom prst="rect">
            <a:avLst/>
          </a:prstGeom>
          <a:noFill/>
          <a:ln w="0">
            <a:noFill/>
            <a:prstDash val="solid"/>
          </a:ln>
        </p:spPr>
        <p:txBody>
          <a:bodyPr anchor="t">
            <a:noAutofit/>
          </a:bodyPr>
          <a:lstStyle/>
          <a:p>
            <a:pPr algn="ctr">
              <a:lnSpc>
                <a:spcPct val="108000"/>
              </a:lnSpc>
              <a:buNone/>
              <a:defRPr sz="1800" b="1" i="0">
                <a:solidFill>
                  <a:srgbClr val="00A870"/>
                </a:solidFill>
                <a:latin typeface="Georgia"/>
                <a:ea typeface="Georgia"/>
                <a:cs typeface="Georgia"/>
              </a:defRPr>
            </a:pPr>
            <a:r>
              <a:rPr sz="1440" b="1">
                <a:solidFill>
                  <a:srgbClr val="00A870"/>
                </a:solidFill>
                <a:latin typeface="Georgia"/>
                <a:ea typeface="Georgia"/>
                <a:cs typeface="Georgia"/>
              </a:rPr>
              <a:t>Platelets</a:t>
            </a:r>
          </a:p>
        </p:txBody>
      </p:sp>
      <p:sp>
        <p:nvSpPr>
          <p:cNvPr id="31" name="Rounded Rectangle 30">
            <a:extLst>
              <a:ext uri="{FF2B5EF4-FFF2-40B4-BE49-F238E27FC236}">
                <a16:creationId xmlns:a16="http://schemas.microsoft.com/office/drawing/2014/main" id="{CA55AC6D-8D1E-4A6C-AEA0-16012BE7043A}"/>
              </a:ext>
            </a:extLst>
          </p:cNvPr>
          <p:cNvSpPr>
            <a:spLocks noGrp="1"/>
          </p:cNvSpPr>
          <p:nvPr/>
        </p:nvSpPr>
        <p:spPr>
          <a:xfrm>
            <a:off x="9182100" y="2286000"/>
            <a:ext cx="952500" cy="472440"/>
          </a:xfrm>
          <a:prstGeom prst="roundRect">
            <a:avLst>
              <a:gd name="adj" fmla="val 16129"/>
            </a:avLst>
          </a:prstGeom>
          <a:solidFill>
            <a:srgbClr val="F7F6F2"/>
          </a:solidFill>
          <a:ln w="11430">
            <a:solidFill>
              <a:srgbClr val="B9B9B9"/>
            </a:solidFill>
            <a:prstDash val="solid"/>
          </a:ln>
        </p:spPr>
        <p:txBody>
          <a:bodyPr/>
          <a:lstStyle/>
          <a:p>
            <a:endParaRPr lang="en-US" sz="1440"/>
          </a:p>
        </p:txBody>
      </p:sp>
      <p:sp>
        <p:nvSpPr>
          <p:cNvPr id="32" name="Rounded Rectangle 31">
            <a:extLst>
              <a:ext uri="{FF2B5EF4-FFF2-40B4-BE49-F238E27FC236}">
                <a16:creationId xmlns:a16="http://schemas.microsoft.com/office/drawing/2014/main" id="{0A39C434-9CBC-4F6D-940C-C7123CB3B588}"/>
              </a:ext>
            </a:extLst>
          </p:cNvPr>
          <p:cNvSpPr>
            <a:spLocks noGrp="1"/>
          </p:cNvSpPr>
          <p:nvPr/>
        </p:nvSpPr>
        <p:spPr>
          <a:xfrm>
            <a:off x="10287000" y="2286000"/>
            <a:ext cx="952500" cy="472440"/>
          </a:xfrm>
          <a:prstGeom prst="roundRect">
            <a:avLst>
              <a:gd name="adj" fmla="val 16129"/>
            </a:avLst>
          </a:prstGeom>
          <a:solidFill>
            <a:srgbClr val="EAF8F2"/>
          </a:solidFill>
          <a:ln w="14288">
            <a:solidFill>
              <a:srgbClr val="00A870"/>
            </a:solidFill>
            <a:prstDash val="solid"/>
          </a:ln>
        </p:spPr>
        <p:txBody>
          <a:bodyPr/>
          <a:lstStyle/>
          <a:p>
            <a:endParaRPr lang="en-US" sz="1440"/>
          </a:p>
        </p:txBody>
      </p:sp>
      <p:sp>
        <p:nvSpPr>
          <p:cNvPr id="33" name="Rectangle 32">
            <a:extLst>
              <a:ext uri="{FF2B5EF4-FFF2-40B4-BE49-F238E27FC236}">
                <a16:creationId xmlns:a16="http://schemas.microsoft.com/office/drawing/2014/main" id="{492B8292-4798-4078-BD2F-08D378905013}"/>
              </a:ext>
            </a:extLst>
          </p:cNvPr>
          <p:cNvSpPr>
            <a:spLocks noGrp="1"/>
          </p:cNvSpPr>
          <p:nvPr/>
        </p:nvSpPr>
        <p:spPr>
          <a:xfrm>
            <a:off x="9258300" y="2407920"/>
            <a:ext cx="800100" cy="182880"/>
          </a:xfrm>
          <a:prstGeom prst="rect">
            <a:avLst/>
          </a:prstGeom>
          <a:noFill/>
          <a:ln w="0">
            <a:noFill/>
            <a:prstDash val="solid"/>
          </a:ln>
        </p:spPr>
        <p:txBody>
          <a:bodyPr anchor="t">
            <a:noAutofit/>
          </a:bodyPr>
          <a:lstStyle/>
          <a:p>
            <a:pPr algn="ctr">
              <a:lnSpc>
                <a:spcPct val="108000"/>
              </a:lnSpc>
              <a:buNone/>
              <a:defRPr sz="1275" b="0" i="0">
                <a:solidFill>
                  <a:srgbClr val="5A5A5A"/>
                </a:solidFill>
                <a:latin typeface="Aptos"/>
                <a:ea typeface="Aptos"/>
                <a:cs typeface="Aptos"/>
              </a:defRPr>
            </a:pPr>
            <a:r>
              <a:rPr sz="1020">
                <a:solidFill>
                  <a:srgbClr val="5A5A5A"/>
                </a:solidFill>
                <a:latin typeface="Aptos"/>
                <a:ea typeface="Aptos"/>
                <a:cs typeface="Aptos"/>
              </a:rPr>
              <a:t>initial</a:t>
            </a:r>
          </a:p>
        </p:txBody>
      </p:sp>
      <p:sp>
        <p:nvSpPr>
          <p:cNvPr id="34" name="Rectangle 33">
            <a:extLst>
              <a:ext uri="{FF2B5EF4-FFF2-40B4-BE49-F238E27FC236}">
                <a16:creationId xmlns:a16="http://schemas.microsoft.com/office/drawing/2014/main" id="{378BD484-DF35-4913-9D5A-325BF86FBD5C}"/>
              </a:ext>
            </a:extLst>
          </p:cNvPr>
          <p:cNvSpPr>
            <a:spLocks noGrp="1"/>
          </p:cNvSpPr>
          <p:nvPr/>
        </p:nvSpPr>
        <p:spPr>
          <a:xfrm>
            <a:off x="10363200" y="2407920"/>
            <a:ext cx="800100" cy="182880"/>
          </a:xfrm>
          <a:prstGeom prst="rect">
            <a:avLst/>
          </a:prstGeom>
          <a:noFill/>
          <a:ln w="0">
            <a:noFill/>
            <a:prstDash val="solid"/>
          </a:ln>
        </p:spPr>
        <p:txBody>
          <a:bodyPr anchor="t">
            <a:noAutofit/>
          </a:bodyPr>
          <a:lstStyle/>
          <a:p>
            <a:pPr algn="ctr">
              <a:lnSpc>
                <a:spcPct val="108000"/>
              </a:lnSpc>
              <a:buNone/>
              <a:defRPr sz="1275" b="1" i="0">
                <a:solidFill>
                  <a:srgbClr val="00A870"/>
                </a:solidFill>
                <a:latin typeface="Aptos"/>
                <a:ea typeface="Aptos"/>
                <a:cs typeface="Aptos"/>
              </a:defRPr>
            </a:pPr>
            <a:r>
              <a:rPr sz="1020" b="1">
                <a:solidFill>
                  <a:srgbClr val="00A870"/>
                </a:solidFill>
                <a:latin typeface="Aptos"/>
                <a:ea typeface="Aptos"/>
                <a:cs typeface="Aptos"/>
              </a:rPr>
              <a:t>change %</a:t>
            </a:r>
          </a:p>
        </p:txBody>
      </p:sp>
      <p:sp>
        <p:nvSpPr>
          <p:cNvPr id="35" name="Rectangle 34">
            <a:extLst>
              <a:ext uri="{FF2B5EF4-FFF2-40B4-BE49-F238E27FC236}">
                <a16:creationId xmlns:a16="http://schemas.microsoft.com/office/drawing/2014/main" id="{D757AE8B-5EE1-43AC-92C1-76C77D5F4129}"/>
              </a:ext>
            </a:extLst>
          </p:cNvPr>
          <p:cNvSpPr>
            <a:spLocks noGrp="1"/>
          </p:cNvSpPr>
          <p:nvPr/>
        </p:nvSpPr>
        <p:spPr>
          <a:xfrm>
            <a:off x="838200" y="3276600"/>
            <a:ext cx="2819400" cy="304800"/>
          </a:xfrm>
          <a:prstGeom prst="rect">
            <a:avLst/>
          </a:prstGeom>
          <a:noFill/>
          <a:ln w="0">
            <a:noFill/>
            <a:prstDash val="solid"/>
          </a:ln>
        </p:spPr>
        <p:txBody>
          <a:bodyPr anchor="t">
            <a:noAutofit/>
          </a:bodyPr>
          <a:lstStyle/>
          <a:p>
            <a:pPr algn="l">
              <a:lnSpc>
                <a:spcPct val="108000"/>
              </a:lnSpc>
              <a:buNone/>
              <a:defRPr sz="2100" b="1" i="0">
                <a:solidFill>
                  <a:srgbClr val="9552D0"/>
                </a:solidFill>
                <a:latin typeface="Georgia"/>
                <a:ea typeface="Georgia"/>
                <a:cs typeface="Georgia"/>
              </a:defRPr>
            </a:pPr>
            <a:r>
              <a:rPr sz="1680" b="1">
                <a:solidFill>
                  <a:srgbClr val="9552D0"/>
                </a:solidFill>
                <a:latin typeface="Georgia"/>
                <a:ea typeface="Georgia"/>
                <a:cs typeface="Georgia"/>
              </a:rPr>
              <a:t>8 engineered columns</a:t>
            </a:r>
          </a:p>
        </p:txBody>
      </p:sp>
      <p:sp>
        <p:nvSpPr>
          <p:cNvPr id="36" name="Rectangle 35">
            <a:extLst>
              <a:ext uri="{FF2B5EF4-FFF2-40B4-BE49-F238E27FC236}">
                <a16:creationId xmlns:a16="http://schemas.microsoft.com/office/drawing/2014/main" id="{5387A513-1E8D-4B6C-86C3-1B283C5E45D5}"/>
              </a:ext>
            </a:extLst>
          </p:cNvPr>
          <p:cNvSpPr>
            <a:spLocks noGrp="1"/>
          </p:cNvSpPr>
          <p:nvPr/>
        </p:nvSpPr>
        <p:spPr>
          <a:xfrm>
            <a:off x="838200" y="3657600"/>
            <a:ext cx="3962400" cy="320040"/>
          </a:xfrm>
          <a:prstGeom prst="rect">
            <a:avLst/>
          </a:prstGeom>
          <a:noFill/>
          <a:ln w="0">
            <a:noFill/>
            <a:prstDash val="solid"/>
          </a:ln>
        </p:spPr>
        <p:txBody>
          <a:bodyPr anchor="t">
            <a:noAutofit/>
          </a:bodyPr>
          <a:lstStyle/>
          <a:p>
            <a:pPr algn="l">
              <a:lnSpc>
                <a:spcPct val="108000"/>
              </a:lnSpc>
              <a:buNone/>
              <a:defRPr sz="1575" b="0" i="0">
                <a:solidFill>
                  <a:srgbClr val="5A5A5A"/>
                </a:solidFill>
                <a:latin typeface="Aptos"/>
                <a:ea typeface="Aptos"/>
                <a:cs typeface="Aptos"/>
              </a:defRPr>
            </a:pPr>
            <a:r>
              <a:rPr sz="1260">
                <a:solidFill>
                  <a:srgbClr val="5A5A5A"/>
                </a:solidFill>
                <a:latin typeface="Aptos"/>
                <a:ea typeface="Aptos"/>
                <a:cs typeface="Aptos"/>
              </a:rPr>
              <a:t>4 biomarkers × [initial value + normalized change]</a:t>
            </a:r>
          </a:p>
        </p:txBody>
      </p:sp>
      <p:sp>
        <p:nvSpPr>
          <p:cNvPr id="37" name="Straight Connector 36">
            <a:extLst>
              <a:ext uri="{FF2B5EF4-FFF2-40B4-BE49-F238E27FC236}">
                <a16:creationId xmlns:a16="http://schemas.microsoft.com/office/drawing/2014/main" id="{A72D54EC-72A2-4704-B6C9-F696E27FE471}"/>
              </a:ext>
            </a:extLst>
          </p:cNvPr>
          <p:cNvSpPr>
            <a:spLocks noGrp="1"/>
          </p:cNvSpPr>
          <p:nvPr/>
        </p:nvSpPr>
        <p:spPr>
          <a:xfrm>
            <a:off x="4800600" y="3756660"/>
            <a:ext cx="1676400" cy="0"/>
          </a:xfrm>
          <a:prstGeom prst="line">
            <a:avLst/>
          </a:prstGeom>
          <a:noFill/>
          <a:ln w="19050">
            <a:solidFill>
              <a:srgbClr val="B9B9B9"/>
            </a:solidFill>
            <a:prstDash val="solid"/>
          </a:ln>
        </p:spPr>
        <p:txBody>
          <a:bodyPr/>
          <a:lstStyle/>
          <a:p>
            <a:endParaRPr lang="en-US" sz="1440"/>
          </a:p>
        </p:txBody>
      </p:sp>
      <p:sp>
        <p:nvSpPr>
          <p:cNvPr id="38" name="Rectangle 37">
            <a:extLst>
              <a:ext uri="{FF2B5EF4-FFF2-40B4-BE49-F238E27FC236}">
                <a16:creationId xmlns:a16="http://schemas.microsoft.com/office/drawing/2014/main" id="{ECAA0745-833E-4C3A-980A-937EC131FB4E}"/>
              </a:ext>
            </a:extLst>
          </p:cNvPr>
          <p:cNvSpPr>
            <a:spLocks noGrp="1"/>
          </p:cNvSpPr>
          <p:nvPr/>
        </p:nvSpPr>
        <p:spPr>
          <a:xfrm>
            <a:off x="6858000" y="3276600"/>
            <a:ext cx="2819400" cy="304800"/>
          </a:xfrm>
          <a:prstGeom prst="rect">
            <a:avLst/>
          </a:prstGeom>
          <a:noFill/>
          <a:ln w="0">
            <a:noFill/>
            <a:prstDash val="solid"/>
          </a:ln>
        </p:spPr>
        <p:txBody>
          <a:bodyPr anchor="t">
            <a:noAutofit/>
          </a:bodyPr>
          <a:lstStyle/>
          <a:p>
            <a:pPr algn="l">
              <a:lnSpc>
                <a:spcPct val="108000"/>
              </a:lnSpc>
              <a:buNone/>
              <a:defRPr sz="2100" b="1" i="0">
                <a:solidFill>
                  <a:srgbClr val="00A870"/>
                </a:solidFill>
                <a:latin typeface="Georgia"/>
                <a:ea typeface="Georgia"/>
                <a:cs typeface="Georgia"/>
              </a:defRPr>
            </a:pPr>
            <a:r>
              <a:rPr sz="1680" b="1">
                <a:solidFill>
                  <a:srgbClr val="00A870"/>
                </a:solidFill>
                <a:latin typeface="Georgia"/>
                <a:ea typeface="Georgia"/>
                <a:cs typeface="Georgia"/>
              </a:rPr>
              <a:t>4 clustering inputs</a:t>
            </a:r>
          </a:p>
        </p:txBody>
      </p:sp>
      <p:sp>
        <p:nvSpPr>
          <p:cNvPr id="39" name="Rectangle 38">
            <a:extLst>
              <a:ext uri="{FF2B5EF4-FFF2-40B4-BE49-F238E27FC236}">
                <a16:creationId xmlns:a16="http://schemas.microsoft.com/office/drawing/2014/main" id="{D7C9D1DD-2CAB-4D27-AA25-2BA4CE91A0C4}"/>
              </a:ext>
            </a:extLst>
          </p:cNvPr>
          <p:cNvSpPr>
            <a:spLocks noGrp="1"/>
          </p:cNvSpPr>
          <p:nvPr/>
        </p:nvSpPr>
        <p:spPr>
          <a:xfrm>
            <a:off x="6858000" y="3657600"/>
            <a:ext cx="3962400" cy="320040"/>
          </a:xfrm>
          <a:prstGeom prst="rect">
            <a:avLst/>
          </a:prstGeom>
          <a:noFill/>
          <a:ln w="0">
            <a:noFill/>
            <a:prstDash val="solid"/>
          </a:ln>
        </p:spPr>
        <p:txBody>
          <a:bodyPr anchor="t">
            <a:noAutofit/>
          </a:bodyPr>
          <a:lstStyle/>
          <a:p>
            <a:pPr algn="l">
              <a:lnSpc>
                <a:spcPct val="108000"/>
              </a:lnSpc>
              <a:buNone/>
              <a:defRPr sz="1575" b="0" i="0">
                <a:solidFill>
                  <a:srgbClr val="5A5A5A"/>
                </a:solidFill>
                <a:latin typeface="Aptos"/>
                <a:ea typeface="Aptos"/>
                <a:cs typeface="Aptos"/>
              </a:defRPr>
            </a:pPr>
            <a:r>
              <a:rPr sz="1260">
                <a:solidFill>
                  <a:srgbClr val="5A5A5A"/>
                </a:solidFill>
                <a:latin typeface="Aptos"/>
                <a:ea typeface="Aptos"/>
                <a:cs typeface="Aptos"/>
              </a:rPr>
              <a:t>Only the four clearance / percent-change columns</a:t>
            </a:r>
          </a:p>
        </p:txBody>
      </p:sp>
      <p:sp>
        <p:nvSpPr>
          <p:cNvPr id="40" name="Rounded Rectangle 39">
            <a:extLst>
              <a:ext uri="{FF2B5EF4-FFF2-40B4-BE49-F238E27FC236}">
                <a16:creationId xmlns:a16="http://schemas.microsoft.com/office/drawing/2014/main" id="{4028647A-CCE8-4A8D-9017-C49F80B61D7C}"/>
              </a:ext>
            </a:extLst>
          </p:cNvPr>
          <p:cNvSpPr>
            <a:spLocks noGrp="1"/>
          </p:cNvSpPr>
          <p:nvPr/>
        </p:nvSpPr>
        <p:spPr>
          <a:xfrm>
            <a:off x="762000" y="4572000"/>
            <a:ext cx="10668000" cy="1104900"/>
          </a:xfrm>
          <a:prstGeom prst="roundRect">
            <a:avLst>
              <a:gd name="adj" fmla="val 9655"/>
            </a:avLst>
          </a:prstGeom>
          <a:solidFill>
            <a:srgbClr val="FFF3E5"/>
          </a:solidFill>
          <a:ln w="17145">
            <a:solidFill>
              <a:srgbClr val="EF7D00"/>
            </a:solidFill>
            <a:prstDash val="solid"/>
          </a:ln>
        </p:spPr>
        <p:txBody>
          <a:bodyPr/>
          <a:lstStyle/>
          <a:p>
            <a:endParaRPr lang="en-US" sz="1440"/>
          </a:p>
        </p:txBody>
      </p:sp>
      <p:sp>
        <p:nvSpPr>
          <p:cNvPr id="41" name="Rectangle 40">
            <a:extLst>
              <a:ext uri="{FF2B5EF4-FFF2-40B4-BE49-F238E27FC236}">
                <a16:creationId xmlns:a16="http://schemas.microsoft.com/office/drawing/2014/main" id="{F4207C09-0D98-4DC2-8279-73BF5CA79CF6}"/>
              </a:ext>
            </a:extLst>
          </p:cNvPr>
          <p:cNvSpPr>
            <a:spLocks noGrp="1"/>
          </p:cNvSpPr>
          <p:nvPr/>
        </p:nvSpPr>
        <p:spPr>
          <a:xfrm>
            <a:off x="1028700" y="4762500"/>
            <a:ext cx="2286000" cy="228600"/>
          </a:xfrm>
          <a:prstGeom prst="rect">
            <a:avLst/>
          </a:prstGeom>
          <a:noFill/>
          <a:ln w="0">
            <a:noFill/>
            <a:prstDash val="solid"/>
          </a:ln>
        </p:spPr>
        <p:txBody>
          <a:bodyPr anchor="t">
            <a:noAutofit/>
          </a:bodyPr>
          <a:lstStyle/>
          <a:p>
            <a:pPr algn="l">
              <a:lnSpc>
                <a:spcPct val="108000"/>
              </a:lnSpc>
              <a:buNone/>
              <a:defRPr sz="1725" b="1" i="0">
                <a:solidFill>
                  <a:srgbClr val="EF7D00"/>
                </a:solidFill>
                <a:latin typeface="Georgia"/>
                <a:ea typeface="Georgia"/>
                <a:cs typeface="Georgia"/>
              </a:defRPr>
            </a:pPr>
            <a:r>
              <a:rPr sz="1380" b="1">
                <a:solidFill>
                  <a:srgbClr val="EF7D00"/>
                </a:solidFill>
                <a:latin typeface="Georgia"/>
                <a:ea typeface="Georgia"/>
                <a:cs typeface="Georgia"/>
              </a:rPr>
              <a:t>Exact availability rule</a:t>
            </a:r>
          </a:p>
        </p:txBody>
      </p:sp>
      <p:sp>
        <p:nvSpPr>
          <p:cNvPr id="42" name="Rectangle 41">
            <a:extLst>
              <a:ext uri="{FF2B5EF4-FFF2-40B4-BE49-F238E27FC236}">
                <a16:creationId xmlns:a16="http://schemas.microsoft.com/office/drawing/2014/main" id="{27D2DBCE-8EB9-422C-BCCE-9897C34B1341}"/>
              </a:ext>
            </a:extLst>
          </p:cNvPr>
          <p:cNvSpPr>
            <a:spLocks noGrp="1"/>
          </p:cNvSpPr>
          <p:nvPr/>
        </p:nvSpPr>
        <p:spPr>
          <a:xfrm>
            <a:off x="1028700" y="5105400"/>
            <a:ext cx="9982200" cy="365760"/>
          </a:xfrm>
          <a:prstGeom prst="rect">
            <a:avLst/>
          </a:prstGeom>
          <a:noFill/>
          <a:ln w="0">
            <a:noFill/>
            <a:prstDash val="solid"/>
          </a:ln>
        </p:spPr>
        <p:txBody>
          <a:bodyPr anchor="t">
            <a:noAutofit/>
          </a:bodyPr>
          <a:lstStyle/>
          <a:p>
            <a:pPr algn="l">
              <a:lnSpc>
                <a:spcPct val="108000"/>
              </a:lnSpc>
              <a:buNone/>
              <a:defRPr sz="1575" b="1" i="0">
                <a:solidFill>
                  <a:srgbClr val="111111"/>
                </a:solidFill>
                <a:latin typeface="Aptos"/>
                <a:ea typeface="Aptos"/>
                <a:cs typeface="Aptos"/>
              </a:defRPr>
            </a:pPr>
            <a:r>
              <a:rPr sz="1260" b="1">
                <a:solidFill>
                  <a:srgbClr val="111111"/>
                </a:solidFill>
                <a:latin typeface="Aptos"/>
                <a:ea typeface="Aptos"/>
                <a:cs typeface="Aptos"/>
              </a:rPr>
              <a:t>Primary cohort: lactate must be present + at least 2 of the other 3 trajectories. That gives 4 admissible presence patterns: all four, or lactate plus any two secondary markers. Complete-case sensitivity requires all four.</a:t>
            </a:r>
          </a:p>
        </p:txBody>
      </p:sp>
      <p:sp>
        <p:nvSpPr>
          <p:cNvPr id="43" name="Rectangle 42">
            <a:extLst>
              <a:ext uri="{FF2B5EF4-FFF2-40B4-BE49-F238E27FC236}">
                <a16:creationId xmlns:a16="http://schemas.microsoft.com/office/drawing/2014/main" id="{0A624AB0-3C87-4F82-A9BC-474CC5ED163B}"/>
              </a:ext>
            </a:extLst>
          </p:cNvPr>
          <p:cNvSpPr>
            <a:spLocks noGrp="1"/>
          </p:cNvSpPr>
          <p:nvPr/>
        </p:nvSpPr>
        <p:spPr>
          <a:xfrm>
            <a:off x="1028700" y="5806440"/>
            <a:ext cx="9982200" cy="213360"/>
          </a:xfrm>
          <a:prstGeom prst="rect">
            <a:avLst/>
          </a:prstGeom>
          <a:noFill/>
          <a:ln w="0">
            <a:noFill/>
            <a:prstDash val="solid"/>
          </a:ln>
        </p:spPr>
        <p:txBody>
          <a:bodyPr anchor="t">
            <a:noAutofit/>
          </a:bodyPr>
          <a:lstStyle/>
          <a:p>
            <a:pPr algn="l">
              <a:lnSpc>
                <a:spcPct val="108000"/>
              </a:lnSpc>
              <a:buNone/>
              <a:defRPr sz="1350" b="1" i="0">
                <a:solidFill>
                  <a:srgbClr val="D64B45"/>
                </a:solidFill>
                <a:latin typeface="Aptos"/>
                <a:ea typeface="Aptos"/>
                <a:cs typeface="Aptos"/>
              </a:defRPr>
            </a:pPr>
            <a:r>
              <a:rPr sz="1080" b="1">
                <a:solidFill>
                  <a:srgbClr val="D64B45"/>
                </a:solidFill>
                <a:latin typeface="Aptos"/>
                <a:ea typeface="Aptos"/>
                <a:cs typeface="Aptos"/>
              </a:rPr>
              <a:t>This is a combination rule - not (4-1)! and not 4!.</a:t>
            </a:r>
          </a:p>
        </p:txBody>
      </p:sp>
      <p:sp>
        <p:nvSpPr>
          <p:cNvPr id="44" name="Straight Connector 43">
            <a:extLst>
              <a:ext uri="{FF2B5EF4-FFF2-40B4-BE49-F238E27FC236}">
                <a16:creationId xmlns:a16="http://schemas.microsoft.com/office/drawing/2014/main" id="{AFEF8732-E543-4952-BCE3-165AE5F9F170}"/>
              </a:ext>
            </a:extLst>
          </p:cNvPr>
          <p:cNvSpPr>
            <a:spLocks noGrp="1"/>
          </p:cNvSpPr>
          <p:nvPr/>
        </p:nvSpPr>
        <p:spPr>
          <a:xfrm>
            <a:off x="609600" y="6507480"/>
            <a:ext cx="10972800" cy="0"/>
          </a:xfrm>
          <a:prstGeom prst="line">
            <a:avLst/>
          </a:prstGeom>
          <a:noFill/>
          <a:ln w="9525">
            <a:solidFill>
              <a:srgbClr val="DDDDDD"/>
            </a:solidFill>
            <a:prstDash val="solid"/>
          </a:ln>
        </p:spPr>
        <p:txBody>
          <a:bodyPr/>
          <a:lstStyle/>
          <a:p>
            <a:endParaRPr lang="en-US" sz="1440"/>
          </a:p>
        </p:txBody>
      </p:sp>
      <p:sp>
        <p:nvSpPr>
          <p:cNvPr id="45" name="Rectangle 44">
            <a:extLst>
              <a:ext uri="{FF2B5EF4-FFF2-40B4-BE49-F238E27FC236}">
                <a16:creationId xmlns:a16="http://schemas.microsoft.com/office/drawing/2014/main" id="{89433B77-EEBF-4DB1-8261-94069EF73B7E}"/>
              </a:ext>
            </a:extLst>
          </p:cNvPr>
          <p:cNvSpPr>
            <a:spLocks noGrp="1"/>
          </p:cNvSpPr>
          <p:nvPr/>
        </p:nvSpPr>
        <p:spPr>
          <a:xfrm>
            <a:off x="624840" y="6568440"/>
            <a:ext cx="5791200" cy="167640"/>
          </a:xfrm>
          <a:prstGeom prst="rect">
            <a:avLst/>
          </a:prstGeom>
          <a:noFill/>
          <a:ln w="0">
            <a:noFill/>
            <a:prstDash val="solid"/>
          </a:ln>
        </p:spPr>
        <p:txBody>
          <a:bodyPr anchor="t">
            <a:noAutofit/>
          </a:bodyPr>
          <a:lstStyle/>
          <a:p>
            <a:pPr algn="l">
              <a:lnSpc>
                <a:spcPct val="108000"/>
              </a:lnSpc>
              <a:buNone/>
              <a:defRPr sz="975" b="0" i="0">
                <a:solidFill>
                  <a:srgbClr val="777777"/>
                </a:solidFill>
                <a:latin typeface="Aptos"/>
                <a:ea typeface="Aptos"/>
                <a:cs typeface="Aptos"/>
              </a:defRPr>
            </a:pPr>
            <a:r>
              <a:rPr sz="780">
                <a:solidFill>
                  <a:srgbClr val="777777"/>
                </a:solidFill>
                <a:latin typeface="Aptos"/>
                <a:ea typeface="Aptos"/>
                <a:cs typeface="Aptos"/>
              </a:rPr>
              <a:t>MIMIC-IV first-24-hour biochemical trajectory study</a:t>
            </a:r>
          </a:p>
        </p:txBody>
      </p:sp>
      <p:sp>
        <p:nvSpPr>
          <p:cNvPr id="46" name="Rectangle 45">
            <a:extLst>
              <a:ext uri="{FF2B5EF4-FFF2-40B4-BE49-F238E27FC236}">
                <a16:creationId xmlns:a16="http://schemas.microsoft.com/office/drawing/2014/main" id="{49659BD1-2CEB-4D40-A9E4-729C62B49BD7}"/>
              </a:ext>
            </a:extLst>
          </p:cNvPr>
          <p:cNvSpPr>
            <a:spLocks noGrp="1"/>
          </p:cNvSpPr>
          <p:nvPr/>
        </p:nvSpPr>
        <p:spPr>
          <a:xfrm>
            <a:off x="11163300" y="6568440"/>
            <a:ext cx="381000" cy="167640"/>
          </a:xfrm>
          <a:prstGeom prst="rect">
            <a:avLst/>
          </a:prstGeom>
          <a:noFill/>
          <a:ln w="0">
            <a:noFill/>
            <a:prstDash val="solid"/>
          </a:ln>
        </p:spPr>
        <p:txBody>
          <a:bodyPr anchor="t">
            <a:noAutofit/>
          </a:bodyPr>
          <a:lstStyle/>
          <a:p>
            <a:pPr algn="r">
              <a:lnSpc>
                <a:spcPct val="108000"/>
              </a:lnSpc>
              <a:buNone/>
              <a:defRPr sz="975" b="0" i="0">
                <a:solidFill>
                  <a:srgbClr val="777777"/>
                </a:solidFill>
                <a:latin typeface="Aptos"/>
                <a:ea typeface="Aptos"/>
                <a:cs typeface="Aptos"/>
              </a:defRPr>
            </a:pPr>
            <a:r>
              <a:rPr sz="780">
                <a:solidFill>
                  <a:srgbClr val="777777"/>
                </a:solidFill>
                <a:latin typeface="Aptos"/>
                <a:ea typeface="Aptos"/>
                <a:cs typeface="Aptos"/>
              </a:rPr>
              <a:t>07</a:t>
            </a:r>
          </a:p>
        </p:txBody>
      </p:sp>
    </p:spTree>
    <p:extLst>
      <p:ext uri="{BB962C8B-B14F-4D97-AF65-F5344CB8AC3E}">
        <p14:creationId xmlns:p14="http://schemas.microsoft.com/office/powerpoint/2010/main" val="2273836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0E7C7B"/>
                </a:solidFill>
                <a:latin typeface="Georgia" pitchFamily="34" charset="0"/>
                <a:ea typeface="Georgia" pitchFamily="34" charset="-122"/>
                <a:cs typeface="Georgia" pitchFamily="34" charset="-120"/>
              </a:rPr>
              <a:t>METHOD</a:t>
            </a:r>
            <a:endParaRPr lang="en-US" sz="1300" dirty="0"/>
          </a:p>
        </p:txBody>
      </p:sp>
      <p:sp>
        <p:nvSpPr>
          <p:cNvPr id="3" name="Text 1"/>
          <p:cNvSpPr/>
          <p:nvPr/>
        </p:nvSpPr>
        <p:spPr>
          <a:xfrm>
            <a:off x="548640" y="685800"/>
            <a:ext cx="10515600" cy="822960"/>
          </a:xfrm>
          <a:prstGeom prst="rect">
            <a:avLst/>
          </a:prstGeom>
          <a:noFill/>
          <a:ln/>
        </p:spPr>
        <p:txBody>
          <a:bodyPr wrap="square" rtlCol="0" anchor="ctr"/>
          <a:lstStyle/>
          <a:p>
            <a:pPr marL="0" indent="0">
              <a:buNone/>
            </a:pPr>
            <a:r>
              <a:rPr lang="en-US" sz="3000" b="1" dirty="0">
                <a:solidFill>
                  <a:srgbClr val="0F2A43"/>
                </a:solidFill>
                <a:latin typeface="Georgia" pitchFamily="34" charset="0"/>
                <a:ea typeface="Georgia" pitchFamily="34" charset="-122"/>
                <a:cs typeface="Georgia" pitchFamily="34" charset="-120"/>
              </a:rPr>
              <a:t>Four markers, two dimensions each, K-means across k = 2–6</a:t>
            </a:r>
            <a:endParaRPr lang="en-US" sz="3000" dirty="0"/>
          </a:p>
        </p:txBody>
      </p:sp>
      <p:sp>
        <p:nvSpPr>
          <p:cNvPr id="4" name="Text 2"/>
          <p:cNvSpPr/>
          <p:nvPr/>
        </p:nvSpPr>
        <p:spPr>
          <a:xfrm>
            <a:off x="548640" y="1691640"/>
            <a:ext cx="5486400" cy="365760"/>
          </a:xfrm>
          <a:prstGeom prst="rect">
            <a:avLst/>
          </a:prstGeom>
          <a:noFill/>
          <a:ln/>
        </p:spPr>
        <p:txBody>
          <a:bodyPr wrap="square" rtlCol="0" anchor="ctr"/>
          <a:lstStyle/>
          <a:p>
            <a:pPr marL="0" indent="0">
              <a:buNone/>
            </a:pPr>
            <a:r>
              <a:rPr lang="en-US" sz="1500" b="1" dirty="0">
                <a:solidFill>
                  <a:srgbClr val="0F2A43"/>
                </a:solidFill>
                <a:latin typeface="Georgia" pitchFamily="34" charset="0"/>
                <a:ea typeface="Georgia" pitchFamily="34" charset="-122"/>
                <a:cs typeface="Georgia" pitchFamily="34" charset="-120"/>
              </a:rPr>
              <a:t>8-D trajectory feature vector per ICU stay</a:t>
            </a:r>
            <a:endParaRPr lang="en-US" sz="1500" dirty="0"/>
          </a:p>
        </p:txBody>
      </p:sp>
      <p:sp>
        <p:nvSpPr>
          <p:cNvPr id="5" name="Shape 3"/>
          <p:cNvSpPr/>
          <p:nvPr/>
        </p:nvSpPr>
        <p:spPr>
          <a:xfrm>
            <a:off x="548640" y="2148840"/>
            <a:ext cx="73152" cy="502920"/>
          </a:xfrm>
          <a:prstGeom prst="rect">
            <a:avLst/>
          </a:prstGeom>
          <a:solidFill>
            <a:srgbClr val="0E7C7B"/>
          </a:solidFill>
          <a:ln/>
        </p:spPr>
        <p:txBody>
          <a:bodyPr/>
          <a:lstStyle/>
          <a:p>
            <a:endParaRPr lang="en-US"/>
          </a:p>
        </p:txBody>
      </p:sp>
      <p:sp>
        <p:nvSpPr>
          <p:cNvPr id="6" name="Text 4"/>
          <p:cNvSpPr/>
          <p:nvPr/>
        </p:nvSpPr>
        <p:spPr>
          <a:xfrm>
            <a:off x="777240" y="2130552"/>
            <a:ext cx="1920240" cy="548640"/>
          </a:xfrm>
          <a:prstGeom prst="rect">
            <a:avLst/>
          </a:prstGeom>
          <a:noFill/>
          <a:ln/>
        </p:spPr>
        <p:txBody>
          <a:bodyPr wrap="square" rtlCol="0" anchor="ctr"/>
          <a:lstStyle/>
          <a:p>
            <a:pPr marL="0" indent="0">
              <a:buNone/>
            </a:pPr>
            <a:r>
              <a:rPr lang="en-US" sz="1400" b="1" dirty="0">
                <a:solidFill>
                  <a:srgbClr val="0F2A43"/>
                </a:solidFill>
                <a:latin typeface="Georgia" pitchFamily="34" charset="0"/>
                <a:ea typeface="Georgia" pitchFamily="34" charset="-122"/>
                <a:cs typeface="Georgia" pitchFamily="34" charset="-120"/>
              </a:rPr>
              <a:t>Lactate</a:t>
            </a:r>
            <a:endParaRPr lang="en-US" sz="1400" dirty="0"/>
          </a:p>
        </p:txBody>
      </p:sp>
      <p:sp>
        <p:nvSpPr>
          <p:cNvPr id="7" name="Text 5"/>
          <p:cNvSpPr/>
          <p:nvPr/>
        </p:nvSpPr>
        <p:spPr>
          <a:xfrm>
            <a:off x="2697480" y="2130552"/>
            <a:ext cx="3017520" cy="548640"/>
          </a:xfrm>
          <a:prstGeom prst="rect">
            <a:avLst/>
          </a:prstGeom>
          <a:noFill/>
          <a:ln/>
        </p:spPr>
        <p:txBody>
          <a:bodyPr wrap="square" rtlCol="0" anchor="ctr"/>
          <a:lstStyle/>
          <a:p>
            <a:pPr marL="0" indent="0">
              <a:buNone/>
            </a:pPr>
            <a:r>
              <a:rPr lang="en-US" sz="1250" dirty="0">
                <a:solidFill>
                  <a:srgbClr val="5A6472"/>
                </a:solidFill>
                <a:latin typeface="Georgia" pitchFamily="34" charset="0"/>
                <a:ea typeface="Georgia" pitchFamily="34" charset="-122"/>
                <a:cs typeface="Georgia" pitchFamily="34" charset="-120"/>
              </a:rPr>
              <a:t>Initial value + clearance (%)</a:t>
            </a:r>
            <a:endParaRPr lang="en-US" sz="1250" dirty="0"/>
          </a:p>
        </p:txBody>
      </p:sp>
      <p:sp>
        <p:nvSpPr>
          <p:cNvPr id="8" name="Shape 6"/>
          <p:cNvSpPr/>
          <p:nvPr/>
        </p:nvSpPr>
        <p:spPr>
          <a:xfrm>
            <a:off x="548640" y="2770632"/>
            <a:ext cx="73152" cy="502920"/>
          </a:xfrm>
          <a:prstGeom prst="rect">
            <a:avLst/>
          </a:prstGeom>
          <a:solidFill>
            <a:srgbClr val="0E7C7B"/>
          </a:solidFill>
          <a:ln/>
        </p:spPr>
        <p:txBody>
          <a:bodyPr/>
          <a:lstStyle/>
          <a:p>
            <a:endParaRPr lang="en-US"/>
          </a:p>
        </p:txBody>
      </p:sp>
      <p:sp>
        <p:nvSpPr>
          <p:cNvPr id="9" name="Text 7"/>
          <p:cNvSpPr/>
          <p:nvPr/>
        </p:nvSpPr>
        <p:spPr>
          <a:xfrm>
            <a:off x="777240" y="2752344"/>
            <a:ext cx="1920240" cy="548640"/>
          </a:xfrm>
          <a:prstGeom prst="rect">
            <a:avLst/>
          </a:prstGeom>
          <a:noFill/>
          <a:ln/>
        </p:spPr>
        <p:txBody>
          <a:bodyPr wrap="square" rtlCol="0" anchor="ctr"/>
          <a:lstStyle/>
          <a:p>
            <a:pPr marL="0" indent="0">
              <a:buNone/>
            </a:pPr>
            <a:r>
              <a:rPr lang="en-US" sz="1400" b="1" dirty="0">
                <a:solidFill>
                  <a:srgbClr val="0F2A43"/>
                </a:solidFill>
                <a:latin typeface="Georgia" pitchFamily="34" charset="0"/>
                <a:ea typeface="Georgia" pitchFamily="34" charset="-122"/>
                <a:cs typeface="Georgia" pitchFamily="34" charset="-120"/>
              </a:rPr>
              <a:t>Creatinine</a:t>
            </a:r>
            <a:endParaRPr lang="en-US" sz="1400" dirty="0"/>
          </a:p>
        </p:txBody>
      </p:sp>
      <p:sp>
        <p:nvSpPr>
          <p:cNvPr id="10" name="Text 8"/>
          <p:cNvSpPr/>
          <p:nvPr/>
        </p:nvSpPr>
        <p:spPr>
          <a:xfrm>
            <a:off x="2697480" y="2752344"/>
            <a:ext cx="3017520" cy="548640"/>
          </a:xfrm>
          <a:prstGeom prst="rect">
            <a:avLst/>
          </a:prstGeom>
          <a:noFill/>
          <a:ln/>
        </p:spPr>
        <p:txBody>
          <a:bodyPr wrap="square" rtlCol="0" anchor="ctr"/>
          <a:lstStyle/>
          <a:p>
            <a:pPr marL="0" indent="0">
              <a:buNone/>
            </a:pPr>
            <a:r>
              <a:rPr lang="en-US" sz="1250" dirty="0">
                <a:solidFill>
                  <a:srgbClr val="5A6472"/>
                </a:solidFill>
                <a:latin typeface="Georgia" pitchFamily="34" charset="0"/>
                <a:ea typeface="Georgia" pitchFamily="34" charset="-122"/>
                <a:cs typeface="Georgia" pitchFamily="34" charset="-120"/>
              </a:rPr>
              <a:t>Initial value + % change</a:t>
            </a:r>
            <a:endParaRPr lang="en-US" sz="1250" dirty="0"/>
          </a:p>
        </p:txBody>
      </p:sp>
      <p:sp>
        <p:nvSpPr>
          <p:cNvPr id="11" name="Shape 9"/>
          <p:cNvSpPr/>
          <p:nvPr/>
        </p:nvSpPr>
        <p:spPr>
          <a:xfrm>
            <a:off x="548640" y="3392424"/>
            <a:ext cx="73152" cy="502920"/>
          </a:xfrm>
          <a:prstGeom prst="rect">
            <a:avLst/>
          </a:prstGeom>
          <a:solidFill>
            <a:srgbClr val="0E7C7B"/>
          </a:solidFill>
          <a:ln/>
        </p:spPr>
        <p:txBody>
          <a:bodyPr/>
          <a:lstStyle/>
          <a:p>
            <a:endParaRPr lang="en-US"/>
          </a:p>
        </p:txBody>
      </p:sp>
      <p:sp>
        <p:nvSpPr>
          <p:cNvPr id="12" name="Text 10"/>
          <p:cNvSpPr/>
          <p:nvPr/>
        </p:nvSpPr>
        <p:spPr>
          <a:xfrm>
            <a:off x="777240" y="3374136"/>
            <a:ext cx="1920240" cy="548640"/>
          </a:xfrm>
          <a:prstGeom prst="rect">
            <a:avLst/>
          </a:prstGeom>
          <a:noFill/>
          <a:ln/>
        </p:spPr>
        <p:txBody>
          <a:bodyPr wrap="square" rtlCol="0" anchor="ctr"/>
          <a:lstStyle/>
          <a:p>
            <a:pPr marL="0" indent="0">
              <a:buNone/>
            </a:pPr>
            <a:r>
              <a:rPr lang="en-US" sz="1400" b="1" dirty="0">
                <a:solidFill>
                  <a:srgbClr val="0F2A43"/>
                </a:solidFill>
                <a:latin typeface="Georgia" pitchFamily="34" charset="0"/>
                <a:ea typeface="Georgia" pitchFamily="34" charset="-122"/>
                <a:cs typeface="Georgia" pitchFamily="34" charset="-120"/>
              </a:rPr>
              <a:t>WBC count</a:t>
            </a:r>
            <a:endParaRPr lang="en-US" sz="1400" dirty="0"/>
          </a:p>
        </p:txBody>
      </p:sp>
      <p:sp>
        <p:nvSpPr>
          <p:cNvPr id="13" name="Text 11"/>
          <p:cNvSpPr/>
          <p:nvPr/>
        </p:nvSpPr>
        <p:spPr>
          <a:xfrm>
            <a:off x="2697480" y="3374136"/>
            <a:ext cx="3017520" cy="548640"/>
          </a:xfrm>
          <a:prstGeom prst="rect">
            <a:avLst/>
          </a:prstGeom>
          <a:noFill/>
          <a:ln/>
        </p:spPr>
        <p:txBody>
          <a:bodyPr wrap="square" rtlCol="0" anchor="ctr"/>
          <a:lstStyle/>
          <a:p>
            <a:pPr marL="0" indent="0">
              <a:buNone/>
            </a:pPr>
            <a:r>
              <a:rPr lang="en-US" sz="1250" dirty="0">
                <a:solidFill>
                  <a:srgbClr val="5A6472"/>
                </a:solidFill>
                <a:latin typeface="Georgia" pitchFamily="34" charset="0"/>
                <a:ea typeface="Georgia" pitchFamily="34" charset="-122"/>
                <a:cs typeface="Georgia" pitchFamily="34" charset="-120"/>
              </a:rPr>
              <a:t>Initial value + % change</a:t>
            </a:r>
            <a:endParaRPr lang="en-US" sz="1250" dirty="0"/>
          </a:p>
        </p:txBody>
      </p:sp>
      <p:sp>
        <p:nvSpPr>
          <p:cNvPr id="14" name="Shape 12"/>
          <p:cNvSpPr/>
          <p:nvPr/>
        </p:nvSpPr>
        <p:spPr>
          <a:xfrm>
            <a:off x="548640" y="4014216"/>
            <a:ext cx="73152" cy="502920"/>
          </a:xfrm>
          <a:prstGeom prst="rect">
            <a:avLst/>
          </a:prstGeom>
          <a:solidFill>
            <a:srgbClr val="0E7C7B"/>
          </a:solidFill>
          <a:ln/>
        </p:spPr>
        <p:txBody>
          <a:bodyPr/>
          <a:lstStyle/>
          <a:p>
            <a:endParaRPr lang="en-US"/>
          </a:p>
        </p:txBody>
      </p:sp>
      <p:sp>
        <p:nvSpPr>
          <p:cNvPr id="15" name="Text 13"/>
          <p:cNvSpPr/>
          <p:nvPr/>
        </p:nvSpPr>
        <p:spPr>
          <a:xfrm>
            <a:off x="777240" y="3995928"/>
            <a:ext cx="1920240" cy="548640"/>
          </a:xfrm>
          <a:prstGeom prst="rect">
            <a:avLst/>
          </a:prstGeom>
          <a:noFill/>
          <a:ln/>
        </p:spPr>
        <p:txBody>
          <a:bodyPr wrap="square" rtlCol="0" anchor="ctr"/>
          <a:lstStyle/>
          <a:p>
            <a:pPr marL="0" indent="0">
              <a:buNone/>
            </a:pPr>
            <a:r>
              <a:rPr lang="en-US" sz="1400" b="1" dirty="0">
                <a:solidFill>
                  <a:srgbClr val="0F2A43"/>
                </a:solidFill>
                <a:latin typeface="Georgia" pitchFamily="34" charset="0"/>
                <a:ea typeface="Georgia" pitchFamily="34" charset="-122"/>
                <a:cs typeface="Georgia" pitchFamily="34" charset="-120"/>
              </a:rPr>
              <a:t>Platelets</a:t>
            </a:r>
            <a:endParaRPr lang="en-US" sz="1400" dirty="0"/>
          </a:p>
        </p:txBody>
      </p:sp>
      <p:sp>
        <p:nvSpPr>
          <p:cNvPr id="16" name="Text 14"/>
          <p:cNvSpPr/>
          <p:nvPr/>
        </p:nvSpPr>
        <p:spPr>
          <a:xfrm>
            <a:off x="2697480" y="3995928"/>
            <a:ext cx="3017520" cy="548640"/>
          </a:xfrm>
          <a:prstGeom prst="rect">
            <a:avLst/>
          </a:prstGeom>
          <a:noFill/>
          <a:ln/>
        </p:spPr>
        <p:txBody>
          <a:bodyPr wrap="square" rtlCol="0" anchor="ctr"/>
          <a:lstStyle/>
          <a:p>
            <a:pPr marL="0" indent="0">
              <a:buNone/>
            </a:pPr>
            <a:r>
              <a:rPr lang="en-US" sz="1250" dirty="0">
                <a:solidFill>
                  <a:srgbClr val="5A6472"/>
                </a:solidFill>
                <a:latin typeface="Georgia" pitchFamily="34" charset="0"/>
                <a:ea typeface="Georgia" pitchFamily="34" charset="-122"/>
                <a:cs typeface="Georgia" pitchFamily="34" charset="-120"/>
              </a:rPr>
              <a:t>Initial value + % change</a:t>
            </a:r>
            <a:endParaRPr lang="en-US" sz="1250" dirty="0"/>
          </a:p>
        </p:txBody>
      </p:sp>
      <p:sp>
        <p:nvSpPr>
          <p:cNvPr id="17" name="Text 15"/>
          <p:cNvSpPr/>
          <p:nvPr/>
        </p:nvSpPr>
        <p:spPr>
          <a:xfrm>
            <a:off x="548640" y="4773168"/>
            <a:ext cx="5394960" cy="822960"/>
          </a:xfrm>
          <a:prstGeom prst="rect">
            <a:avLst/>
          </a:prstGeom>
          <a:noFill/>
          <a:ln/>
        </p:spPr>
        <p:txBody>
          <a:bodyPr wrap="square" rtlCol="0" anchor="ctr"/>
          <a:lstStyle/>
          <a:p>
            <a:pPr marL="0" indent="0">
              <a:buNone/>
            </a:pPr>
            <a:r>
              <a:rPr lang="en-US" sz="1200" i="1" dirty="0">
                <a:solidFill>
                  <a:srgbClr val="5A6472"/>
                </a:solidFill>
                <a:latin typeface="Georgia" pitchFamily="34" charset="0"/>
                <a:ea typeface="Georgia" pitchFamily="34" charset="-122"/>
                <a:cs typeface="Georgia" pitchFamily="34" charset="-120"/>
              </a:rPr>
              <a:t>Winsorized (1st/99th pct) → median-imputed → robust-scaled. Complete-case cohort (n=24,034) held out for sensitivity testing.</a:t>
            </a:r>
            <a:endParaRPr lang="en-US" sz="1200" dirty="0"/>
          </a:p>
        </p:txBody>
      </p:sp>
      <p:sp>
        <p:nvSpPr>
          <p:cNvPr id="18" name="Text 16"/>
          <p:cNvSpPr/>
          <p:nvPr/>
        </p:nvSpPr>
        <p:spPr>
          <a:xfrm>
            <a:off x="6355080" y="1691640"/>
            <a:ext cx="5303520" cy="365760"/>
          </a:xfrm>
          <a:prstGeom prst="rect">
            <a:avLst/>
          </a:prstGeom>
          <a:noFill/>
          <a:ln/>
        </p:spPr>
        <p:txBody>
          <a:bodyPr wrap="square" rtlCol="0" anchor="ctr"/>
          <a:lstStyle/>
          <a:p>
            <a:pPr marL="0" indent="0">
              <a:buNone/>
            </a:pPr>
            <a:r>
              <a:rPr lang="en-US" sz="1500" b="1" dirty="0">
                <a:solidFill>
                  <a:srgbClr val="0F2A43"/>
                </a:solidFill>
                <a:latin typeface="Georgia" pitchFamily="34" charset="0"/>
                <a:ea typeface="Georgia" pitchFamily="34" charset="-122"/>
                <a:cs typeface="Georgia" pitchFamily="34" charset="-120"/>
              </a:rPr>
              <a:t>Cluster-validity by k — k = 2 wins on every metric</a:t>
            </a:r>
            <a:endParaRPr lang="en-US" sz="1500" dirty="0"/>
          </a:p>
        </p:txBody>
      </p:sp>
      <p:graphicFrame>
        <p:nvGraphicFramePr>
          <p:cNvPr id="19" name="Chart 0"/>
          <p:cNvGraphicFramePr/>
          <p:nvPr/>
        </p:nvGraphicFramePr>
        <p:xfrm>
          <a:off x="6355080" y="2103120"/>
          <a:ext cx="53035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20" name="Text 17"/>
          <p:cNvSpPr/>
          <p:nvPr/>
        </p:nvSpPr>
        <p:spPr>
          <a:xfrm>
            <a:off x="457200" y="6528816"/>
            <a:ext cx="7315200" cy="274320"/>
          </a:xfrm>
          <a:prstGeom prst="rect">
            <a:avLst/>
          </a:prstGeom>
          <a:noFill/>
          <a:ln/>
        </p:spPr>
        <p:txBody>
          <a:bodyPr wrap="square" rtlCol="0" anchor="ctr"/>
          <a:lstStyle/>
          <a:p>
            <a:pPr marL="0" indent="0">
              <a:buNone/>
            </a:pPr>
            <a:r>
              <a:rPr lang="en-US" sz="900" dirty="0">
                <a:solidFill>
                  <a:srgbClr val="5A6472"/>
                </a:solidFill>
                <a:latin typeface="Georgia" pitchFamily="34" charset="0"/>
                <a:ea typeface="Georgia" pitchFamily="34" charset="-122"/>
                <a:cs typeface="Georgia" pitchFamily="34" charset="-120"/>
              </a:rPr>
              <a:t>ICU Trajectory Phenotyping — CST2213 Final Project</a:t>
            </a:r>
            <a:endParaRPr lang="en-US" sz="900" dirty="0"/>
          </a:p>
        </p:txBody>
      </p:sp>
      <p:sp>
        <p:nvSpPr>
          <p:cNvPr id="21" name="Text 18"/>
          <p:cNvSpPr/>
          <p:nvPr/>
        </p:nvSpPr>
        <p:spPr>
          <a:xfrm>
            <a:off x="11521440" y="6528816"/>
            <a:ext cx="457200" cy="274320"/>
          </a:xfrm>
          <a:prstGeom prst="rect">
            <a:avLst/>
          </a:prstGeom>
          <a:noFill/>
          <a:ln/>
        </p:spPr>
        <p:txBody>
          <a:bodyPr wrap="square" rtlCol="0" anchor="ctr"/>
          <a:lstStyle/>
          <a:p>
            <a:pPr marL="0" indent="0" algn="r">
              <a:buNone/>
            </a:pPr>
            <a:r>
              <a:rPr lang="en-US" sz="900" dirty="0">
                <a:solidFill>
                  <a:srgbClr val="5A6472"/>
                </a:solidFill>
                <a:latin typeface="Georgia" pitchFamily="34" charset="0"/>
                <a:ea typeface="Georgia" pitchFamily="34" charset="-122"/>
                <a:cs typeface="Georgia" pitchFamily="34" charset="-120"/>
              </a:rPr>
              <a:t>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slide-title">
            <a:extLst>
              <a:ext uri="{FF2B5EF4-FFF2-40B4-BE49-F238E27FC236}">
                <a16:creationId xmlns:a16="http://schemas.microsoft.com/office/drawing/2014/main" id="{14180EA1-7843-4F08-AD0F-C6684862A34E}"/>
              </a:ext>
            </a:extLst>
          </p:cNvPr>
          <p:cNvSpPr>
            <a:spLocks noGrp="1"/>
          </p:cNvSpPr>
          <p:nvPr/>
        </p:nvSpPr>
        <p:spPr>
          <a:xfrm>
            <a:off x="594360" y="259080"/>
            <a:ext cx="8534400" cy="533400"/>
          </a:xfrm>
          <a:prstGeom prst="rect">
            <a:avLst/>
          </a:prstGeom>
          <a:noFill/>
          <a:ln w="0">
            <a:noFill/>
            <a:prstDash val="solid"/>
          </a:ln>
        </p:spPr>
        <p:txBody>
          <a:bodyPr anchor="t">
            <a:normAutofit fontScale="75355" lnSpcReduction="20000"/>
          </a:bodyPr>
          <a:lstStyle/>
          <a:p>
            <a:pPr algn="l">
              <a:lnSpc>
                <a:spcPct val="108000"/>
              </a:lnSpc>
              <a:buNone/>
              <a:defRPr sz="4050" b="1" i="0">
                <a:solidFill>
                  <a:srgbClr val="111111"/>
                </a:solidFill>
                <a:latin typeface="Georgia"/>
                <a:ea typeface="Georgia"/>
                <a:cs typeface="Georgia"/>
              </a:defRPr>
            </a:pPr>
            <a:r>
              <a:rPr sz="3240" b="1">
                <a:solidFill>
                  <a:srgbClr val="111111"/>
                </a:solidFill>
                <a:latin typeface="Georgia"/>
                <a:ea typeface="Georgia"/>
                <a:cs typeface="Georgia"/>
              </a:rPr>
              <a:t>Unsupervised Learning Found Two Trajectories</a:t>
            </a:r>
          </a:p>
        </p:txBody>
      </p:sp>
      <p:sp>
        <p:nvSpPr>
          <p:cNvPr id="2" name="Rectangle 1">
            <a:extLst>
              <a:ext uri="{FF2B5EF4-FFF2-40B4-BE49-F238E27FC236}">
                <a16:creationId xmlns:a16="http://schemas.microsoft.com/office/drawing/2014/main" id="{FD637896-FD43-4241-ACEF-94AFAEF27B81}"/>
              </a:ext>
            </a:extLst>
          </p:cNvPr>
          <p:cNvSpPr>
            <a:spLocks noGrp="1"/>
          </p:cNvSpPr>
          <p:nvPr/>
        </p:nvSpPr>
        <p:spPr>
          <a:xfrm>
            <a:off x="9372600" y="228600"/>
            <a:ext cx="2286000" cy="533400"/>
          </a:xfrm>
          <a:prstGeom prst="rect">
            <a:avLst/>
          </a:prstGeom>
          <a:noFill/>
          <a:ln w="0">
            <a:noFill/>
            <a:prstDash val="solid"/>
          </a:ln>
        </p:spPr>
        <p:txBody>
          <a:bodyPr anchor="t">
            <a:normAutofit fontScale="89084"/>
          </a:bodyPr>
          <a:lstStyle/>
          <a:p>
            <a:pPr algn="r">
              <a:lnSpc>
                <a:spcPct val="108000"/>
              </a:lnSpc>
              <a:buNone/>
              <a:defRPr sz="3000" b="1" i="0">
                <a:solidFill>
                  <a:srgbClr val="EF7D00"/>
                </a:solidFill>
                <a:latin typeface="Georgia"/>
                <a:ea typeface="Georgia"/>
                <a:cs typeface="Georgia"/>
              </a:defRPr>
            </a:pPr>
            <a:r>
              <a:rPr sz="2400" b="1">
                <a:solidFill>
                  <a:srgbClr val="EF7D00"/>
                </a:solidFill>
                <a:latin typeface="Georgia"/>
                <a:ea typeface="Georgia"/>
                <a:cs typeface="Georgia"/>
              </a:rPr>
              <a:t>Data Modelling</a:t>
            </a:r>
          </a:p>
        </p:txBody>
      </p:sp>
      <p:sp>
        <p:nvSpPr>
          <p:cNvPr id="3" name="Rectangle 2">
            <a:extLst>
              <a:ext uri="{FF2B5EF4-FFF2-40B4-BE49-F238E27FC236}">
                <a16:creationId xmlns:a16="http://schemas.microsoft.com/office/drawing/2014/main" id="{13CEADBD-77AF-4C98-8E8A-C02F99DDB59D}"/>
              </a:ext>
            </a:extLst>
          </p:cNvPr>
          <p:cNvSpPr>
            <a:spLocks noGrp="1"/>
          </p:cNvSpPr>
          <p:nvPr/>
        </p:nvSpPr>
        <p:spPr>
          <a:xfrm>
            <a:off x="624840" y="853440"/>
            <a:ext cx="8610600" cy="259080"/>
          </a:xfrm>
          <a:prstGeom prst="rect">
            <a:avLst/>
          </a:prstGeom>
          <a:noFill/>
          <a:ln w="0">
            <a:noFill/>
            <a:prstDash val="solid"/>
          </a:ln>
        </p:spPr>
        <p:txBody>
          <a:bodyPr anchor="t">
            <a:noAutofit/>
          </a:bodyPr>
          <a:lstStyle/>
          <a:p>
            <a:pPr algn="l">
              <a:lnSpc>
                <a:spcPct val="108000"/>
              </a:lnSpc>
              <a:buNone/>
              <a:defRPr sz="1500" b="0" i="0">
                <a:solidFill>
                  <a:srgbClr val="5A5A5A"/>
                </a:solidFill>
                <a:latin typeface="Aptos"/>
                <a:ea typeface="Aptos"/>
                <a:cs typeface="Aptos"/>
              </a:defRPr>
            </a:pPr>
            <a:r>
              <a:rPr sz="1200">
                <a:solidFill>
                  <a:srgbClr val="5A5A5A"/>
                </a:solidFill>
                <a:latin typeface="Aptos"/>
                <a:ea typeface="Aptos"/>
                <a:cs typeface="Aptos"/>
              </a:rPr>
              <a:t>K-means was selected after comparing candidate cluster counts and alternative methods.</a:t>
            </a:r>
          </a:p>
        </p:txBody>
      </p:sp>
      <p:sp>
        <p:nvSpPr>
          <p:cNvPr id="4" name="Straight Connector 3">
            <a:extLst>
              <a:ext uri="{FF2B5EF4-FFF2-40B4-BE49-F238E27FC236}">
                <a16:creationId xmlns:a16="http://schemas.microsoft.com/office/drawing/2014/main" id="{2CDE2438-50BD-476D-B038-1218A99CC4A8}"/>
              </a:ext>
            </a:extLst>
          </p:cNvPr>
          <p:cNvSpPr>
            <a:spLocks noGrp="1"/>
          </p:cNvSpPr>
          <p:nvPr/>
        </p:nvSpPr>
        <p:spPr>
          <a:xfrm>
            <a:off x="2628900" y="1379220"/>
            <a:ext cx="723900" cy="0"/>
          </a:xfrm>
          <a:prstGeom prst="line">
            <a:avLst/>
          </a:prstGeom>
          <a:noFill/>
          <a:ln w="14288">
            <a:solidFill>
              <a:srgbClr val="B9B9B9"/>
            </a:solidFill>
            <a:prstDash val="solid"/>
          </a:ln>
        </p:spPr>
        <p:txBody>
          <a:bodyPr/>
          <a:lstStyle/>
          <a:p>
            <a:endParaRPr lang="en-US" sz="1440"/>
          </a:p>
        </p:txBody>
      </p:sp>
      <p:sp>
        <p:nvSpPr>
          <p:cNvPr id="5" name="Oval 4">
            <a:extLst>
              <a:ext uri="{FF2B5EF4-FFF2-40B4-BE49-F238E27FC236}">
                <a16:creationId xmlns:a16="http://schemas.microsoft.com/office/drawing/2014/main" id="{32237145-0AA7-445C-BF69-81B36ADA9783}"/>
              </a:ext>
            </a:extLst>
          </p:cNvPr>
          <p:cNvSpPr>
            <a:spLocks noGrp="1"/>
          </p:cNvSpPr>
          <p:nvPr/>
        </p:nvSpPr>
        <p:spPr>
          <a:xfrm>
            <a:off x="647700" y="1203960"/>
            <a:ext cx="350520" cy="350520"/>
          </a:xfrm>
          <a:prstGeom prst="ellipse">
            <a:avLst/>
          </a:prstGeom>
          <a:solidFill>
            <a:srgbClr val="FFFFFF"/>
          </a:solidFill>
          <a:ln w="14288">
            <a:solidFill>
              <a:srgbClr val="1484D6"/>
            </a:solidFill>
            <a:prstDash val="solid"/>
          </a:ln>
        </p:spPr>
        <p:txBody>
          <a:bodyPr anchor="ctr"/>
          <a:lstStyle/>
          <a:p>
            <a:pPr algn="ctr">
              <a:defRPr sz="1200" b="1">
                <a:solidFill>
                  <a:srgbClr val="1484D6"/>
                </a:solidFill>
              </a:defRPr>
            </a:pPr>
            <a:r>
              <a:rPr sz="960" b="1">
                <a:solidFill>
                  <a:srgbClr val="1484D6"/>
                </a:solidFill>
              </a:rPr>
              <a:t>1</a:t>
            </a:r>
          </a:p>
        </p:txBody>
      </p:sp>
      <p:sp>
        <p:nvSpPr>
          <p:cNvPr id="6" name="Rectangle 5">
            <a:extLst>
              <a:ext uri="{FF2B5EF4-FFF2-40B4-BE49-F238E27FC236}">
                <a16:creationId xmlns:a16="http://schemas.microsoft.com/office/drawing/2014/main" id="{FEF0F9C9-573C-44A1-A618-AB153236E32A}"/>
              </a:ext>
            </a:extLst>
          </p:cNvPr>
          <p:cNvSpPr>
            <a:spLocks noGrp="1"/>
          </p:cNvSpPr>
          <p:nvPr/>
        </p:nvSpPr>
        <p:spPr>
          <a:xfrm>
            <a:off x="1089660" y="1234440"/>
            <a:ext cx="1828800" cy="190500"/>
          </a:xfrm>
          <a:prstGeom prst="rect">
            <a:avLst/>
          </a:prstGeom>
          <a:noFill/>
          <a:ln w="0">
            <a:noFill/>
            <a:prstDash val="solid"/>
          </a:ln>
        </p:spPr>
        <p:txBody>
          <a:bodyPr anchor="t">
            <a:noAutofit/>
          </a:bodyPr>
          <a:lstStyle/>
          <a:p>
            <a:pPr algn="l">
              <a:lnSpc>
                <a:spcPct val="108000"/>
              </a:lnSpc>
              <a:buNone/>
              <a:defRPr sz="1050" b="1" i="0">
                <a:solidFill>
                  <a:srgbClr val="777777"/>
                </a:solidFill>
                <a:latin typeface="Aptos"/>
                <a:ea typeface="Aptos"/>
                <a:cs typeface="Aptos"/>
              </a:defRPr>
            </a:pPr>
            <a:r>
              <a:rPr sz="840" b="1">
                <a:solidFill>
                  <a:srgbClr val="777777"/>
                </a:solidFill>
                <a:latin typeface="Aptos"/>
                <a:ea typeface="Aptos"/>
                <a:cs typeface="Aptos"/>
              </a:rPr>
              <a:t>BUSINESS NEEDS</a:t>
            </a:r>
          </a:p>
        </p:txBody>
      </p:sp>
      <p:sp>
        <p:nvSpPr>
          <p:cNvPr id="7" name="Straight Connector 6">
            <a:extLst>
              <a:ext uri="{FF2B5EF4-FFF2-40B4-BE49-F238E27FC236}">
                <a16:creationId xmlns:a16="http://schemas.microsoft.com/office/drawing/2014/main" id="{C5E9D39B-B4CE-40DA-8C48-DEF3F7F46AF6}"/>
              </a:ext>
            </a:extLst>
          </p:cNvPr>
          <p:cNvSpPr>
            <a:spLocks noGrp="1"/>
          </p:cNvSpPr>
          <p:nvPr/>
        </p:nvSpPr>
        <p:spPr>
          <a:xfrm>
            <a:off x="5448300" y="1379220"/>
            <a:ext cx="723900" cy="0"/>
          </a:xfrm>
          <a:prstGeom prst="line">
            <a:avLst/>
          </a:prstGeom>
          <a:noFill/>
          <a:ln w="14288">
            <a:solidFill>
              <a:srgbClr val="B9B9B9"/>
            </a:solidFill>
            <a:prstDash val="solid"/>
          </a:ln>
        </p:spPr>
        <p:txBody>
          <a:bodyPr/>
          <a:lstStyle/>
          <a:p>
            <a:endParaRPr lang="en-US" sz="1440"/>
          </a:p>
        </p:txBody>
      </p:sp>
      <p:sp>
        <p:nvSpPr>
          <p:cNvPr id="8" name="Oval 7">
            <a:extLst>
              <a:ext uri="{FF2B5EF4-FFF2-40B4-BE49-F238E27FC236}">
                <a16:creationId xmlns:a16="http://schemas.microsoft.com/office/drawing/2014/main" id="{731773B8-ECF7-47FB-87EF-A32458457968}"/>
              </a:ext>
            </a:extLst>
          </p:cNvPr>
          <p:cNvSpPr>
            <a:spLocks noGrp="1"/>
          </p:cNvSpPr>
          <p:nvPr/>
        </p:nvSpPr>
        <p:spPr>
          <a:xfrm>
            <a:off x="3467100" y="1203960"/>
            <a:ext cx="350520" cy="350520"/>
          </a:xfrm>
          <a:prstGeom prst="ellipse">
            <a:avLst/>
          </a:prstGeom>
          <a:solidFill>
            <a:srgbClr val="FFFFFF"/>
          </a:solidFill>
          <a:ln w="14288">
            <a:solidFill>
              <a:srgbClr val="9552D0"/>
            </a:solidFill>
            <a:prstDash val="solid"/>
          </a:ln>
        </p:spPr>
        <p:txBody>
          <a:bodyPr anchor="ctr"/>
          <a:lstStyle/>
          <a:p>
            <a:pPr algn="ctr">
              <a:defRPr sz="1200" b="1">
                <a:solidFill>
                  <a:srgbClr val="9552D0"/>
                </a:solidFill>
              </a:defRPr>
            </a:pPr>
            <a:r>
              <a:rPr sz="960" b="1">
                <a:solidFill>
                  <a:srgbClr val="9552D0"/>
                </a:solidFill>
              </a:rPr>
              <a:t>2</a:t>
            </a:r>
          </a:p>
        </p:txBody>
      </p:sp>
      <p:sp>
        <p:nvSpPr>
          <p:cNvPr id="9" name="Rectangle 8">
            <a:extLst>
              <a:ext uri="{FF2B5EF4-FFF2-40B4-BE49-F238E27FC236}">
                <a16:creationId xmlns:a16="http://schemas.microsoft.com/office/drawing/2014/main" id="{67DF03E1-37FD-4896-B8A2-F1F70DC44DE2}"/>
              </a:ext>
            </a:extLst>
          </p:cNvPr>
          <p:cNvSpPr>
            <a:spLocks noGrp="1"/>
          </p:cNvSpPr>
          <p:nvPr/>
        </p:nvSpPr>
        <p:spPr>
          <a:xfrm>
            <a:off x="3909060" y="1234440"/>
            <a:ext cx="1828800" cy="190500"/>
          </a:xfrm>
          <a:prstGeom prst="rect">
            <a:avLst/>
          </a:prstGeom>
          <a:noFill/>
          <a:ln w="0">
            <a:noFill/>
            <a:prstDash val="solid"/>
          </a:ln>
        </p:spPr>
        <p:txBody>
          <a:bodyPr anchor="t">
            <a:noAutofit/>
          </a:bodyPr>
          <a:lstStyle/>
          <a:p>
            <a:pPr algn="l">
              <a:lnSpc>
                <a:spcPct val="108000"/>
              </a:lnSpc>
              <a:buNone/>
              <a:defRPr sz="1050" b="1" i="0">
                <a:solidFill>
                  <a:srgbClr val="777777"/>
                </a:solidFill>
                <a:latin typeface="Aptos"/>
                <a:ea typeface="Aptos"/>
                <a:cs typeface="Aptos"/>
              </a:defRPr>
            </a:pPr>
            <a:r>
              <a:rPr sz="840" b="1">
                <a:solidFill>
                  <a:srgbClr val="777777"/>
                </a:solidFill>
                <a:latin typeface="Aptos"/>
                <a:ea typeface="Aptos"/>
                <a:cs typeface="Aptos"/>
              </a:rPr>
              <a:t>DATA PROCESSING</a:t>
            </a:r>
          </a:p>
        </p:txBody>
      </p:sp>
      <p:sp>
        <p:nvSpPr>
          <p:cNvPr id="10" name="Straight Connector 9">
            <a:extLst>
              <a:ext uri="{FF2B5EF4-FFF2-40B4-BE49-F238E27FC236}">
                <a16:creationId xmlns:a16="http://schemas.microsoft.com/office/drawing/2014/main" id="{23039BA8-6DE9-415C-8BC3-62079BDAFC2D}"/>
              </a:ext>
            </a:extLst>
          </p:cNvPr>
          <p:cNvSpPr>
            <a:spLocks noGrp="1"/>
          </p:cNvSpPr>
          <p:nvPr/>
        </p:nvSpPr>
        <p:spPr>
          <a:xfrm>
            <a:off x="8267700" y="1379220"/>
            <a:ext cx="723900" cy="0"/>
          </a:xfrm>
          <a:prstGeom prst="line">
            <a:avLst/>
          </a:prstGeom>
          <a:noFill/>
          <a:ln w="14288">
            <a:solidFill>
              <a:srgbClr val="B9B9B9"/>
            </a:solidFill>
            <a:prstDash val="solid"/>
          </a:ln>
        </p:spPr>
        <p:txBody>
          <a:bodyPr/>
          <a:lstStyle/>
          <a:p>
            <a:endParaRPr lang="en-US" sz="1440"/>
          </a:p>
        </p:txBody>
      </p:sp>
      <p:sp>
        <p:nvSpPr>
          <p:cNvPr id="11" name="Oval 10">
            <a:extLst>
              <a:ext uri="{FF2B5EF4-FFF2-40B4-BE49-F238E27FC236}">
                <a16:creationId xmlns:a16="http://schemas.microsoft.com/office/drawing/2014/main" id="{EBBDF588-BC84-470E-8EE8-1C51B43C6246}"/>
              </a:ext>
            </a:extLst>
          </p:cNvPr>
          <p:cNvSpPr>
            <a:spLocks noGrp="1"/>
          </p:cNvSpPr>
          <p:nvPr/>
        </p:nvSpPr>
        <p:spPr>
          <a:xfrm>
            <a:off x="6286500" y="1203960"/>
            <a:ext cx="350520" cy="350520"/>
          </a:xfrm>
          <a:prstGeom prst="ellipse">
            <a:avLst/>
          </a:prstGeom>
          <a:solidFill>
            <a:srgbClr val="00A870"/>
          </a:solidFill>
          <a:ln w="14288">
            <a:solidFill>
              <a:srgbClr val="00A870"/>
            </a:solidFill>
            <a:prstDash val="solid"/>
          </a:ln>
        </p:spPr>
        <p:txBody>
          <a:bodyPr anchor="ctr"/>
          <a:lstStyle/>
          <a:p>
            <a:pPr algn="ctr">
              <a:defRPr sz="1200" b="1">
                <a:solidFill>
                  <a:srgbClr val="FFFFFF"/>
                </a:solidFill>
              </a:defRPr>
            </a:pPr>
            <a:r>
              <a:rPr sz="960" b="1">
                <a:solidFill>
                  <a:srgbClr val="FFFFFF"/>
                </a:solidFill>
              </a:rPr>
              <a:t>3</a:t>
            </a:r>
          </a:p>
        </p:txBody>
      </p:sp>
      <p:sp>
        <p:nvSpPr>
          <p:cNvPr id="12" name="Rectangle 11">
            <a:extLst>
              <a:ext uri="{FF2B5EF4-FFF2-40B4-BE49-F238E27FC236}">
                <a16:creationId xmlns:a16="http://schemas.microsoft.com/office/drawing/2014/main" id="{851177A4-C0E0-4243-8F25-2DF74B8BB103}"/>
              </a:ext>
            </a:extLst>
          </p:cNvPr>
          <p:cNvSpPr>
            <a:spLocks noGrp="1"/>
          </p:cNvSpPr>
          <p:nvPr/>
        </p:nvSpPr>
        <p:spPr>
          <a:xfrm>
            <a:off x="6728460" y="1234440"/>
            <a:ext cx="1828800" cy="190500"/>
          </a:xfrm>
          <a:prstGeom prst="rect">
            <a:avLst/>
          </a:prstGeom>
          <a:noFill/>
          <a:ln w="0">
            <a:noFill/>
            <a:prstDash val="solid"/>
          </a:ln>
        </p:spPr>
        <p:txBody>
          <a:bodyPr anchor="t">
            <a:noAutofit/>
          </a:bodyPr>
          <a:lstStyle/>
          <a:p>
            <a:pPr algn="l">
              <a:lnSpc>
                <a:spcPct val="108000"/>
              </a:lnSpc>
              <a:buNone/>
              <a:defRPr sz="1050" b="1" i="0">
                <a:solidFill>
                  <a:srgbClr val="00A870"/>
                </a:solidFill>
                <a:latin typeface="Aptos"/>
                <a:ea typeface="Aptos"/>
                <a:cs typeface="Aptos"/>
              </a:defRPr>
            </a:pPr>
            <a:r>
              <a:rPr sz="840" b="1">
                <a:solidFill>
                  <a:srgbClr val="00A870"/>
                </a:solidFill>
                <a:latin typeface="Aptos"/>
                <a:ea typeface="Aptos"/>
                <a:cs typeface="Aptos"/>
              </a:rPr>
              <a:t>DATA MODELLING</a:t>
            </a:r>
          </a:p>
        </p:txBody>
      </p:sp>
      <p:sp>
        <p:nvSpPr>
          <p:cNvPr id="13" name="Oval 12">
            <a:extLst>
              <a:ext uri="{FF2B5EF4-FFF2-40B4-BE49-F238E27FC236}">
                <a16:creationId xmlns:a16="http://schemas.microsoft.com/office/drawing/2014/main" id="{63FCBEF1-086A-4371-8853-C42F72A76143}"/>
              </a:ext>
            </a:extLst>
          </p:cNvPr>
          <p:cNvSpPr>
            <a:spLocks noGrp="1"/>
          </p:cNvSpPr>
          <p:nvPr/>
        </p:nvSpPr>
        <p:spPr>
          <a:xfrm>
            <a:off x="9105900" y="1203960"/>
            <a:ext cx="350520" cy="350520"/>
          </a:xfrm>
          <a:prstGeom prst="ellipse">
            <a:avLst/>
          </a:prstGeom>
          <a:solidFill>
            <a:srgbClr val="FFFFFF"/>
          </a:solidFill>
          <a:ln w="14288">
            <a:solidFill>
              <a:srgbClr val="EF7D00"/>
            </a:solidFill>
            <a:prstDash val="solid"/>
          </a:ln>
        </p:spPr>
        <p:txBody>
          <a:bodyPr anchor="ctr"/>
          <a:lstStyle/>
          <a:p>
            <a:pPr algn="ctr">
              <a:defRPr sz="1200" b="1">
                <a:solidFill>
                  <a:srgbClr val="EF7D00"/>
                </a:solidFill>
              </a:defRPr>
            </a:pPr>
            <a:r>
              <a:rPr sz="960" b="1">
                <a:solidFill>
                  <a:srgbClr val="EF7D00"/>
                </a:solidFill>
              </a:rPr>
              <a:t>4</a:t>
            </a:r>
          </a:p>
        </p:txBody>
      </p:sp>
      <p:sp>
        <p:nvSpPr>
          <p:cNvPr id="14" name="Rectangle 13">
            <a:extLst>
              <a:ext uri="{FF2B5EF4-FFF2-40B4-BE49-F238E27FC236}">
                <a16:creationId xmlns:a16="http://schemas.microsoft.com/office/drawing/2014/main" id="{7501B4A3-CC5B-4B14-B1B2-1DA6C2865899}"/>
              </a:ext>
            </a:extLst>
          </p:cNvPr>
          <p:cNvSpPr>
            <a:spLocks noGrp="1"/>
          </p:cNvSpPr>
          <p:nvPr/>
        </p:nvSpPr>
        <p:spPr>
          <a:xfrm>
            <a:off x="9547860" y="1234440"/>
            <a:ext cx="1828800" cy="190500"/>
          </a:xfrm>
          <a:prstGeom prst="rect">
            <a:avLst/>
          </a:prstGeom>
          <a:noFill/>
          <a:ln w="0">
            <a:noFill/>
            <a:prstDash val="solid"/>
          </a:ln>
        </p:spPr>
        <p:txBody>
          <a:bodyPr anchor="t">
            <a:noAutofit/>
          </a:bodyPr>
          <a:lstStyle/>
          <a:p>
            <a:pPr algn="l">
              <a:lnSpc>
                <a:spcPct val="108000"/>
              </a:lnSpc>
              <a:buNone/>
              <a:defRPr sz="1050" b="1" i="0">
                <a:solidFill>
                  <a:srgbClr val="777777"/>
                </a:solidFill>
                <a:latin typeface="Aptos"/>
                <a:ea typeface="Aptos"/>
                <a:cs typeface="Aptos"/>
              </a:defRPr>
            </a:pPr>
            <a:r>
              <a:rPr sz="840" b="1">
                <a:solidFill>
                  <a:srgbClr val="777777"/>
                </a:solidFill>
                <a:latin typeface="Aptos"/>
                <a:ea typeface="Aptos"/>
                <a:cs typeface="Aptos"/>
              </a:rPr>
              <a:t>BUSINESS INFRASTRUCTURE</a:t>
            </a:r>
          </a:p>
        </p:txBody>
      </p:sp>
      <p:sp>
        <p:nvSpPr>
          <p:cNvPr id="15" name="Straight Connector 14">
            <a:extLst>
              <a:ext uri="{FF2B5EF4-FFF2-40B4-BE49-F238E27FC236}">
                <a16:creationId xmlns:a16="http://schemas.microsoft.com/office/drawing/2014/main" id="{06EC29B7-697E-4E9D-B075-B012A51D81A9}"/>
              </a:ext>
            </a:extLst>
          </p:cNvPr>
          <p:cNvSpPr>
            <a:spLocks noGrp="1"/>
          </p:cNvSpPr>
          <p:nvPr/>
        </p:nvSpPr>
        <p:spPr>
          <a:xfrm>
            <a:off x="3276600" y="3124200"/>
            <a:ext cx="1447800" cy="0"/>
          </a:xfrm>
          <a:prstGeom prst="line">
            <a:avLst/>
          </a:prstGeom>
          <a:noFill/>
          <a:ln w="19050">
            <a:solidFill>
              <a:srgbClr val="B9B9B9"/>
            </a:solidFill>
            <a:prstDash val="solid"/>
          </a:ln>
        </p:spPr>
        <p:txBody>
          <a:bodyPr/>
          <a:lstStyle/>
          <a:p>
            <a:endParaRPr lang="en-US" sz="1440"/>
          </a:p>
        </p:txBody>
      </p:sp>
      <p:sp>
        <p:nvSpPr>
          <p:cNvPr id="16" name="Straight Connector 15">
            <a:extLst>
              <a:ext uri="{FF2B5EF4-FFF2-40B4-BE49-F238E27FC236}">
                <a16:creationId xmlns:a16="http://schemas.microsoft.com/office/drawing/2014/main" id="{7741E259-E8D5-48F1-9AA8-97D8A3FA9F08}"/>
              </a:ext>
            </a:extLst>
          </p:cNvPr>
          <p:cNvSpPr>
            <a:spLocks noGrp="1"/>
          </p:cNvSpPr>
          <p:nvPr/>
        </p:nvSpPr>
        <p:spPr>
          <a:xfrm>
            <a:off x="7467600" y="3124200"/>
            <a:ext cx="1447800" cy="0"/>
          </a:xfrm>
          <a:prstGeom prst="line">
            <a:avLst/>
          </a:prstGeom>
          <a:noFill/>
          <a:ln w="19050">
            <a:solidFill>
              <a:srgbClr val="B9B9B9"/>
            </a:solidFill>
            <a:prstDash val="solid"/>
          </a:ln>
        </p:spPr>
        <p:txBody>
          <a:bodyPr/>
          <a:lstStyle/>
          <a:p>
            <a:endParaRPr lang="en-US" sz="1440"/>
          </a:p>
        </p:txBody>
      </p:sp>
      <p:sp>
        <p:nvSpPr>
          <p:cNvPr id="17" name="Rounded Rectangle 16">
            <a:extLst>
              <a:ext uri="{FF2B5EF4-FFF2-40B4-BE49-F238E27FC236}">
                <a16:creationId xmlns:a16="http://schemas.microsoft.com/office/drawing/2014/main" id="{189ADD29-7193-4938-9388-15331E2DB907}"/>
              </a:ext>
            </a:extLst>
          </p:cNvPr>
          <p:cNvSpPr>
            <a:spLocks noGrp="1"/>
          </p:cNvSpPr>
          <p:nvPr/>
        </p:nvSpPr>
        <p:spPr>
          <a:xfrm>
            <a:off x="685800" y="2095500"/>
            <a:ext cx="2590800" cy="2057400"/>
          </a:xfrm>
          <a:prstGeom prst="roundRect">
            <a:avLst>
              <a:gd name="adj" fmla="val 5926"/>
            </a:avLst>
          </a:prstGeom>
          <a:solidFill>
            <a:srgbClr val="EAF8F2"/>
          </a:solidFill>
          <a:ln w="19050">
            <a:solidFill>
              <a:srgbClr val="00A870"/>
            </a:solidFill>
            <a:prstDash val="solid"/>
          </a:ln>
        </p:spPr>
        <p:txBody>
          <a:bodyPr/>
          <a:lstStyle/>
          <a:p>
            <a:endParaRPr lang="en-US" sz="1440"/>
          </a:p>
        </p:txBody>
      </p:sp>
      <p:sp>
        <p:nvSpPr>
          <p:cNvPr id="18" name="Rectangle 17">
            <a:extLst>
              <a:ext uri="{FF2B5EF4-FFF2-40B4-BE49-F238E27FC236}">
                <a16:creationId xmlns:a16="http://schemas.microsoft.com/office/drawing/2014/main" id="{BE10E728-2EC9-4C7F-9243-C3B034F3480B}"/>
              </a:ext>
            </a:extLst>
          </p:cNvPr>
          <p:cNvSpPr>
            <a:spLocks noGrp="1"/>
          </p:cNvSpPr>
          <p:nvPr/>
        </p:nvSpPr>
        <p:spPr>
          <a:xfrm>
            <a:off x="899160" y="2240280"/>
            <a:ext cx="2164080" cy="160020"/>
          </a:xfrm>
          <a:prstGeom prst="rect">
            <a:avLst/>
          </a:prstGeom>
          <a:noFill/>
          <a:ln w="0">
            <a:noFill/>
            <a:prstDash val="solid"/>
          </a:ln>
        </p:spPr>
        <p:txBody>
          <a:bodyPr anchor="t">
            <a:noAutofit/>
          </a:bodyPr>
          <a:lstStyle/>
          <a:p>
            <a:pPr algn="l">
              <a:lnSpc>
                <a:spcPct val="108000"/>
              </a:lnSpc>
              <a:buNone/>
              <a:defRPr sz="975" b="1" i="0">
                <a:solidFill>
                  <a:srgbClr val="00A870"/>
                </a:solidFill>
                <a:latin typeface="Aptos"/>
                <a:ea typeface="Aptos"/>
                <a:cs typeface="Aptos"/>
              </a:defRPr>
            </a:pPr>
            <a:r>
              <a:rPr sz="780" b="1">
                <a:solidFill>
                  <a:srgbClr val="00A870"/>
                </a:solidFill>
                <a:latin typeface="Aptos"/>
                <a:ea typeface="Aptos"/>
                <a:cs typeface="Aptos"/>
              </a:rPr>
              <a:t>INPUT</a:t>
            </a:r>
          </a:p>
        </p:txBody>
      </p:sp>
      <p:sp>
        <p:nvSpPr>
          <p:cNvPr id="19" name="Rectangle 18">
            <a:extLst>
              <a:ext uri="{FF2B5EF4-FFF2-40B4-BE49-F238E27FC236}">
                <a16:creationId xmlns:a16="http://schemas.microsoft.com/office/drawing/2014/main" id="{500F8D4C-2B8B-490D-B011-D8FEE94F6865}"/>
              </a:ext>
            </a:extLst>
          </p:cNvPr>
          <p:cNvSpPr>
            <a:spLocks noGrp="1"/>
          </p:cNvSpPr>
          <p:nvPr/>
        </p:nvSpPr>
        <p:spPr>
          <a:xfrm>
            <a:off x="899160" y="2438400"/>
            <a:ext cx="2164080" cy="441960"/>
          </a:xfrm>
          <a:prstGeom prst="rect">
            <a:avLst/>
          </a:prstGeom>
          <a:noFill/>
          <a:ln w="0">
            <a:noFill/>
            <a:prstDash val="solid"/>
          </a:ln>
        </p:spPr>
        <p:txBody>
          <a:bodyPr anchor="ctr">
            <a:normAutofit/>
          </a:bodyPr>
          <a:lstStyle/>
          <a:p>
            <a:pPr algn="l">
              <a:lnSpc>
                <a:spcPct val="108000"/>
              </a:lnSpc>
              <a:buNone/>
              <a:defRPr sz="1800" b="1" i="0">
                <a:solidFill>
                  <a:srgbClr val="111111"/>
                </a:solidFill>
                <a:latin typeface="Georgia"/>
                <a:ea typeface="Georgia"/>
                <a:cs typeface="Georgia"/>
              </a:defRPr>
            </a:pPr>
            <a:r>
              <a:rPr sz="1440" b="1">
                <a:solidFill>
                  <a:srgbClr val="111111"/>
                </a:solidFill>
                <a:latin typeface="Georgia"/>
                <a:ea typeface="Georgia"/>
                <a:cs typeface="Georgia"/>
              </a:rPr>
              <a:t>Four rates of change</a:t>
            </a:r>
          </a:p>
        </p:txBody>
      </p:sp>
      <p:sp>
        <p:nvSpPr>
          <p:cNvPr id="20" name="Rectangle 19">
            <a:extLst>
              <a:ext uri="{FF2B5EF4-FFF2-40B4-BE49-F238E27FC236}">
                <a16:creationId xmlns:a16="http://schemas.microsoft.com/office/drawing/2014/main" id="{D0C4E29B-BA69-4560-A42C-B1DC8300C8A9}"/>
              </a:ext>
            </a:extLst>
          </p:cNvPr>
          <p:cNvSpPr>
            <a:spLocks noGrp="1"/>
          </p:cNvSpPr>
          <p:nvPr/>
        </p:nvSpPr>
        <p:spPr>
          <a:xfrm>
            <a:off x="899160" y="2948940"/>
            <a:ext cx="2164080" cy="1066800"/>
          </a:xfrm>
          <a:prstGeom prst="rect">
            <a:avLst/>
          </a:prstGeom>
          <a:noFill/>
          <a:ln w="0">
            <a:noFill/>
            <a:prstDash val="solid"/>
          </a:ln>
        </p:spPr>
        <p:txBody>
          <a:bodyPr anchor="t">
            <a:normAutofit fontScale="99466"/>
          </a:bodyPr>
          <a:lstStyle/>
          <a:p>
            <a:pPr algn="l">
              <a:lnSpc>
                <a:spcPct val="115000"/>
              </a:lnSpc>
              <a:buNone/>
              <a:defRPr sz="1425" b="0" i="0">
                <a:solidFill>
                  <a:srgbClr val="5A5A5A"/>
                </a:solidFill>
                <a:latin typeface="Aptos"/>
                <a:ea typeface="Aptos"/>
                <a:cs typeface="Aptos"/>
              </a:defRPr>
            </a:pPr>
            <a:r>
              <a:rPr sz="1140">
                <a:solidFill>
                  <a:srgbClr val="5A5A5A"/>
                </a:solidFill>
                <a:latin typeface="Aptos"/>
                <a:ea typeface="Aptos"/>
                <a:cs typeface="Aptos"/>
              </a:rPr>
              <a:t>Winsorized, median-imputed where needed, and robust-scaled. No baseline first-value columns in the canonical pure-trajectory run.</a:t>
            </a:r>
          </a:p>
        </p:txBody>
      </p:sp>
      <p:sp>
        <p:nvSpPr>
          <p:cNvPr id="21" name="Rounded Rectangle 20">
            <a:extLst>
              <a:ext uri="{FF2B5EF4-FFF2-40B4-BE49-F238E27FC236}">
                <a16:creationId xmlns:a16="http://schemas.microsoft.com/office/drawing/2014/main" id="{CCF439B0-7E45-400B-BC5D-AA6C0F6816E1}"/>
              </a:ext>
            </a:extLst>
          </p:cNvPr>
          <p:cNvSpPr>
            <a:spLocks noGrp="1"/>
          </p:cNvSpPr>
          <p:nvPr/>
        </p:nvSpPr>
        <p:spPr>
          <a:xfrm>
            <a:off x="3962400" y="1866900"/>
            <a:ext cx="3505200" cy="2514600"/>
          </a:xfrm>
          <a:prstGeom prst="roundRect">
            <a:avLst>
              <a:gd name="adj" fmla="val 4848"/>
            </a:avLst>
          </a:prstGeom>
          <a:solidFill>
            <a:srgbClr val="FFFFFF"/>
          </a:solidFill>
          <a:ln w="19050">
            <a:solidFill>
              <a:srgbClr val="00A870"/>
            </a:solidFill>
            <a:prstDash val="solid"/>
          </a:ln>
        </p:spPr>
        <p:txBody>
          <a:bodyPr/>
          <a:lstStyle/>
          <a:p>
            <a:endParaRPr lang="en-US" sz="1440"/>
          </a:p>
        </p:txBody>
      </p:sp>
      <p:sp>
        <p:nvSpPr>
          <p:cNvPr id="22" name="Rectangle 21">
            <a:extLst>
              <a:ext uri="{FF2B5EF4-FFF2-40B4-BE49-F238E27FC236}">
                <a16:creationId xmlns:a16="http://schemas.microsoft.com/office/drawing/2014/main" id="{0FE1194A-61E1-4EC2-BBC5-79AA00280CFD}"/>
              </a:ext>
            </a:extLst>
          </p:cNvPr>
          <p:cNvSpPr>
            <a:spLocks noGrp="1"/>
          </p:cNvSpPr>
          <p:nvPr/>
        </p:nvSpPr>
        <p:spPr>
          <a:xfrm>
            <a:off x="4175760" y="2011680"/>
            <a:ext cx="3078480" cy="160020"/>
          </a:xfrm>
          <a:prstGeom prst="rect">
            <a:avLst/>
          </a:prstGeom>
          <a:noFill/>
          <a:ln w="0">
            <a:noFill/>
            <a:prstDash val="solid"/>
          </a:ln>
        </p:spPr>
        <p:txBody>
          <a:bodyPr anchor="t">
            <a:noAutofit/>
          </a:bodyPr>
          <a:lstStyle/>
          <a:p>
            <a:pPr algn="l">
              <a:lnSpc>
                <a:spcPct val="108000"/>
              </a:lnSpc>
              <a:buNone/>
              <a:defRPr sz="975" b="1" i="0">
                <a:solidFill>
                  <a:srgbClr val="00A870"/>
                </a:solidFill>
                <a:latin typeface="Aptos"/>
                <a:ea typeface="Aptos"/>
                <a:cs typeface="Aptos"/>
              </a:defRPr>
            </a:pPr>
            <a:r>
              <a:rPr sz="780" b="1">
                <a:solidFill>
                  <a:srgbClr val="00A870"/>
                </a:solidFill>
                <a:latin typeface="Aptos"/>
                <a:ea typeface="Aptos"/>
                <a:cs typeface="Aptos"/>
              </a:rPr>
              <a:t>UNSUPERVISED MODEL</a:t>
            </a:r>
          </a:p>
        </p:txBody>
      </p:sp>
      <p:sp>
        <p:nvSpPr>
          <p:cNvPr id="23" name="Rectangle 22">
            <a:extLst>
              <a:ext uri="{FF2B5EF4-FFF2-40B4-BE49-F238E27FC236}">
                <a16:creationId xmlns:a16="http://schemas.microsoft.com/office/drawing/2014/main" id="{CCAE9D72-E505-4AB1-A5FF-D0CCBCD49F81}"/>
              </a:ext>
            </a:extLst>
          </p:cNvPr>
          <p:cNvSpPr>
            <a:spLocks noGrp="1"/>
          </p:cNvSpPr>
          <p:nvPr/>
        </p:nvSpPr>
        <p:spPr>
          <a:xfrm>
            <a:off x="4175760" y="2209800"/>
            <a:ext cx="3078480" cy="441960"/>
          </a:xfrm>
          <a:prstGeom prst="rect">
            <a:avLst/>
          </a:prstGeom>
          <a:noFill/>
          <a:ln w="0">
            <a:noFill/>
            <a:prstDash val="solid"/>
          </a:ln>
        </p:spPr>
        <p:txBody>
          <a:bodyPr anchor="ctr">
            <a:normAutofit/>
          </a:bodyPr>
          <a:lstStyle/>
          <a:p>
            <a:pPr algn="l">
              <a:lnSpc>
                <a:spcPct val="108000"/>
              </a:lnSpc>
              <a:buNone/>
              <a:defRPr sz="1800" b="1" i="0">
                <a:solidFill>
                  <a:srgbClr val="111111"/>
                </a:solidFill>
                <a:latin typeface="Georgia"/>
                <a:ea typeface="Georgia"/>
                <a:cs typeface="Georgia"/>
              </a:defRPr>
            </a:pPr>
            <a:r>
              <a:rPr sz="1440" b="1">
                <a:solidFill>
                  <a:srgbClr val="111111"/>
                </a:solidFill>
                <a:latin typeface="Georgia"/>
                <a:ea typeface="Georgia"/>
                <a:cs typeface="Georgia"/>
              </a:rPr>
              <a:t>K-means, k = 2</a:t>
            </a:r>
          </a:p>
        </p:txBody>
      </p:sp>
      <p:sp>
        <p:nvSpPr>
          <p:cNvPr id="24" name="Rectangle 23">
            <a:extLst>
              <a:ext uri="{FF2B5EF4-FFF2-40B4-BE49-F238E27FC236}">
                <a16:creationId xmlns:a16="http://schemas.microsoft.com/office/drawing/2014/main" id="{B5A2F998-4147-4632-B3C0-CA7209826FC5}"/>
              </a:ext>
            </a:extLst>
          </p:cNvPr>
          <p:cNvSpPr>
            <a:spLocks noGrp="1"/>
          </p:cNvSpPr>
          <p:nvPr/>
        </p:nvSpPr>
        <p:spPr>
          <a:xfrm>
            <a:off x="4175760" y="2720340"/>
            <a:ext cx="3078480" cy="1524000"/>
          </a:xfrm>
          <a:prstGeom prst="rect">
            <a:avLst/>
          </a:prstGeom>
          <a:noFill/>
          <a:ln w="0">
            <a:noFill/>
            <a:prstDash val="solid"/>
          </a:ln>
        </p:spPr>
        <p:txBody>
          <a:bodyPr anchor="t">
            <a:normAutofit/>
          </a:bodyPr>
          <a:lstStyle/>
          <a:p>
            <a:pPr algn="l">
              <a:lnSpc>
                <a:spcPct val="115000"/>
              </a:lnSpc>
              <a:buNone/>
              <a:defRPr sz="1425" b="0" i="0">
                <a:solidFill>
                  <a:srgbClr val="5A5A5A"/>
                </a:solidFill>
                <a:latin typeface="Aptos"/>
                <a:ea typeface="Aptos"/>
                <a:cs typeface="Aptos"/>
              </a:defRPr>
            </a:pPr>
            <a:r>
              <a:rPr sz="1140">
                <a:solidFill>
                  <a:srgbClr val="5A5A5A"/>
                </a:solidFill>
                <a:latin typeface="Aptos"/>
                <a:ea typeface="Aptos"/>
                <a:cs typeface="Aptos"/>
              </a:rPr>
              <a:t>Candidate k = 2…6</a:t>
            </a:r>
          </a:p>
          <a:p>
            <a:pPr algn="l">
              <a:lnSpc>
                <a:spcPct val="115000"/>
              </a:lnSpc>
              <a:buNone/>
              <a:defRPr sz="1425" b="0" i="0">
                <a:solidFill>
                  <a:srgbClr val="5A5A5A"/>
                </a:solidFill>
                <a:latin typeface="Aptos"/>
                <a:ea typeface="Aptos"/>
                <a:cs typeface="Aptos"/>
              </a:defRPr>
            </a:pPr>
            <a:r>
              <a:rPr sz="1140">
                <a:solidFill>
                  <a:srgbClr val="5A5A5A"/>
                </a:solidFill>
                <a:latin typeface="Aptos"/>
                <a:ea typeface="Aptos"/>
                <a:cs typeface="Aptos"/>
              </a:rPr>
              <a:t>Silhouette = 0.385</a:t>
            </a:r>
          </a:p>
          <a:p>
            <a:pPr algn="l">
              <a:lnSpc>
                <a:spcPct val="115000"/>
              </a:lnSpc>
              <a:buNone/>
              <a:defRPr sz="1425" b="0" i="0">
                <a:solidFill>
                  <a:srgbClr val="5A5A5A"/>
                </a:solidFill>
                <a:latin typeface="Aptos"/>
                <a:ea typeface="Aptos"/>
                <a:cs typeface="Aptos"/>
              </a:defRPr>
            </a:pPr>
            <a:r>
              <a:rPr sz="1140">
                <a:solidFill>
                  <a:srgbClr val="5A5A5A"/>
                </a:solidFill>
                <a:latin typeface="Aptos"/>
                <a:ea typeface="Aptos"/>
                <a:cs typeface="Aptos"/>
              </a:rPr>
              <a:t>Calinski-Harabasz = 5,708</a:t>
            </a:r>
          </a:p>
          <a:p>
            <a:pPr algn="l">
              <a:lnSpc>
                <a:spcPct val="115000"/>
              </a:lnSpc>
              <a:buNone/>
              <a:defRPr sz="1425" b="0" i="0">
                <a:solidFill>
                  <a:srgbClr val="5A5A5A"/>
                </a:solidFill>
                <a:latin typeface="Aptos"/>
                <a:ea typeface="Aptos"/>
                <a:cs typeface="Aptos"/>
              </a:defRPr>
            </a:pPr>
            <a:r>
              <a:rPr sz="1140">
                <a:solidFill>
                  <a:srgbClr val="5A5A5A"/>
                </a:solidFill>
                <a:latin typeface="Aptos"/>
                <a:ea typeface="Aptos"/>
                <a:cs typeface="Aptos"/>
              </a:rPr>
              <a:t>Davies-Bouldin = 1.275</a:t>
            </a:r>
          </a:p>
          <a:p>
            <a:endParaRPr sz="1140">
              <a:solidFill>
                <a:srgbClr val="5A5A5A"/>
              </a:solidFill>
              <a:latin typeface="Aptos"/>
              <a:ea typeface="Aptos"/>
              <a:cs typeface="Aptos"/>
            </a:endParaRPr>
          </a:p>
          <a:p>
            <a:pPr algn="l">
              <a:lnSpc>
                <a:spcPct val="115000"/>
              </a:lnSpc>
              <a:buNone/>
              <a:defRPr sz="1425" b="0" i="0">
                <a:solidFill>
                  <a:srgbClr val="5A5A5A"/>
                </a:solidFill>
                <a:latin typeface="Aptos"/>
                <a:ea typeface="Aptos"/>
                <a:cs typeface="Aptos"/>
              </a:defRPr>
            </a:pPr>
            <a:r>
              <a:rPr sz="1140">
                <a:solidFill>
                  <a:srgbClr val="5A5A5A"/>
                </a:solidFill>
                <a:latin typeface="Aptos"/>
                <a:ea typeface="Aptos"/>
                <a:cs typeface="Aptos"/>
              </a:rPr>
              <a:t>Complete-case clustering rerun independently</a:t>
            </a:r>
          </a:p>
        </p:txBody>
      </p:sp>
      <p:sp>
        <p:nvSpPr>
          <p:cNvPr id="25" name="Rounded Rectangle 24">
            <a:extLst>
              <a:ext uri="{FF2B5EF4-FFF2-40B4-BE49-F238E27FC236}">
                <a16:creationId xmlns:a16="http://schemas.microsoft.com/office/drawing/2014/main" id="{B7693B88-F240-42A3-AE0F-18720A89EC25}"/>
              </a:ext>
            </a:extLst>
          </p:cNvPr>
          <p:cNvSpPr>
            <a:spLocks noGrp="1"/>
          </p:cNvSpPr>
          <p:nvPr/>
        </p:nvSpPr>
        <p:spPr>
          <a:xfrm>
            <a:off x="8153400" y="1905000"/>
            <a:ext cx="3352800" cy="2438400"/>
          </a:xfrm>
          <a:prstGeom prst="roundRect">
            <a:avLst>
              <a:gd name="adj" fmla="val 5000"/>
            </a:avLst>
          </a:prstGeom>
          <a:solidFill>
            <a:srgbClr val="FFF3E5"/>
          </a:solidFill>
          <a:ln w="19050">
            <a:solidFill>
              <a:srgbClr val="EF7D00"/>
            </a:solidFill>
            <a:prstDash val="solid"/>
          </a:ln>
        </p:spPr>
        <p:txBody>
          <a:bodyPr/>
          <a:lstStyle/>
          <a:p>
            <a:endParaRPr lang="en-US" sz="1440"/>
          </a:p>
        </p:txBody>
      </p:sp>
      <p:sp>
        <p:nvSpPr>
          <p:cNvPr id="26" name="Rectangle 25">
            <a:extLst>
              <a:ext uri="{FF2B5EF4-FFF2-40B4-BE49-F238E27FC236}">
                <a16:creationId xmlns:a16="http://schemas.microsoft.com/office/drawing/2014/main" id="{57BDAFE8-B070-4E83-AB3F-0811D6B6E5D1}"/>
              </a:ext>
            </a:extLst>
          </p:cNvPr>
          <p:cNvSpPr>
            <a:spLocks noGrp="1"/>
          </p:cNvSpPr>
          <p:nvPr/>
        </p:nvSpPr>
        <p:spPr>
          <a:xfrm>
            <a:off x="8366760" y="2049780"/>
            <a:ext cx="2926080" cy="160020"/>
          </a:xfrm>
          <a:prstGeom prst="rect">
            <a:avLst/>
          </a:prstGeom>
          <a:noFill/>
          <a:ln w="0">
            <a:noFill/>
            <a:prstDash val="solid"/>
          </a:ln>
        </p:spPr>
        <p:txBody>
          <a:bodyPr anchor="t">
            <a:noAutofit/>
          </a:bodyPr>
          <a:lstStyle/>
          <a:p>
            <a:pPr algn="l">
              <a:lnSpc>
                <a:spcPct val="108000"/>
              </a:lnSpc>
              <a:buNone/>
              <a:defRPr sz="975" b="1" i="0">
                <a:solidFill>
                  <a:srgbClr val="EF7D00"/>
                </a:solidFill>
                <a:latin typeface="Aptos"/>
                <a:ea typeface="Aptos"/>
                <a:cs typeface="Aptos"/>
              </a:defRPr>
            </a:pPr>
            <a:r>
              <a:rPr sz="780" b="1">
                <a:solidFill>
                  <a:srgbClr val="EF7D00"/>
                </a:solidFill>
                <a:latin typeface="Aptos"/>
                <a:ea typeface="Aptos"/>
                <a:cs typeface="Aptos"/>
              </a:rPr>
              <a:t>PHENOTYPES</a:t>
            </a:r>
          </a:p>
        </p:txBody>
      </p:sp>
      <p:sp>
        <p:nvSpPr>
          <p:cNvPr id="27" name="Rectangle 26">
            <a:extLst>
              <a:ext uri="{FF2B5EF4-FFF2-40B4-BE49-F238E27FC236}">
                <a16:creationId xmlns:a16="http://schemas.microsoft.com/office/drawing/2014/main" id="{9B62D9F7-7558-4996-BF0A-DEE6A5FB4C40}"/>
              </a:ext>
            </a:extLst>
          </p:cNvPr>
          <p:cNvSpPr>
            <a:spLocks noGrp="1"/>
          </p:cNvSpPr>
          <p:nvPr/>
        </p:nvSpPr>
        <p:spPr>
          <a:xfrm>
            <a:off x="8366760" y="2247900"/>
            <a:ext cx="2926080" cy="441960"/>
          </a:xfrm>
          <a:prstGeom prst="rect">
            <a:avLst/>
          </a:prstGeom>
          <a:noFill/>
          <a:ln w="0">
            <a:noFill/>
            <a:prstDash val="solid"/>
          </a:ln>
        </p:spPr>
        <p:txBody>
          <a:bodyPr anchor="ctr">
            <a:normAutofit/>
          </a:bodyPr>
          <a:lstStyle/>
          <a:p>
            <a:pPr algn="l">
              <a:lnSpc>
                <a:spcPct val="108000"/>
              </a:lnSpc>
              <a:buNone/>
              <a:defRPr sz="1800" b="1" i="0">
                <a:solidFill>
                  <a:srgbClr val="111111"/>
                </a:solidFill>
                <a:latin typeface="Georgia"/>
                <a:ea typeface="Georgia"/>
                <a:cs typeface="Georgia"/>
              </a:defRPr>
            </a:pPr>
            <a:r>
              <a:rPr sz="1440" b="1">
                <a:solidFill>
                  <a:srgbClr val="111111"/>
                </a:solidFill>
                <a:latin typeface="Georgia"/>
                <a:ea typeface="Georgia"/>
                <a:cs typeface="Georgia"/>
              </a:rPr>
              <a:t>RBT versus RIWT</a:t>
            </a:r>
          </a:p>
        </p:txBody>
      </p:sp>
      <p:sp>
        <p:nvSpPr>
          <p:cNvPr id="28" name="Rectangle 27">
            <a:extLst>
              <a:ext uri="{FF2B5EF4-FFF2-40B4-BE49-F238E27FC236}">
                <a16:creationId xmlns:a16="http://schemas.microsoft.com/office/drawing/2014/main" id="{A3BC5237-16F7-4A02-9519-51758014AA09}"/>
              </a:ext>
            </a:extLst>
          </p:cNvPr>
          <p:cNvSpPr>
            <a:spLocks noGrp="1"/>
          </p:cNvSpPr>
          <p:nvPr/>
        </p:nvSpPr>
        <p:spPr>
          <a:xfrm>
            <a:off x="8366760" y="2758440"/>
            <a:ext cx="2926080" cy="1447800"/>
          </a:xfrm>
          <a:prstGeom prst="rect">
            <a:avLst/>
          </a:prstGeom>
          <a:noFill/>
          <a:ln w="0">
            <a:noFill/>
            <a:prstDash val="solid"/>
          </a:ln>
        </p:spPr>
        <p:txBody>
          <a:bodyPr anchor="t">
            <a:normAutofit fontScale="96927"/>
          </a:bodyPr>
          <a:lstStyle/>
          <a:p>
            <a:pPr algn="l">
              <a:lnSpc>
                <a:spcPct val="115000"/>
              </a:lnSpc>
              <a:buNone/>
              <a:defRPr sz="1425" b="0" i="0">
                <a:solidFill>
                  <a:srgbClr val="5A5A5A"/>
                </a:solidFill>
                <a:latin typeface="Aptos"/>
                <a:ea typeface="Aptos"/>
                <a:cs typeface="Aptos"/>
              </a:defRPr>
            </a:pPr>
            <a:r>
              <a:rPr sz="1140">
                <a:solidFill>
                  <a:srgbClr val="5A5A5A"/>
                </a:solidFill>
                <a:latin typeface="Aptos"/>
                <a:ea typeface="Aptos"/>
                <a:cs typeface="Aptos"/>
              </a:rPr>
              <a:t>RBT 76.3% (18,928)</a:t>
            </a:r>
          </a:p>
          <a:p>
            <a:pPr algn="l">
              <a:lnSpc>
                <a:spcPct val="115000"/>
              </a:lnSpc>
              <a:buNone/>
              <a:defRPr sz="1425" b="0" i="0">
                <a:solidFill>
                  <a:srgbClr val="5A5A5A"/>
                </a:solidFill>
                <a:latin typeface="Aptos"/>
                <a:ea typeface="Aptos"/>
                <a:cs typeface="Aptos"/>
              </a:defRPr>
            </a:pPr>
            <a:r>
              <a:rPr sz="1140">
                <a:solidFill>
                  <a:srgbClr val="5A5A5A"/>
                </a:solidFill>
                <a:latin typeface="Aptos"/>
                <a:ea typeface="Aptos"/>
                <a:cs typeface="Aptos"/>
              </a:rPr>
              <a:t>Lactate clears; creatinine stable; WBC and platelets fall.</a:t>
            </a:r>
          </a:p>
          <a:p>
            <a:endParaRPr sz="1140">
              <a:solidFill>
                <a:srgbClr val="5A5A5A"/>
              </a:solidFill>
              <a:latin typeface="Aptos"/>
              <a:ea typeface="Aptos"/>
              <a:cs typeface="Aptos"/>
            </a:endParaRPr>
          </a:p>
          <a:p>
            <a:pPr algn="l">
              <a:lnSpc>
                <a:spcPct val="115000"/>
              </a:lnSpc>
              <a:buNone/>
              <a:defRPr sz="1425" b="0" i="0">
                <a:solidFill>
                  <a:srgbClr val="5A5A5A"/>
                </a:solidFill>
                <a:latin typeface="Aptos"/>
                <a:ea typeface="Aptos"/>
                <a:cs typeface="Aptos"/>
              </a:defRPr>
            </a:pPr>
            <a:r>
              <a:rPr sz="1140">
                <a:solidFill>
                  <a:srgbClr val="5A5A5A"/>
                </a:solidFill>
                <a:latin typeface="Aptos"/>
                <a:ea typeface="Aptos"/>
                <a:cs typeface="Aptos"/>
              </a:rPr>
              <a:t>RIWT 23.7% (5,871)</a:t>
            </a:r>
          </a:p>
          <a:p>
            <a:pPr algn="l">
              <a:lnSpc>
                <a:spcPct val="115000"/>
              </a:lnSpc>
              <a:buNone/>
              <a:defRPr sz="1425" b="0" i="0">
                <a:solidFill>
                  <a:srgbClr val="5A5A5A"/>
                </a:solidFill>
                <a:latin typeface="Aptos"/>
                <a:ea typeface="Aptos"/>
                <a:cs typeface="Aptos"/>
              </a:defRPr>
            </a:pPr>
            <a:r>
              <a:rPr sz="1140">
                <a:solidFill>
                  <a:srgbClr val="5A5A5A"/>
                </a:solidFill>
                <a:latin typeface="Aptos"/>
                <a:ea typeface="Aptos"/>
                <a:cs typeface="Aptos"/>
              </a:rPr>
              <a:t>No lactate clearance; creatinine, WBC, and platelets rise.</a:t>
            </a:r>
          </a:p>
        </p:txBody>
      </p:sp>
      <p:sp>
        <p:nvSpPr>
          <p:cNvPr id="29" name="Rounded Rectangle 28">
            <a:extLst>
              <a:ext uri="{FF2B5EF4-FFF2-40B4-BE49-F238E27FC236}">
                <a16:creationId xmlns:a16="http://schemas.microsoft.com/office/drawing/2014/main" id="{31748938-FECA-4592-B05B-81CC8A2B427B}"/>
              </a:ext>
            </a:extLst>
          </p:cNvPr>
          <p:cNvSpPr>
            <a:spLocks noGrp="1"/>
          </p:cNvSpPr>
          <p:nvPr/>
        </p:nvSpPr>
        <p:spPr>
          <a:xfrm>
            <a:off x="1600200" y="4953000"/>
            <a:ext cx="2286000" cy="883920"/>
          </a:xfrm>
          <a:prstGeom prst="roundRect">
            <a:avLst>
              <a:gd name="adj" fmla="val 12069"/>
            </a:avLst>
          </a:prstGeom>
          <a:solidFill>
            <a:srgbClr val="EAF8F2"/>
          </a:solidFill>
          <a:ln w="15240">
            <a:solidFill>
              <a:srgbClr val="00A870"/>
            </a:solidFill>
            <a:prstDash val="solid"/>
          </a:ln>
        </p:spPr>
        <p:txBody>
          <a:bodyPr/>
          <a:lstStyle/>
          <a:p>
            <a:endParaRPr lang="en-US" sz="1440"/>
          </a:p>
        </p:txBody>
      </p:sp>
      <p:sp>
        <p:nvSpPr>
          <p:cNvPr id="30" name="Rectangle 29">
            <a:extLst>
              <a:ext uri="{FF2B5EF4-FFF2-40B4-BE49-F238E27FC236}">
                <a16:creationId xmlns:a16="http://schemas.microsoft.com/office/drawing/2014/main" id="{E837A0BD-CA52-423F-BAE1-82DD2019E915}"/>
              </a:ext>
            </a:extLst>
          </p:cNvPr>
          <p:cNvSpPr>
            <a:spLocks noGrp="1"/>
          </p:cNvSpPr>
          <p:nvPr/>
        </p:nvSpPr>
        <p:spPr>
          <a:xfrm>
            <a:off x="1691640" y="5059680"/>
            <a:ext cx="2103120" cy="358140"/>
          </a:xfrm>
          <a:prstGeom prst="rect">
            <a:avLst/>
          </a:prstGeom>
          <a:noFill/>
          <a:ln w="0">
            <a:noFill/>
            <a:prstDash val="solid"/>
          </a:ln>
        </p:spPr>
        <p:txBody>
          <a:bodyPr anchor="t">
            <a:normAutofit fontScale="89951" lnSpcReduction="20000"/>
          </a:bodyPr>
          <a:lstStyle/>
          <a:p>
            <a:pPr algn="ctr">
              <a:lnSpc>
                <a:spcPct val="108000"/>
              </a:lnSpc>
              <a:buNone/>
              <a:defRPr sz="2625" b="1" i="0">
                <a:solidFill>
                  <a:srgbClr val="00A870"/>
                </a:solidFill>
                <a:latin typeface="Georgia"/>
                <a:ea typeface="Georgia"/>
                <a:cs typeface="Georgia"/>
              </a:defRPr>
            </a:pPr>
            <a:r>
              <a:rPr sz="2100" b="1">
                <a:solidFill>
                  <a:srgbClr val="00A870"/>
                </a:solidFill>
                <a:latin typeface="Georgia"/>
                <a:ea typeface="Georgia"/>
                <a:cs typeface="Georgia"/>
              </a:rPr>
              <a:t>0.998</a:t>
            </a:r>
          </a:p>
        </p:txBody>
      </p:sp>
      <p:sp>
        <p:nvSpPr>
          <p:cNvPr id="31" name="Rectangle 30">
            <a:extLst>
              <a:ext uri="{FF2B5EF4-FFF2-40B4-BE49-F238E27FC236}">
                <a16:creationId xmlns:a16="http://schemas.microsoft.com/office/drawing/2014/main" id="{29FE7DC0-C229-4543-B848-153998CDDF47}"/>
              </a:ext>
            </a:extLst>
          </p:cNvPr>
          <p:cNvSpPr>
            <a:spLocks noGrp="1"/>
          </p:cNvSpPr>
          <p:nvPr/>
        </p:nvSpPr>
        <p:spPr>
          <a:xfrm>
            <a:off x="1737360" y="5471160"/>
            <a:ext cx="2011680" cy="259080"/>
          </a:xfrm>
          <a:prstGeom prst="rect">
            <a:avLst/>
          </a:prstGeom>
          <a:noFill/>
          <a:ln w="0">
            <a:noFill/>
            <a:prstDash val="solid"/>
          </a:ln>
        </p:spPr>
        <p:txBody>
          <a:bodyPr anchor="ctr">
            <a:normAutofit/>
          </a:bodyPr>
          <a:lstStyle/>
          <a:p>
            <a:pPr algn="ctr">
              <a:lnSpc>
                <a:spcPct val="108000"/>
              </a:lnSpc>
              <a:buNone/>
              <a:defRPr sz="1125" b="0" i="0">
                <a:solidFill>
                  <a:srgbClr val="5A5A5A"/>
                </a:solidFill>
                <a:latin typeface="Aptos"/>
                <a:ea typeface="Aptos"/>
                <a:cs typeface="Aptos"/>
              </a:defRPr>
            </a:pPr>
            <a:r>
              <a:rPr sz="900">
                <a:solidFill>
                  <a:srgbClr val="5A5A5A"/>
                </a:solidFill>
                <a:latin typeface="Aptos"/>
                <a:ea typeface="Aptos"/>
                <a:cs typeface="Aptos"/>
              </a:rPr>
              <a:t>adjusted Rand index</a:t>
            </a:r>
          </a:p>
        </p:txBody>
      </p:sp>
      <p:sp>
        <p:nvSpPr>
          <p:cNvPr id="32" name="Rounded Rectangle 31">
            <a:extLst>
              <a:ext uri="{FF2B5EF4-FFF2-40B4-BE49-F238E27FC236}">
                <a16:creationId xmlns:a16="http://schemas.microsoft.com/office/drawing/2014/main" id="{343472F2-E319-4246-B6A3-55AC98455C6D}"/>
              </a:ext>
            </a:extLst>
          </p:cNvPr>
          <p:cNvSpPr>
            <a:spLocks noGrp="1"/>
          </p:cNvSpPr>
          <p:nvPr/>
        </p:nvSpPr>
        <p:spPr>
          <a:xfrm>
            <a:off x="4953000" y="4953000"/>
            <a:ext cx="2286000" cy="883920"/>
          </a:xfrm>
          <a:prstGeom prst="roundRect">
            <a:avLst>
              <a:gd name="adj" fmla="val 12069"/>
            </a:avLst>
          </a:prstGeom>
          <a:solidFill>
            <a:srgbClr val="EAF8F2"/>
          </a:solidFill>
          <a:ln w="15240">
            <a:solidFill>
              <a:srgbClr val="00A870"/>
            </a:solidFill>
            <a:prstDash val="solid"/>
          </a:ln>
        </p:spPr>
        <p:txBody>
          <a:bodyPr/>
          <a:lstStyle/>
          <a:p>
            <a:endParaRPr lang="en-US" sz="1440"/>
          </a:p>
        </p:txBody>
      </p:sp>
      <p:sp>
        <p:nvSpPr>
          <p:cNvPr id="33" name="Rectangle 32">
            <a:extLst>
              <a:ext uri="{FF2B5EF4-FFF2-40B4-BE49-F238E27FC236}">
                <a16:creationId xmlns:a16="http://schemas.microsoft.com/office/drawing/2014/main" id="{E02277CD-7AE8-4847-A639-0489AB65C747}"/>
              </a:ext>
            </a:extLst>
          </p:cNvPr>
          <p:cNvSpPr>
            <a:spLocks noGrp="1"/>
          </p:cNvSpPr>
          <p:nvPr/>
        </p:nvSpPr>
        <p:spPr>
          <a:xfrm>
            <a:off x="5044440" y="5059680"/>
            <a:ext cx="2103120" cy="358140"/>
          </a:xfrm>
          <a:prstGeom prst="rect">
            <a:avLst/>
          </a:prstGeom>
          <a:noFill/>
          <a:ln w="0">
            <a:noFill/>
            <a:prstDash val="solid"/>
          </a:ln>
        </p:spPr>
        <p:txBody>
          <a:bodyPr anchor="t">
            <a:normAutofit fontScale="89951" lnSpcReduction="20000"/>
          </a:bodyPr>
          <a:lstStyle/>
          <a:p>
            <a:pPr algn="ctr">
              <a:lnSpc>
                <a:spcPct val="108000"/>
              </a:lnSpc>
              <a:buNone/>
              <a:defRPr sz="2625" b="1" i="0">
                <a:solidFill>
                  <a:srgbClr val="00A870"/>
                </a:solidFill>
                <a:latin typeface="Georgia"/>
                <a:ea typeface="Georgia"/>
                <a:cs typeface="Georgia"/>
              </a:defRPr>
            </a:pPr>
            <a:r>
              <a:rPr sz="2100" b="1">
                <a:solidFill>
                  <a:srgbClr val="00A870"/>
                </a:solidFill>
                <a:latin typeface="Georgia"/>
                <a:ea typeface="Georgia"/>
                <a:cs typeface="Georgia"/>
              </a:rPr>
              <a:t>99.97%</a:t>
            </a:r>
          </a:p>
        </p:txBody>
      </p:sp>
      <p:sp>
        <p:nvSpPr>
          <p:cNvPr id="34" name="Rectangle 33">
            <a:extLst>
              <a:ext uri="{FF2B5EF4-FFF2-40B4-BE49-F238E27FC236}">
                <a16:creationId xmlns:a16="http://schemas.microsoft.com/office/drawing/2014/main" id="{944D85F7-AC89-4565-829E-FE6EE6586340}"/>
              </a:ext>
            </a:extLst>
          </p:cNvPr>
          <p:cNvSpPr>
            <a:spLocks noGrp="1"/>
          </p:cNvSpPr>
          <p:nvPr/>
        </p:nvSpPr>
        <p:spPr>
          <a:xfrm>
            <a:off x="5090160" y="5471160"/>
            <a:ext cx="2011680" cy="259080"/>
          </a:xfrm>
          <a:prstGeom prst="rect">
            <a:avLst/>
          </a:prstGeom>
          <a:noFill/>
          <a:ln w="0">
            <a:noFill/>
            <a:prstDash val="solid"/>
          </a:ln>
        </p:spPr>
        <p:txBody>
          <a:bodyPr anchor="ctr">
            <a:normAutofit/>
          </a:bodyPr>
          <a:lstStyle/>
          <a:p>
            <a:pPr algn="ctr">
              <a:lnSpc>
                <a:spcPct val="108000"/>
              </a:lnSpc>
              <a:buNone/>
              <a:defRPr sz="1125" b="0" i="0">
                <a:solidFill>
                  <a:srgbClr val="5A5A5A"/>
                </a:solidFill>
                <a:latin typeface="Aptos"/>
                <a:ea typeface="Aptos"/>
                <a:cs typeface="Aptos"/>
              </a:defRPr>
            </a:pPr>
            <a:r>
              <a:rPr sz="900">
                <a:solidFill>
                  <a:srgbClr val="5A5A5A"/>
                </a:solidFill>
                <a:latin typeface="Aptos"/>
                <a:ea typeface="Aptos"/>
                <a:cs typeface="Aptos"/>
              </a:rPr>
              <a:t>membership agreement</a:t>
            </a:r>
          </a:p>
        </p:txBody>
      </p:sp>
      <p:sp>
        <p:nvSpPr>
          <p:cNvPr id="35" name="Rounded Rectangle 34">
            <a:extLst>
              <a:ext uri="{FF2B5EF4-FFF2-40B4-BE49-F238E27FC236}">
                <a16:creationId xmlns:a16="http://schemas.microsoft.com/office/drawing/2014/main" id="{20057089-6E7B-4B52-842B-90BA82A33745}"/>
              </a:ext>
            </a:extLst>
          </p:cNvPr>
          <p:cNvSpPr>
            <a:spLocks noGrp="1"/>
          </p:cNvSpPr>
          <p:nvPr/>
        </p:nvSpPr>
        <p:spPr>
          <a:xfrm>
            <a:off x="8305800" y="4953000"/>
            <a:ext cx="2286000" cy="883920"/>
          </a:xfrm>
          <a:prstGeom prst="roundRect">
            <a:avLst>
              <a:gd name="adj" fmla="val 12069"/>
            </a:avLst>
          </a:prstGeom>
          <a:solidFill>
            <a:srgbClr val="FFF3E5"/>
          </a:solidFill>
          <a:ln w="15240">
            <a:solidFill>
              <a:srgbClr val="EF7D00"/>
            </a:solidFill>
            <a:prstDash val="solid"/>
          </a:ln>
        </p:spPr>
        <p:txBody>
          <a:bodyPr/>
          <a:lstStyle/>
          <a:p>
            <a:endParaRPr lang="en-US" sz="1440"/>
          </a:p>
        </p:txBody>
      </p:sp>
      <p:sp>
        <p:nvSpPr>
          <p:cNvPr id="36" name="Rectangle 35">
            <a:extLst>
              <a:ext uri="{FF2B5EF4-FFF2-40B4-BE49-F238E27FC236}">
                <a16:creationId xmlns:a16="http://schemas.microsoft.com/office/drawing/2014/main" id="{D82809DB-30A0-46EC-8309-045A1FF2CF78}"/>
              </a:ext>
            </a:extLst>
          </p:cNvPr>
          <p:cNvSpPr>
            <a:spLocks noGrp="1"/>
          </p:cNvSpPr>
          <p:nvPr/>
        </p:nvSpPr>
        <p:spPr>
          <a:xfrm>
            <a:off x="8397240" y="5059680"/>
            <a:ext cx="2103120" cy="358140"/>
          </a:xfrm>
          <a:prstGeom prst="rect">
            <a:avLst/>
          </a:prstGeom>
          <a:noFill/>
          <a:ln w="0">
            <a:noFill/>
            <a:prstDash val="solid"/>
          </a:ln>
        </p:spPr>
        <p:txBody>
          <a:bodyPr anchor="t">
            <a:normAutofit fontScale="89951" lnSpcReduction="20000"/>
          </a:bodyPr>
          <a:lstStyle/>
          <a:p>
            <a:pPr algn="ctr">
              <a:lnSpc>
                <a:spcPct val="108000"/>
              </a:lnSpc>
              <a:buNone/>
              <a:defRPr sz="2625" b="1" i="0">
                <a:solidFill>
                  <a:srgbClr val="EF7D00"/>
                </a:solidFill>
                <a:latin typeface="Georgia"/>
                <a:ea typeface="Georgia"/>
                <a:cs typeface="Georgia"/>
              </a:defRPr>
            </a:pPr>
            <a:r>
              <a:rPr sz="2100" b="1">
                <a:solidFill>
                  <a:srgbClr val="EF7D00"/>
                </a:solidFill>
                <a:latin typeface="Georgia"/>
                <a:ea typeface="Georgia"/>
                <a:cs typeface="Georgia"/>
              </a:rPr>
              <a:t>Risk signal</a:t>
            </a:r>
          </a:p>
        </p:txBody>
      </p:sp>
      <p:sp>
        <p:nvSpPr>
          <p:cNvPr id="37" name="Rectangle 36">
            <a:extLst>
              <a:ext uri="{FF2B5EF4-FFF2-40B4-BE49-F238E27FC236}">
                <a16:creationId xmlns:a16="http://schemas.microsoft.com/office/drawing/2014/main" id="{28DF7EEF-5938-44D2-B25A-20F93BD32A8B}"/>
              </a:ext>
            </a:extLst>
          </p:cNvPr>
          <p:cNvSpPr>
            <a:spLocks noGrp="1"/>
          </p:cNvSpPr>
          <p:nvPr/>
        </p:nvSpPr>
        <p:spPr>
          <a:xfrm>
            <a:off x="8442960" y="5471160"/>
            <a:ext cx="2011680" cy="259080"/>
          </a:xfrm>
          <a:prstGeom prst="rect">
            <a:avLst/>
          </a:prstGeom>
          <a:noFill/>
          <a:ln w="0">
            <a:noFill/>
            <a:prstDash val="solid"/>
          </a:ln>
        </p:spPr>
        <p:txBody>
          <a:bodyPr anchor="ctr">
            <a:normAutofit/>
          </a:bodyPr>
          <a:lstStyle/>
          <a:p>
            <a:pPr algn="ctr">
              <a:lnSpc>
                <a:spcPct val="108000"/>
              </a:lnSpc>
              <a:buNone/>
              <a:defRPr sz="1125" b="0" i="0">
                <a:solidFill>
                  <a:srgbClr val="5A5A5A"/>
                </a:solidFill>
                <a:latin typeface="Aptos"/>
                <a:ea typeface="Aptos"/>
                <a:cs typeface="Aptos"/>
              </a:defRPr>
            </a:pPr>
            <a:r>
              <a:rPr sz="900">
                <a:solidFill>
                  <a:srgbClr val="5A5A5A"/>
                </a:solidFill>
                <a:latin typeface="Aptos"/>
                <a:ea typeface="Aptos"/>
                <a:cs typeface="Aptos"/>
              </a:rPr>
              <a:t>not a diagnostic subtype</a:t>
            </a:r>
          </a:p>
        </p:txBody>
      </p:sp>
      <p:sp>
        <p:nvSpPr>
          <p:cNvPr id="38" name="Straight Connector 37">
            <a:extLst>
              <a:ext uri="{FF2B5EF4-FFF2-40B4-BE49-F238E27FC236}">
                <a16:creationId xmlns:a16="http://schemas.microsoft.com/office/drawing/2014/main" id="{4CF7884B-3635-43D0-9D0E-C413F4445E18}"/>
              </a:ext>
            </a:extLst>
          </p:cNvPr>
          <p:cNvSpPr>
            <a:spLocks noGrp="1"/>
          </p:cNvSpPr>
          <p:nvPr/>
        </p:nvSpPr>
        <p:spPr>
          <a:xfrm>
            <a:off x="609600" y="6507480"/>
            <a:ext cx="10972800" cy="0"/>
          </a:xfrm>
          <a:prstGeom prst="line">
            <a:avLst/>
          </a:prstGeom>
          <a:noFill/>
          <a:ln w="9525">
            <a:solidFill>
              <a:srgbClr val="DDDDDD"/>
            </a:solidFill>
            <a:prstDash val="solid"/>
          </a:ln>
        </p:spPr>
        <p:txBody>
          <a:bodyPr/>
          <a:lstStyle/>
          <a:p>
            <a:endParaRPr lang="en-US" sz="1440"/>
          </a:p>
        </p:txBody>
      </p:sp>
      <p:sp>
        <p:nvSpPr>
          <p:cNvPr id="39" name="Rectangle 38">
            <a:extLst>
              <a:ext uri="{FF2B5EF4-FFF2-40B4-BE49-F238E27FC236}">
                <a16:creationId xmlns:a16="http://schemas.microsoft.com/office/drawing/2014/main" id="{64E66365-3FA6-4964-B24E-77BF1F780FCF}"/>
              </a:ext>
            </a:extLst>
          </p:cNvPr>
          <p:cNvSpPr>
            <a:spLocks noGrp="1"/>
          </p:cNvSpPr>
          <p:nvPr/>
        </p:nvSpPr>
        <p:spPr>
          <a:xfrm>
            <a:off x="624840" y="6568440"/>
            <a:ext cx="5791200" cy="167640"/>
          </a:xfrm>
          <a:prstGeom prst="rect">
            <a:avLst/>
          </a:prstGeom>
          <a:noFill/>
          <a:ln w="0">
            <a:noFill/>
            <a:prstDash val="solid"/>
          </a:ln>
        </p:spPr>
        <p:txBody>
          <a:bodyPr anchor="t">
            <a:noAutofit/>
          </a:bodyPr>
          <a:lstStyle/>
          <a:p>
            <a:pPr algn="l">
              <a:lnSpc>
                <a:spcPct val="108000"/>
              </a:lnSpc>
              <a:buNone/>
              <a:defRPr sz="975" b="0" i="0">
                <a:solidFill>
                  <a:srgbClr val="777777"/>
                </a:solidFill>
                <a:latin typeface="Aptos"/>
                <a:ea typeface="Aptos"/>
                <a:cs typeface="Aptos"/>
              </a:defRPr>
            </a:pPr>
            <a:r>
              <a:rPr sz="780">
                <a:solidFill>
                  <a:srgbClr val="777777"/>
                </a:solidFill>
                <a:latin typeface="Aptos"/>
                <a:ea typeface="Aptos"/>
                <a:cs typeface="Aptos"/>
              </a:rPr>
              <a:t>MIMIC-IV first-24-hour biochemical trajectory study</a:t>
            </a:r>
          </a:p>
        </p:txBody>
      </p:sp>
      <p:sp>
        <p:nvSpPr>
          <p:cNvPr id="40" name="Rectangle 39">
            <a:extLst>
              <a:ext uri="{FF2B5EF4-FFF2-40B4-BE49-F238E27FC236}">
                <a16:creationId xmlns:a16="http://schemas.microsoft.com/office/drawing/2014/main" id="{253523F5-C89B-4DD9-B1FE-D3E895C85845}"/>
              </a:ext>
            </a:extLst>
          </p:cNvPr>
          <p:cNvSpPr>
            <a:spLocks noGrp="1"/>
          </p:cNvSpPr>
          <p:nvPr/>
        </p:nvSpPr>
        <p:spPr>
          <a:xfrm>
            <a:off x="11163300" y="6568440"/>
            <a:ext cx="381000" cy="167640"/>
          </a:xfrm>
          <a:prstGeom prst="rect">
            <a:avLst/>
          </a:prstGeom>
          <a:noFill/>
          <a:ln w="0">
            <a:noFill/>
            <a:prstDash val="solid"/>
          </a:ln>
        </p:spPr>
        <p:txBody>
          <a:bodyPr anchor="t">
            <a:noAutofit/>
          </a:bodyPr>
          <a:lstStyle/>
          <a:p>
            <a:pPr algn="r">
              <a:lnSpc>
                <a:spcPct val="108000"/>
              </a:lnSpc>
              <a:buNone/>
              <a:defRPr sz="975" b="0" i="0">
                <a:solidFill>
                  <a:srgbClr val="777777"/>
                </a:solidFill>
                <a:latin typeface="Aptos"/>
                <a:ea typeface="Aptos"/>
                <a:cs typeface="Aptos"/>
              </a:defRPr>
            </a:pPr>
            <a:r>
              <a:rPr sz="780">
                <a:solidFill>
                  <a:srgbClr val="777777"/>
                </a:solidFill>
                <a:latin typeface="Aptos"/>
                <a:ea typeface="Aptos"/>
                <a:cs typeface="Aptos"/>
              </a:rPr>
              <a:t>08</a:t>
            </a:r>
          </a:p>
        </p:txBody>
      </p:sp>
    </p:spTree>
    <p:extLst>
      <p:ext uri="{BB962C8B-B14F-4D97-AF65-F5344CB8AC3E}">
        <p14:creationId xmlns:p14="http://schemas.microsoft.com/office/powerpoint/2010/main" val="16408446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0E7C7B"/>
                </a:solidFill>
                <a:latin typeface="Georgia" pitchFamily="34" charset="0"/>
                <a:ea typeface="Georgia" pitchFamily="34" charset="-122"/>
                <a:cs typeface="Georgia" pitchFamily="34" charset="-120"/>
              </a:rPr>
              <a:t>RESULT</a:t>
            </a:r>
            <a:endParaRPr lang="en-US" sz="1300" dirty="0"/>
          </a:p>
        </p:txBody>
      </p:sp>
      <p:sp>
        <p:nvSpPr>
          <p:cNvPr id="3" name="Text 1"/>
          <p:cNvSpPr/>
          <p:nvPr/>
        </p:nvSpPr>
        <p:spPr>
          <a:xfrm>
            <a:off x="548640" y="685800"/>
            <a:ext cx="10515600" cy="822960"/>
          </a:xfrm>
          <a:prstGeom prst="rect">
            <a:avLst/>
          </a:prstGeom>
          <a:noFill/>
          <a:ln/>
        </p:spPr>
        <p:txBody>
          <a:bodyPr wrap="square" rtlCol="0" anchor="ctr"/>
          <a:lstStyle/>
          <a:p>
            <a:pPr marL="0" indent="0">
              <a:buNone/>
            </a:pPr>
            <a:r>
              <a:rPr lang="en-US" sz="3000" b="1" dirty="0">
                <a:solidFill>
                  <a:srgbClr val="0F2A43"/>
                </a:solidFill>
                <a:latin typeface="Georgia" pitchFamily="34" charset="0"/>
                <a:ea typeface="Georgia" pitchFamily="34" charset="-122"/>
                <a:cs typeface="Georgia" pitchFamily="34" charset="-120"/>
              </a:rPr>
              <a:t>Two reproducible phenotypes emerge from the trajectory alone</a:t>
            </a:r>
            <a:endParaRPr lang="en-US" sz="3000" dirty="0"/>
          </a:p>
        </p:txBody>
      </p:sp>
      <p:sp>
        <p:nvSpPr>
          <p:cNvPr id="4" name="Shape 2"/>
          <p:cNvSpPr/>
          <p:nvPr/>
        </p:nvSpPr>
        <p:spPr>
          <a:xfrm>
            <a:off x="548640" y="1828800"/>
            <a:ext cx="5349240" cy="4114800"/>
          </a:xfrm>
          <a:prstGeom prst="roundRect">
            <a:avLst>
              <a:gd name="adj" fmla="val 1778"/>
            </a:avLst>
          </a:prstGeom>
          <a:solidFill>
            <a:srgbClr val="E4F2F1"/>
          </a:solidFill>
          <a:ln/>
        </p:spPr>
        <p:txBody>
          <a:bodyPr/>
          <a:lstStyle/>
          <a:p>
            <a:endParaRPr lang="en-US"/>
          </a:p>
        </p:txBody>
      </p:sp>
      <p:sp>
        <p:nvSpPr>
          <p:cNvPr id="5" name="Text 3"/>
          <p:cNvSpPr/>
          <p:nvPr/>
        </p:nvSpPr>
        <p:spPr>
          <a:xfrm>
            <a:off x="868680" y="2103120"/>
            <a:ext cx="4754880" cy="548640"/>
          </a:xfrm>
          <a:prstGeom prst="rect">
            <a:avLst/>
          </a:prstGeom>
          <a:noFill/>
          <a:ln/>
        </p:spPr>
        <p:txBody>
          <a:bodyPr wrap="square" rtlCol="0" anchor="ctr"/>
          <a:lstStyle/>
          <a:p>
            <a:pPr marL="0" indent="0">
              <a:buNone/>
            </a:pPr>
            <a:r>
              <a:rPr lang="en-US" sz="1600" b="1" dirty="0">
                <a:solidFill>
                  <a:srgbClr val="0E7C7B"/>
                </a:solidFill>
                <a:latin typeface="Georgia" pitchFamily="34" charset="0"/>
                <a:ea typeface="Georgia" pitchFamily="34" charset="-122"/>
                <a:cs typeface="Georgia" pitchFamily="34" charset="-120"/>
              </a:rPr>
              <a:t>RBT — Recovery-like Biochemical Trajectory</a:t>
            </a:r>
            <a:endParaRPr lang="en-US" sz="1600" dirty="0"/>
          </a:p>
        </p:txBody>
      </p:sp>
      <p:sp>
        <p:nvSpPr>
          <p:cNvPr id="6" name="Text 4"/>
          <p:cNvSpPr/>
          <p:nvPr/>
        </p:nvSpPr>
        <p:spPr>
          <a:xfrm>
            <a:off x="868680" y="2606040"/>
            <a:ext cx="2743200" cy="822960"/>
          </a:xfrm>
          <a:prstGeom prst="rect">
            <a:avLst/>
          </a:prstGeom>
          <a:noFill/>
          <a:ln/>
        </p:spPr>
        <p:txBody>
          <a:bodyPr wrap="square" rtlCol="0" anchor="ctr"/>
          <a:lstStyle/>
          <a:p>
            <a:pPr marL="0" indent="0">
              <a:buNone/>
            </a:pPr>
            <a:r>
              <a:rPr lang="en-US" sz="4000" b="1" dirty="0">
                <a:solidFill>
                  <a:srgbClr val="0F2A43"/>
                </a:solidFill>
                <a:latin typeface="Georgia" pitchFamily="34" charset="0"/>
                <a:ea typeface="Georgia" pitchFamily="34" charset="-122"/>
                <a:cs typeface="Georgia" pitchFamily="34" charset="-120"/>
              </a:rPr>
              <a:t>76.3%</a:t>
            </a:r>
            <a:endParaRPr lang="en-US" sz="4000" dirty="0"/>
          </a:p>
        </p:txBody>
      </p:sp>
      <p:sp>
        <p:nvSpPr>
          <p:cNvPr id="7" name="Text 5"/>
          <p:cNvSpPr/>
          <p:nvPr/>
        </p:nvSpPr>
        <p:spPr>
          <a:xfrm>
            <a:off x="868680" y="3364992"/>
            <a:ext cx="2743200" cy="320040"/>
          </a:xfrm>
          <a:prstGeom prst="rect">
            <a:avLst/>
          </a:prstGeom>
          <a:noFill/>
          <a:ln/>
        </p:spPr>
        <p:txBody>
          <a:bodyPr wrap="square" rtlCol="0" anchor="ctr"/>
          <a:lstStyle/>
          <a:p>
            <a:pPr marL="0" indent="0">
              <a:buNone/>
            </a:pPr>
            <a:r>
              <a:rPr lang="en-US" sz="1200" dirty="0">
                <a:solidFill>
                  <a:srgbClr val="5A6472"/>
                </a:solidFill>
                <a:latin typeface="Georgia" pitchFamily="34" charset="0"/>
                <a:ea typeface="Georgia" pitchFamily="34" charset="-122"/>
                <a:cs typeface="Georgia" pitchFamily="34" charset="-120"/>
              </a:rPr>
              <a:t>n = 18,928 stays</a:t>
            </a:r>
            <a:endParaRPr lang="en-US" sz="1200" dirty="0"/>
          </a:p>
        </p:txBody>
      </p:sp>
      <p:sp>
        <p:nvSpPr>
          <p:cNvPr id="8" name="Text 6"/>
          <p:cNvSpPr/>
          <p:nvPr/>
        </p:nvSpPr>
        <p:spPr>
          <a:xfrm>
            <a:off x="868680" y="3794760"/>
            <a:ext cx="4709160" cy="1828800"/>
          </a:xfrm>
          <a:prstGeom prst="rect">
            <a:avLst/>
          </a:prstGeom>
          <a:noFill/>
          <a:ln/>
        </p:spPr>
        <p:txBody>
          <a:bodyPr wrap="square" rtlCol="0" anchor="ctr"/>
          <a:lstStyle/>
          <a:p>
            <a:pPr marL="342900" indent="-342900">
              <a:spcAft>
                <a:spcPts val="800"/>
              </a:spcAft>
              <a:buSzPct val="100000"/>
              <a:buChar char="•"/>
            </a:pPr>
            <a:r>
              <a:rPr lang="en-US" sz="1300" dirty="0">
                <a:solidFill>
                  <a:srgbClr val="0F2A43"/>
                </a:solidFill>
                <a:latin typeface="Georgia" pitchFamily="34" charset="0"/>
                <a:ea typeface="Georgia" pitchFamily="34" charset="-122"/>
                <a:cs typeface="Georgia" pitchFamily="34" charset="-120"/>
              </a:rPr>
              <a:t>Lactate clearing (+25.0%)</a:t>
            </a:r>
            <a:endParaRPr lang="en-US" sz="1300" dirty="0"/>
          </a:p>
          <a:p>
            <a:pPr marL="342900" indent="-342900">
              <a:spcAft>
                <a:spcPts val="800"/>
              </a:spcAft>
              <a:buSzPct val="100000"/>
              <a:buChar char="•"/>
            </a:pPr>
            <a:r>
              <a:rPr lang="en-US" sz="1300" dirty="0">
                <a:solidFill>
                  <a:srgbClr val="0F2A43"/>
                </a:solidFill>
                <a:latin typeface="Georgia" pitchFamily="34" charset="0"/>
                <a:ea typeface="Georgia" pitchFamily="34" charset="-122"/>
                <a:cs typeface="Georgia" pitchFamily="34" charset="-120"/>
              </a:rPr>
              <a:t>Creatinine stable (0.0%)</a:t>
            </a:r>
            <a:endParaRPr lang="en-US" sz="1300" dirty="0"/>
          </a:p>
          <a:p>
            <a:pPr marL="342900" indent="-342900">
              <a:spcAft>
                <a:spcPts val="800"/>
              </a:spcAft>
              <a:buSzPct val="100000"/>
              <a:buChar char="•"/>
            </a:pPr>
            <a:r>
              <a:rPr lang="en-US" sz="1300" dirty="0">
                <a:solidFill>
                  <a:srgbClr val="0F2A43"/>
                </a:solidFill>
                <a:latin typeface="Georgia" pitchFamily="34" charset="0"/>
                <a:ea typeface="Georgia" pitchFamily="34" charset="-122"/>
                <a:cs typeface="Georgia" pitchFamily="34" charset="-120"/>
              </a:rPr>
              <a:t>WBC falling (−10.7%)</a:t>
            </a:r>
            <a:endParaRPr lang="en-US" sz="1300" dirty="0"/>
          </a:p>
          <a:p>
            <a:pPr marL="342900" indent="-342900">
              <a:spcAft>
                <a:spcPts val="800"/>
              </a:spcAft>
              <a:buSzPct val="100000"/>
              <a:buChar char="•"/>
            </a:pPr>
            <a:r>
              <a:rPr lang="en-US" sz="1300" dirty="0">
                <a:solidFill>
                  <a:srgbClr val="0F2A43"/>
                </a:solidFill>
                <a:latin typeface="Georgia" pitchFamily="34" charset="0"/>
                <a:ea typeface="Georgia" pitchFamily="34" charset="-122"/>
                <a:cs typeface="Georgia" pitchFamily="34" charset="-120"/>
              </a:rPr>
              <a:t>Platelets falling (−8.6%)</a:t>
            </a:r>
            <a:endParaRPr lang="en-US" sz="1300" dirty="0"/>
          </a:p>
        </p:txBody>
      </p:sp>
      <p:sp>
        <p:nvSpPr>
          <p:cNvPr id="9" name="Shape 7"/>
          <p:cNvSpPr/>
          <p:nvPr/>
        </p:nvSpPr>
        <p:spPr>
          <a:xfrm>
            <a:off x="6263640" y="1828800"/>
            <a:ext cx="5349240" cy="4114800"/>
          </a:xfrm>
          <a:prstGeom prst="roundRect">
            <a:avLst>
              <a:gd name="adj" fmla="val 1778"/>
            </a:avLst>
          </a:prstGeom>
          <a:solidFill>
            <a:srgbClr val="F7E7E5"/>
          </a:solidFill>
          <a:ln/>
        </p:spPr>
        <p:txBody>
          <a:bodyPr/>
          <a:lstStyle/>
          <a:p>
            <a:endParaRPr lang="en-US"/>
          </a:p>
        </p:txBody>
      </p:sp>
      <p:sp>
        <p:nvSpPr>
          <p:cNvPr id="10" name="Text 8"/>
          <p:cNvSpPr/>
          <p:nvPr/>
        </p:nvSpPr>
        <p:spPr>
          <a:xfrm>
            <a:off x="6583680" y="2103120"/>
            <a:ext cx="4754880" cy="548640"/>
          </a:xfrm>
          <a:prstGeom prst="rect">
            <a:avLst/>
          </a:prstGeom>
          <a:noFill/>
          <a:ln/>
        </p:spPr>
        <p:txBody>
          <a:bodyPr wrap="square" rtlCol="0" anchor="ctr"/>
          <a:lstStyle/>
          <a:p>
            <a:pPr marL="0" indent="0">
              <a:buNone/>
            </a:pPr>
            <a:r>
              <a:rPr lang="en-US" sz="1600" b="1" dirty="0">
                <a:solidFill>
                  <a:srgbClr val="B33A3A"/>
                </a:solidFill>
                <a:latin typeface="Georgia" pitchFamily="34" charset="0"/>
                <a:ea typeface="Georgia" pitchFamily="34" charset="-122"/>
                <a:cs typeface="Georgia" pitchFamily="34" charset="-120"/>
              </a:rPr>
              <a:t>RIWT — Renal-Inflammatory Worsening Trajectory</a:t>
            </a:r>
            <a:endParaRPr lang="en-US" sz="1600" dirty="0"/>
          </a:p>
        </p:txBody>
      </p:sp>
      <p:sp>
        <p:nvSpPr>
          <p:cNvPr id="11" name="Text 9"/>
          <p:cNvSpPr/>
          <p:nvPr/>
        </p:nvSpPr>
        <p:spPr>
          <a:xfrm>
            <a:off x="6583680" y="2606040"/>
            <a:ext cx="2743200" cy="822960"/>
          </a:xfrm>
          <a:prstGeom prst="rect">
            <a:avLst/>
          </a:prstGeom>
          <a:noFill/>
          <a:ln/>
        </p:spPr>
        <p:txBody>
          <a:bodyPr wrap="square" rtlCol="0" anchor="ctr"/>
          <a:lstStyle/>
          <a:p>
            <a:pPr marL="0" indent="0">
              <a:buNone/>
            </a:pPr>
            <a:r>
              <a:rPr lang="en-US" sz="4000" b="1" dirty="0">
                <a:solidFill>
                  <a:srgbClr val="0F2A43"/>
                </a:solidFill>
                <a:latin typeface="Georgia" pitchFamily="34" charset="0"/>
                <a:ea typeface="Georgia" pitchFamily="34" charset="-122"/>
                <a:cs typeface="Georgia" pitchFamily="34" charset="-120"/>
              </a:rPr>
              <a:t>23.7%</a:t>
            </a:r>
            <a:endParaRPr lang="en-US" sz="4000" dirty="0"/>
          </a:p>
        </p:txBody>
      </p:sp>
      <p:sp>
        <p:nvSpPr>
          <p:cNvPr id="12" name="Text 10"/>
          <p:cNvSpPr/>
          <p:nvPr/>
        </p:nvSpPr>
        <p:spPr>
          <a:xfrm>
            <a:off x="6583680" y="3364992"/>
            <a:ext cx="2743200" cy="320040"/>
          </a:xfrm>
          <a:prstGeom prst="rect">
            <a:avLst/>
          </a:prstGeom>
          <a:noFill/>
          <a:ln/>
        </p:spPr>
        <p:txBody>
          <a:bodyPr wrap="square" rtlCol="0" anchor="ctr"/>
          <a:lstStyle/>
          <a:p>
            <a:pPr marL="0" indent="0">
              <a:buNone/>
            </a:pPr>
            <a:r>
              <a:rPr lang="en-US" sz="1200" dirty="0">
                <a:solidFill>
                  <a:srgbClr val="5A6472"/>
                </a:solidFill>
                <a:latin typeface="Georgia" pitchFamily="34" charset="0"/>
                <a:ea typeface="Georgia" pitchFamily="34" charset="-122"/>
                <a:cs typeface="Georgia" pitchFamily="34" charset="-120"/>
              </a:rPr>
              <a:t>n = 5,871 stays</a:t>
            </a:r>
            <a:endParaRPr lang="en-US" sz="1200" dirty="0"/>
          </a:p>
        </p:txBody>
      </p:sp>
      <p:sp>
        <p:nvSpPr>
          <p:cNvPr id="13" name="Text 11"/>
          <p:cNvSpPr/>
          <p:nvPr/>
        </p:nvSpPr>
        <p:spPr>
          <a:xfrm>
            <a:off x="6583680" y="3794760"/>
            <a:ext cx="4709160" cy="1828800"/>
          </a:xfrm>
          <a:prstGeom prst="rect">
            <a:avLst/>
          </a:prstGeom>
          <a:noFill/>
          <a:ln/>
        </p:spPr>
        <p:txBody>
          <a:bodyPr wrap="square" rtlCol="0" anchor="ctr"/>
          <a:lstStyle/>
          <a:p>
            <a:pPr marL="342900" indent="-342900">
              <a:spcAft>
                <a:spcPts val="800"/>
              </a:spcAft>
              <a:buSzPct val="100000"/>
              <a:buChar char="•"/>
            </a:pPr>
            <a:r>
              <a:rPr lang="en-US" sz="1300" dirty="0">
                <a:solidFill>
                  <a:srgbClr val="0F2A43"/>
                </a:solidFill>
                <a:latin typeface="Georgia" pitchFamily="34" charset="0"/>
                <a:ea typeface="Georgia" pitchFamily="34" charset="-122"/>
                <a:cs typeface="Georgia" pitchFamily="34" charset="-120"/>
              </a:rPr>
              <a:t>No lactate clearance (0.0%)</a:t>
            </a:r>
            <a:endParaRPr lang="en-US" sz="1300" dirty="0"/>
          </a:p>
          <a:p>
            <a:pPr marL="342900" indent="-342900">
              <a:spcAft>
                <a:spcPts val="800"/>
              </a:spcAft>
              <a:buSzPct val="100000"/>
              <a:buChar char="•"/>
            </a:pPr>
            <a:r>
              <a:rPr lang="en-US" sz="1300" dirty="0">
                <a:solidFill>
                  <a:srgbClr val="0F2A43"/>
                </a:solidFill>
                <a:latin typeface="Georgia" pitchFamily="34" charset="0"/>
                <a:ea typeface="Georgia" pitchFamily="34" charset="-122"/>
                <a:cs typeface="Georgia" pitchFamily="34" charset="-120"/>
              </a:rPr>
              <a:t>Creatinine rising (+13.3%)</a:t>
            </a:r>
            <a:endParaRPr lang="en-US" sz="1300" dirty="0"/>
          </a:p>
          <a:p>
            <a:pPr marL="342900" indent="-342900">
              <a:spcAft>
                <a:spcPts val="800"/>
              </a:spcAft>
              <a:buSzPct val="100000"/>
              <a:buChar char="•"/>
            </a:pPr>
            <a:r>
              <a:rPr lang="en-US" sz="1300" dirty="0">
                <a:solidFill>
                  <a:srgbClr val="0F2A43"/>
                </a:solidFill>
                <a:latin typeface="Georgia" pitchFamily="34" charset="0"/>
                <a:ea typeface="Georgia" pitchFamily="34" charset="-122"/>
                <a:cs typeface="Georgia" pitchFamily="34" charset="-120"/>
              </a:rPr>
              <a:t>WBC rising sharply (+50.0%)</a:t>
            </a:r>
            <a:endParaRPr lang="en-US" sz="1300" dirty="0"/>
          </a:p>
          <a:p>
            <a:pPr marL="342900" indent="-342900">
              <a:spcAft>
                <a:spcPts val="800"/>
              </a:spcAft>
              <a:buSzPct val="100000"/>
              <a:buChar char="•"/>
            </a:pPr>
            <a:r>
              <a:rPr lang="en-US" sz="1300" dirty="0">
                <a:solidFill>
                  <a:srgbClr val="0F2A43"/>
                </a:solidFill>
                <a:latin typeface="Georgia" pitchFamily="34" charset="0"/>
                <a:ea typeface="Georgia" pitchFamily="34" charset="-122"/>
                <a:cs typeface="Georgia" pitchFamily="34" charset="-120"/>
              </a:rPr>
              <a:t>Platelets rising (+18.4%)</a:t>
            </a:r>
            <a:endParaRPr lang="en-US" sz="1300" dirty="0"/>
          </a:p>
        </p:txBody>
      </p:sp>
      <p:sp>
        <p:nvSpPr>
          <p:cNvPr id="14" name="Text 12"/>
          <p:cNvSpPr/>
          <p:nvPr/>
        </p:nvSpPr>
        <p:spPr>
          <a:xfrm>
            <a:off x="548640" y="6080760"/>
            <a:ext cx="11064240" cy="548640"/>
          </a:xfrm>
          <a:prstGeom prst="rect">
            <a:avLst/>
          </a:prstGeom>
          <a:noFill/>
          <a:ln/>
        </p:spPr>
        <p:txBody>
          <a:bodyPr wrap="square" rtlCol="0" anchor="ctr"/>
          <a:lstStyle/>
          <a:p>
            <a:pPr marL="0" indent="0">
              <a:buNone/>
            </a:pPr>
            <a:r>
              <a:rPr lang="en-US" sz="1250" i="1" dirty="0">
                <a:solidFill>
                  <a:srgbClr val="5A6472"/>
                </a:solidFill>
                <a:latin typeface="Georgia" pitchFamily="34" charset="0"/>
                <a:ea typeface="Georgia" pitchFamily="34" charset="-122"/>
                <a:cs typeface="Georgia" pitchFamily="34" charset="-120"/>
              </a:rPr>
              <a:t>Reproducibility: the same two-cluster structure re-emerges in a complete-case cohort with no imputed values (adjusted Rand index ≈ 0.97–0.998).</a:t>
            </a:r>
            <a:endParaRPr lang="en-US" sz="1250" dirty="0"/>
          </a:p>
        </p:txBody>
      </p:sp>
      <p:sp>
        <p:nvSpPr>
          <p:cNvPr id="15" name="Text 13"/>
          <p:cNvSpPr/>
          <p:nvPr/>
        </p:nvSpPr>
        <p:spPr>
          <a:xfrm>
            <a:off x="457200" y="6528816"/>
            <a:ext cx="7315200" cy="274320"/>
          </a:xfrm>
          <a:prstGeom prst="rect">
            <a:avLst/>
          </a:prstGeom>
          <a:noFill/>
          <a:ln/>
        </p:spPr>
        <p:txBody>
          <a:bodyPr wrap="square" rtlCol="0" anchor="ctr"/>
          <a:lstStyle/>
          <a:p>
            <a:pPr marL="0" indent="0">
              <a:buNone/>
            </a:pPr>
            <a:r>
              <a:rPr lang="en-US" sz="900" dirty="0">
                <a:solidFill>
                  <a:srgbClr val="5A6472"/>
                </a:solidFill>
                <a:latin typeface="Georgia" pitchFamily="34" charset="0"/>
                <a:ea typeface="Georgia" pitchFamily="34" charset="-122"/>
                <a:cs typeface="Georgia" pitchFamily="34" charset="-120"/>
              </a:rPr>
              <a:t>ICU Trajectory Phenotyping — CST2213 Final Project</a:t>
            </a:r>
            <a:endParaRPr lang="en-US" sz="900" dirty="0"/>
          </a:p>
        </p:txBody>
      </p:sp>
      <p:sp>
        <p:nvSpPr>
          <p:cNvPr id="16" name="Text 14"/>
          <p:cNvSpPr/>
          <p:nvPr/>
        </p:nvSpPr>
        <p:spPr>
          <a:xfrm>
            <a:off x="11521440" y="6528816"/>
            <a:ext cx="457200" cy="274320"/>
          </a:xfrm>
          <a:prstGeom prst="rect">
            <a:avLst/>
          </a:prstGeom>
          <a:noFill/>
          <a:ln/>
        </p:spPr>
        <p:txBody>
          <a:bodyPr wrap="square" rtlCol="0" anchor="ctr"/>
          <a:lstStyle/>
          <a:p>
            <a:pPr marL="0" indent="0" algn="r">
              <a:buNone/>
            </a:pPr>
            <a:r>
              <a:rPr lang="en-US" sz="900" dirty="0">
                <a:solidFill>
                  <a:srgbClr val="5A6472"/>
                </a:solidFill>
                <a:latin typeface="Georgia" pitchFamily="34" charset="0"/>
                <a:ea typeface="Georgia" pitchFamily="34" charset="-122"/>
                <a:cs typeface="Georgia" pitchFamily="34" charset="-120"/>
              </a:rPr>
              <a:t>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slide-title">
            <a:extLst>
              <a:ext uri="{FF2B5EF4-FFF2-40B4-BE49-F238E27FC236}">
                <a16:creationId xmlns:a16="http://schemas.microsoft.com/office/drawing/2014/main" id="{FF605529-6D2E-48C2-A7DC-6683DCD7D242}"/>
              </a:ext>
            </a:extLst>
          </p:cNvPr>
          <p:cNvSpPr>
            <a:spLocks noGrp="1"/>
          </p:cNvSpPr>
          <p:nvPr/>
        </p:nvSpPr>
        <p:spPr>
          <a:xfrm>
            <a:off x="594360" y="259080"/>
            <a:ext cx="8534400" cy="533400"/>
          </a:xfrm>
          <a:prstGeom prst="rect">
            <a:avLst/>
          </a:prstGeom>
          <a:noFill/>
          <a:ln w="0">
            <a:noFill/>
            <a:prstDash val="solid"/>
          </a:ln>
        </p:spPr>
        <p:txBody>
          <a:bodyPr anchor="t">
            <a:normAutofit fontScale="86305"/>
          </a:bodyPr>
          <a:lstStyle/>
          <a:p>
            <a:pPr algn="l">
              <a:lnSpc>
                <a:spcPct val="108000"/>
              </a:lnSpc>
              <a:buNone/>
              <a:defRPr sz="4050" b="1" i="0">
                <a:solidFill>
                  <a:srgbClr val="111111"/>
                </a:solidFill>
                <a:latin typeface="Georgia"/>
                <a:ea typeface="Georgia"/>
                <a:cs typeface="Georgia"/>
              </a:defRPr>
            </a:pPr>
            <a:r>
              <a:rPr sz="3240" b="1">
                <a:solidFill>
                  <a:srgbClr val="111111"/>
                </a:solidFill>
                <a:latin typeface="Georgia"/>
                <a:ea typeface="Georgia"/>
                <a:cs typeface="Georgia"/>
              </a:rPr>
              <a:t>Mortality Was Evaluated After Phenotyping</a:t>
            </a:r>
          </a:p>
        </p:txBody>
      </p:sp>
      <p:sp>
        <p:nvSpPr>
          <p:cNvPr id="2" name="Rectangle 1">
            <a:extLst>
              <a:ext uri="{FF2B5EF4-FFF2-40B4-BE49-F238E27FC236}">
                <a16:creationId xmlns:a16="http://schemas.microsoft.com/office/drawing/2014/main" id="{C89008C3-CF9E-4050-B196-B8F30976C3BD}"/>
              </a:ext>
            </a:extLst>
          </p:cNvPr>
          <p:cNvSpPr>
            <a:spLocks noGrp="1"/>
          </p:cNvSpPr>
          <p:nvPr/>
        </p:nvSpPr>
        <p:spPr>
          <a:xfrm>
            <a:off x="9372600" y="228600"/>
            <a:ext cx="2286000" cy="533400"/>
          </a:xfrm>
          <a:prstGeom prst="rect">
            <a:avLst/>
          </a:prstGeom>
          <a:noFill/>
          <a:ln w="0">
            <a:noFill/>
            <a:prstDash val="solid"/>
          </a:ln>
        </p:spPr>
        <p:txBody>
          <a:bodyPr anchor="t">
            <a:normAutofit fontScale="81277" lnSpcReduction="10000"/>
          </a:bodyPr>
          <a:lstStyle/>
          <a:p>
            <a:pPr algn="r">
              <a:lnSpc>
                <a:spcPct val="108000"/>
              </a:lnSpc>
              <a:buNone/>
              <a:defRPr sz="2475" b="1" i="0">
                <a:solidFill>
                  <a:srgbClr val="EF7D00"/>
                </a:solidFill>
                <a:latin typeface="Georgia"/>
                <a:ea typeface="Georgia"/>
                <a:cs typeface="Georgia"/>
              </a:defRPr>
            </a:pPr>
            <a:r>
              <a:rPr sz="1980" b="1">
                <a:solidFill>
                  <a:srgbClr val="EF7D00"/>
                </a:solidFill>
                <a:latin typeface="Georgia"/>
                <a:ea typeface="Georgia"/>
                <a:cs typeface="Georgia"/>
              </a:rPr>
              <a:t>Clinical Validation</a:t>
            </a:r>
          </a:p>
        </p:txBody>
      </p:sp>
      <p:sp>
        <p:nvSpPr>
          <p:cNvPr id="3" name="Rectangle 2">
            <a:extLst>
              <a:ext uri="{FF2B5EF4-FFF2-40B4-BE49-F238E27FC236}">
                <a16:creationId xmlns:a16="http://schemas.microsoft.com/office/drawing/2014/main" id="{F4F6F66A-2155-40BD-B2C8-849A814B70E9}"/>
              </a:ext>
            </a:extLst>
          </p:cNvPr>
          <p:cNvSpPr>
            <a:spLocks noGrp="1"/>
          </p:cNvSpPr>
          <p:nvPr/>
        </p:nvSpPr>
        <p:spPr>
          <a:xfrm>
            <a:off x="624840" y="853440"/>
            <a:ext cx="8610600" cy="259080"/>
          </a:xfrm>
          <a:prstGeom prst="rect">
            <a:avLst/>
          </a:prstGeom>
          <a:noFill/>
          <a:ln w="0">
            <a:noFill/>
            <a:prstDash val="solid"/>
          </a:ln>
        </p:spPr>
        <p:txBody>
          <a:bodyPr anchor="t">
            <a:noAutofit/>
          </a:bodyPr>
          <a:lstStyle/>
          <a:p>
            <a:pPr algn="l">
              <a:lnSpc>
                <a:spcPct val="108000"/>
              </a:lnSpc>
              <a:buNone/>
              <a:defRPr sz="1500" b="0" i="0">
                <a:solidFill>
                  <a:srgbClr val="5A5A5A"/>
                </a:solidFill>
                <a:latin typeface="Aptos"/>
                <a:ea typeface="Aptos"/>
                <a:cs typeface="Aptos"/>
              </a:defRPr>
            </a:pPr>
            <a:r>
              <a:rPr sz="1200">
                <a:solidFill>
                  <a:srgbClr val="5A5A5A"/>
                </a:solidFill>
                <a:latin typeface="Aptos"/>
                <a:ea typeface="Aptos"/>
                <a:cs typeface="Aptos"/>
              </a:rPr>
              <a:t>Outcome modelling adds baseline severity and demographics without changing the clustering inputs.</a:t>
            </a:r>
          </a:p>
        </p:txBody>
      </p:sp>
      <p:sp>
        <p:nvSpPr>
          <p:cNvPr id="4" name="Straight Connector 3">
            <a:extLst>
              <a:ext uri="{FF2B5EF4-FFF2-40B4-BE49-F238E27FC236}">
                <a16:creationId xmlns:a16="http://schemas.microsoft.com/office/drawing/2014/main" id="{6FA0A397-2EEB-4495-83A5-1924279A1B14}"/>
              </a:ext>
            </a:extLst>
          </p:cNvPr>
          <p:cNvSpPr>
            <a:spLocks noGrp="1"/>
          </p:cNvSpPr>
          <p:nvPr/>
        </p:nvSpPr>
        <p:spPr>
          <a:xfrm>
            <a:off x="2628900" y="1379220"/>
            <a:ext cx="723900" cy="0"/>
          </a:xfrm>
          <a:prstGeom prst="line">
            <a:avLst/>
          </a:prstGeom>
          <a:noFill/>
          <a:ln w="14288">
            <a:solidFill>
              <a:srgbClr val="B9B9B9"/>
            </a:solidFill>
            <a:prstDash val="solid"/>
          </a:ln>
        </p:spPr>
        <p:txBody>
          <a:bodyPr/>
          <a:lstStyle/>
          <a:p>
            <a:endParaRPr lang="en-US" sz="1440"/>
          </a:p>
        </p:txBody>
      </p:sp>
      <p:sp>
        <p:nvSpPr>
          <p:cNvPr id="5" name="Oval 4">
            <a:extLst>
              <a:ext uri="{FF2B5EF4-FFF2-40B4-BE49-F238E27FC236}">
                <a16:creationId xmlns:a16="http://schemas.microsoft.com/office/drawing/2014/main" id="{5B1D3EB7-74BC-42E5-B8A7-871549E27878}"/>
              </a:ext>
            </a:extLst>
          </p:cNvPr>
          <p:cNvSpPr>
            <a:spLocks noGrp="1"/>
          </p:cNvSpPr>
          <p:nvPr/>
        </p:nvSpPr>
        <p:spPr>
          <a:xfrm>
            <a:off x="647700" y="1203960"/>
            <a:ext cx="350520" cy="350520"/>
          </a:xfrm>
          <a:prstGeom prst="ellipse">
            <a:avLst/>
          </a:prstGeom>
          <a:solidFill>
            <a:srgbClr val="FFFFFF"/>
          </a:solidFill>
          <a:ln w="14288">
            <a:solidFill>
              <a:srgbClr val="1484D6"/>
            </a:solidFill>
            <a:prstDash val="solid"/>
          </a:ln>
        </p:spPr>
        <p:txBody>
          <a:bodyPr anchor="ctr"/>
          <a:lstStyle/>
          <a:p>
            <a:pPr algn="ctr">
              <a:defRPr sz="1200" b="1">
                <a:solidFill>
                  <a:srgbClr val="1484D6"/>
                </a:solidFill>
              </a:defRPr>
            </a:pPr>
            <a:r>
              <a:rPr sz="960" b="1">
                <a:solidFill>
                  <a:srgbClr val="1484D6"/>
                </a:solidFill>
              </a:rPr>
              <a:t>1</a:t>
            </a:r>
          </a:p>
        </p:txBody>
      </p:sp>
      <p:sp>
        <p:nvSpPr>
          <p:cNvPr id="6" name="Rectangle 5">
            <a:extLst>
              <a:ext uri="{FF2B5EF4-FFF2-40B4-BE49-F238E27FC236}">
                <a16:creationId xmlns:a16="http://schemas.microsoft.com/office/drawing/2014/main" id="{9B0A2980-C0BC-4C25-9F5D-516BD30FFD35}"/>
              </a:ext>
            </a:extLst>
          </p:cNvPr>
          <p:cNvSpPr>
            <a:spLocks noGrp="1"/>
          </p:cNvSpPr>
          <p:nvPr/>
        </p:nvSpPr>
        <p:spPr>
          <a:xfrm>
            <a:off x="1089660" y="1234440"/>
            <a:ext cx="1828800" cy="190500"/>
          </a:xfrm>
          <a:prstGeom prst="rect">
            <a:avLst/>
          </a:prstGeom>
          <a:noFill/>
          <a:ln w="0">
            <a:noFill/>
            <a:prstDash val="solid"/>
          </a:ln>
        </p:spPr>
        <p:txBody>
          <a:bodyPr anchor="t">
            <a:noAutofit/>
          </a:bodyPr>
          <a:lstStyle/>
          <a:p>
            <a:pPr algn="l">
              <a:lnSpc>
                <a:spcPct val="108000"/>
              </a:lnSpc>
              <a:buNone/>
              <a:defRPr sz="1050" b="1" i="0">
                <a:solidFill>
                  <a:srgbClr val="777777"/>
                </a:solidFill>
                <a:latin typeface="Aptos"/>
                <a:ea typeface="Aptos"/>
                <a:cs typeface="Aptos"/>
              </a:defRPr>
            </a:pPr>
            <a:r>
              <a:rPr sz="840" b="1">
                <a:solidFill>
                  <a:srgbClr val="777777"/>
                </a:solidFill>
                <a:latin typeface="Aptos"/>
                <a:ea typeface="Aptos"/>
                <a:cs typeface="Aptos"/>
              </a:rPr>
              <a:t>BUSINESS NEEDS</a:t>
            </a:r>
          </a:p>
        </p:txBody>
      </p:sp>
      <p:sp>
        <p:nvSpPr>
          <p:cNvPr id="7" name="Straight Connector 6">
            <a:extLst>
              <a:ext uri="{FF2B5EF4-FFF2-40B4-BE49-F238E27FC236}">
                <a16:creationId xmlns:a16="http://schemas.microsoft.com/office/drawing/2014/main" id="{DF35F437-BDD8-447C-859C-4B258C725A4A}"/>
              </a:ext>
            </a:extLst>
          </p:cNvPr>
          <p:cNvSpPr>
            <a:spLocks noGrp="1"/>
          </p:cNvSpPr>
          <p:nvPr/>
        </p:nvSpPr>
        <p:spPr>
          <a:xfrm>
            <a:off x="5448300" y="1379220"/>
            <a:ext cx="723900" cy="0"/>
          </a:xfrm>
          <a:prstGeom prst="line">
            <a:avLst/>
          </a:prstGeom>
          <a:noFill/>
          <a:ln w="14288">
            <a:solidFill>
              <a:srgbClr val="B9B9B9"/>
            </a:solidFill>
            <a:prstDash val="solid"/>
          </a:ln>
        </p:spPr>
        <p:txBody>
          <a:bodyPr/>
          <a:lstStyle/>
          <a:p>
            <a:endParaRPr lang="en-US" sz="1440"/>
          </a:p>
        </p:txBody>
      </p:sp>
      <p:sp>
        <p:nvSpPr>
          <p:cNvPr id="8" name="Oval 7">
            <a:extLst>
              <a:ext uri="{FF2B5EF4-FFF2-40B4-BE49-F238E27FC236}">
                <a16:creationId xmlns:a16="http://schemas.microsoft.com/office/drawing/2014/main" id="{03932302-C87E-4818-A94F-085DB416CAD2}"/>
              </a:ext>
            </a:extLst>
          </p:cNvPr>
          <p:cNvSpPr>
            <a:spLocks noGrp="1"/>
          </p:cNvSpPr>
          <p:nvPr/>
        </p:nvSpPr>
        <p:spPr>
          <a:xfrm>
            <a:off x="3467100" y="1203960"/>
            <a:ext cx="350520" cy="350520"/>
          </a:xfrm>
          <a:prstGeom prst="ellipse">
            <a:avLst/>
          </a:prstGeom>
          <a:solidFill>
            <a:srgbClr val="FFFFFF"/>
          </a:solidFill>
          <a:ln w="14288">
            <a:solidFill>
              <a:srgbClr val="9552D0"/>
            </a:solidFill>
            <a:prstDash val="solid"/>
          </a:ln>
        </p:spPr>
        <p:txBody>
          <a:bodyPr anchor="ctr"/>
          <a:lstStyle/>
          <a:p>
            <a:pPr algn="ctr">
              <a:defRPr sz="1200" b="1">
                <a:solidFill>
                  <a:srgbClr val="9552D0"/>
                </a:solidFill>
              </a:defRPr>
            </a:pPr>
            <a:r>
              <a:rPr sz="960" b="1">
                <a:solidFill>
                  <a:srgbClr val="9552D0"/>
                </a:solidFill>
              </a:rPr>
              <a:t>2</a:t>
            </a:r>
          </a:p>
        </p:txBody>
      </p:sp>
      <p:sp>
        <p:nvSpPr>
          <p:cNvPr id="9" name="Rectangle 8">
            <a:extLst>
              <a:ext uri="{FF2B5EF4-FFF2-40B4-BE49-F238E27FC236}">
                <a16:creationId xmlns:a16="http://schemas.microsoft.com/office/drawing/2014/main" id="{953D9323-90BF-4419-B096-1C9ED9332F88}"/>
              </a:ext>
            </a:extLst>
          </p:cNvPr>
          <p:cNvSpPr>
            <a:spLocks noGrp="1"/>
          </p:cNvSpPr>
          <p:nvPr/>
        </p:nvSpPr>
        <p:spPr>
          <a:xfrm>
            <a:off x="3909060" y="1234440"/>
            <a:ext cx="1828800" cy="190500"/>
          </a:xfrm>
          <a:prstGeom prst="rect">
            <a:avLst/>
          </a:prstGeom>
          <a:noFill/>
          <a:ln w="0">
            <a:noFill/>
            <a:prstDash val="solid"/>
          </a:ln>
        </p:spPr>
        <p:txBody>
          <a:bodyPr anchor="t">
            <a:noAutofit/>
          </a:bodyPr>
          <a:lstStyle/>
          <a:p>
            <a:pPr algn="l">
              <a:lnSpc>
                <a:spcPct val="108000"/>
              </a:lnSpc>
              <a:buNone/>
              <a:defRPr sz="1050" b="1" i="0">
                <a:solidFill>
                  <a:srgbClr val="777777"/>
                </a:solidFill>
                <a:latin typeface="Aptos"/>
                <a:ea typeface="Aptos"/>
                <a:cs typeface="Aptos"/>
              </a:defRPr>
            </a:pPr>
            <a:r>
              <a:rPr sz="840" b="1">
                <a:solidFill>
                  <a:srgbClr val="777777"/>
                </a:solidFill>
                <a:latin typeface="Aptos"/>
                <a:ea typeface="Aptos"/>
                <a:cs typeface="Aptos"/>
              </a:rPr>
              <a:t>DATA PROCESSING</a:t>
            </a:r>
          </a:p>
        </p:txBody>
      </p:sp>
      <p:sp>
        <p:nvSpPr>
          <p:cNvPr id="10" name="Straight Connector 9">
            <a:extLst>
              <a:ext uri="{FF2B5EF4-FFF2-40B4-BE49-F238E27FC236}">
                <a16:creationId xmlns:a16="http://schemas.microsoft.com/office/drawing/2014/main" id="{3E4364B5-E596-4807-9903-92F61141C48F}"/>
              </a:ext>
            </a:extLst>
          </p:cNvPr>
          <p:cNvSpPr>
            <a:spLocks noGrp="1"/>
          </p:cNvSpPr>
          <p:nvPr/>
        </p:nvSpPr>
        <p:spPr>
          <a:xfrm>
            <a:off x="8267700" y="1379220"/>
            <a:ext cx="723900" cy="0"/>
          </a:xfrm>
          <a:prstGeom prst="line">
            <a:avLst/>
          </a:prstGeom>
          <a:noFill/>
          <a:ln w="14288">
            <a:solidFill>
              <a:srgbClr val="B9B9B9"/>
            </a:solidFill>
            <a:prstDash val="solid"/>
          </a:ln>
        </p:spPr>
        <p:txBody>
          <a:bodyPr/>
          <a:lstStyle/>
          <a:p>
            <a:endParaRPr lang="en-US" sz="1440"/>
          </a:p>
        </p:txBody>
      </p:sp>
      <p:sp>
        <p:nvSpPr>
          <p:cNvPr id="11" name="Oval 10">
            <a:extLst>
              <a:ext uri="{FF2B5EF4-FFF2-40B4-BE49-F238E27FC236}">
                <a16:creationId xmlns:a16="http://schemas.microsoft.com/office/drawing/2014/main" id="{27720739-6A7D-48E8-AFE1-4ADBD2493562}"/>
              </a:ext>
            </a:extLst>
          </p:cNvPr>
          <p:cNvSpPr>
            <a:spLocks noGrp="1"/>
          </p:cNvSpPr>
          <p:nvPr/>
        </p:nvSpPr>
        <p:spPr>
          <a:xfrm>
            <a:off x="6286500" y="1203960"/>
            <a:ext cx="350520" cy="350520"/>
          </a:xfrm>
          <a:prstGeom prst="ellipse">
            <a:avLst/>
          </a:prstGeom>
          <a:solidFill>
            <a:srgbClr val="00A870"/>
          </a:solidFill>
          <a:ln w="14288">
            <a:solidFill>
              <a:srgbClr val="00A870"/>
            </a:solidFill>
            <a:prstDash val="solid"/>
          </a:ln>
        </p:spPr>
        <p:txBody>
          <a:bodyPr anchor="ctr"/>
          <a:lstStyle/>
          <a:p>
            <a:pPr algn="ctr">
              <a:defRPr sz="1200" b="1">
                <a:solidFill>
                  <a:srgbClr val="FFFFFF"/>
                </a:solidFill>
              </a:defRPr>
            </a:pPr>
            <a:r>
              <a:rPr sz="960" b="1">
                <a:solidFill>
                  <a:srgbClr val="FFFFFF"/>
                </a:solidFill>
              </a:rPr>
              <a:t>3</a:t>
            </a:r>
          </a:p>
        </p:txBody>
      </p:sp>
      <p:sp>
        <p:nvSpPr>
          <p:cNvPr id="12" name="Rectangle 11">
            <a:extLst>
              <a:ext uri="{FF2B5EF4-FFF2-40B4-BE49-F238E27FC236}">
                <a16:creationId xmlns:a16="http://schemas.microsoft.com/office/drawing/2014/main" id="{050C0D50-FC2F-4991-B9E7-819D844A2393}"/>
              </a:ext>
            </a:extLst>
          </p:cNvPr>
          <p:cNvSpPr>
            <a:spLocks noGrp="1"/>
          </p:cNvSpPr>
          <p:nvPr/>
        </p:nvSpPr>
        <p:spPr>
          <a:xfrm>
            <a:off x="6728460" y="1234440"/>
            <a:ext cx="1828800" cy="190500"/>
          </a:xfrm>
          <a:prstGeom prst="rect">
            <a:avLst/>
          </a:prstGeom>
          <a:noFill/>
          <a:ln w="0">
            <a:noFill/>
            <a:prstDash val="solid"/>
          </a:ln>
        </p:spPr>
        <p:txBody>
          <a:bodyPr anchor="t">
            <a:noAutofit/>
          </a:bodyPr>
          <a:lstStyle/>
          <a:p>
            <a:pPr algn="l">
              <a:lnSpc>
                <a:spcPct val="108000"/>
              </a:lnSpc>
              <a:buNone/>
              <a:defRPr sz="1050" b="1" i="0">
                <a:solidFill>
                  <a:srgbClr val="00A870"/>
                </a:solidFill>
                <a:latin typeface="Aptos"/>
                <a:ea typeface="Aptos"/>
                <a:cs typeface="Aptos"/>
              </a:defRPr>
            </a:pPr>
            <a:r>
              <a:rPr sz="840" b="1">
                <a:solidFill>
                  <a:srgbClr val="00A870"/>
                </a:solidFill>
                <a:latin typeface="Aptos"/>
                <a:ea typeface="Aptos"/>
                <a:cs typeface="Aptos"/>
              </a:rPr>
              <a:t>DATA MODELLING</a:t>
            </a:r>
          </a:p>
        </p:txBody>
      </p:sp>
      <p:sp>
        <p:nvSpPr>
          <p:cNvPr id="13" name="Oval 12">
            <a:extLst>
              <a:ext uri="{FF2B5EF4-FFF2-40B4-BE49-F238E27FC236}">
                <a16:creationId xmlns:a16="http://schemas.microsoft.com/office/drawing/2014/main" id="{1E66F462-6D0D-47E7-9B5B-44775878CB55}"/>
              </a:ext>
            </a:extLst>
          </p:cNvPr>
          <p:cNvSpPr>
            <a:spLocks noGrp="1"/>
          </p:cNvSpPr>
          <p:nvPr/>
        </p:nvSpPr>
        <p:spPr>
          <a:xfrm>
            <a:off x="9105900" y="1203960"/>
            <a:ext cx="350520" cy="350520"/>
          </a:xfrm>
          <a:prstGeom prst="ellipse">
            <a:avLst/>
          </a:prstGeom>
          <a:solidFill>
            <a:srgbClr val="FFFFFF"/>
          </a:solidFill>
          <a:ln w="14288">
            <a:solidFill>
              <a:srgbClr val="EF7D00"/>
            </a:solidFill>
            <a:prstDash val="solid"/>
          </a:ln>
        </p:spPr>
        <p:txBody>
          <a:bodyPr anchor="ctr"/>
          <a:lstStyle/>
          <a:p>
            <a:pPr algn="ctr">
              <a:defRPr sz="1200" b="1">
                <a:solidFill>
                  <a:srgbClr val="EF7D00"/>
                </a:solidFill>
              </a:defRPr>
            </a:pPr>
            <a:r>
              <a:rPr sz="960" b="1">
                <a:solidFill>
                  <a:srgbClr val="EF7D00"/>
                </a:solidFill>
              </a:rPr>
              <a:t>4</a:t>
            </a:r>
          </a:p>
        </p:txBody>
      </p:sp>
      <p:sp>
        <p:nvSpPr>
          <p:cNvPr id="14" name="Rectangle 13">
            <a:extLst>
              <a:ext uri="{FF2B5EF4-FFF2-40B4-BE49-F238E27FC236}">
                <a16:creationId xmlns:a16="http://schemas.microsoft.com/office/drawing/2014/main" id="{5958A98A-E3E2-4244-9E4A-4D420461C61B}"/>
              </a:ext>
            </a:extLst>
          </p:cNvPr>
          <p:cNvSpPr>
            <a:spLocks noGrp="1"/>
          </p:cNvSpPr>
          <p:nvPr/>
        </p:nvSpPr>
        <p:spPr>
          <a:xfrm>
            <a:off x="9547860" y="1234440"/>
            <a:ext cx="1828800" cy="190500"/>
          </a:xfrm>
          <a:prstGeom prst="rect">
            <a:avLst/>
          </a:prstGeom>
          <a:noFill/>
          <a:ln w="0">
            <a:noFill/>
            <a:prstDash val="solid"/>
          </a:ln>
        </p:spPr>
        <p:txBody>
          <a:bodyPr anchor="t">
            <a:noAutofit/>
          </a:bodyPr>
          <a:lstStyle/>
          <a:p>
            <a:pPr algn="l">
              <a:lnSpc>
                <a:spcPct val="108000"/>
              </a:lnSpc>
              <a:buNone/>
              <a:defRPr sz="1050" b="1" i="0">
                <a:solidFill>
                  <a:srgbClr val="777777"/>
                </a:solidFill>
                <a:latin typeface="Aptos"/>
                <a:ea typeface="Aptos"/>
                <a:cs typeface="Aptos"/>
              </a:defRPr>
            </a:pPr>
            <a:r>
              <a:rPr sz="840" b="1">
                <a:solidFill>
                  <a:srgbClr val="777777"/>
                </a:solidFill>
                <a:latin typeface="Aptos"/>
                <a:ea typeface="Aptos"/>
                <a:cs typeface="Aptos"/>
              </a:rPr>
              <a:t>BUSINESS INFRASTRUCTURE</a:t>
            </a:r>
          </a:p>
        </p:txBody>
      </p:sp>
      <p:sp>
        <p:nvSpPr>
          <p:cNvPr id="15" name="Rectangle 14">
            <a:extLst>
              <a:ext uri="{FF2B5EF4-FFF2-40B4-BE49-F238E27FC236}">
                <a16:creationId xmlns:a16="http://schemas.microsoft.com/office/drawing/2014/main" id="{3777A26C-B897-485F-A37A-A9EE51FAF301}"/>
              </a:ext>
            </a:extLst>
          </p:cNvPr>
          <p:cNvSpPr>
            <a:spLocks noGrp="1"/>
          </p:cNvSpPr>
          <p:nvPr/>
        </p:nvSpPr>
        <p:spPr>
          <a:xfrm>
            <a:off x="723900" y="1790700"/>
            <a:ext cx="3962400" cy="289560"/>
          </a:xfrm>
          <a:prstGeom prst="rect">
            <a:avLst/>
          </a:prstGeom>
          <a:noFill/>
          <a:ln w="0">
            <a:noFill/>
            <a:prstDash val="solid"/>
          </a:ln>
        </p:spPr>
        <p:txBody>
          <a:bodyPr anchor="t">
            <a:noAutofit/>
          </a:bodyPr>
          <a:lstStyle/>
          <a:p>
            <a:pPr algn="l">
              <a:lnSpc>
                <a:spcPct val="108000"/>
              </a:lnSpc>
              <a:buNone/>
              <a:defRPr sz="2175" b="1" i="0">
                <a:solidFill>
                  <a:srgbClr val="111111"/>
                </a:solidFill>
                <a:latin typeface="Georgia"/>
                <a:ea typeface="Georgia"/>
                <a:cs typeface="Georgia"/>
              </a:defRPr>
            </a:pPr>
            <a:r>
              <a:rPr sz="1740" b="1">
                <a:solidFill>
                  <a:srgbClr val="111111"/>
                </a:solidFill>
                <a:latin typeface="Georgia"/>
                <a:ea typeface="Georgia"/>
                <a:cs typeface="Georgia"/>
              </a:rPr>
              <a:t>Observed mortality by phenotype</a:t>
            </a:r>
          </a:p>
        </p:txBody>
      </p:sp>
      <p:sp>
        <p:nvSpPr>
          <p:cNvPr id="16" name="Rectangle 15">
            <a:extLst>
              <a:ext uri="{FF2B5EF4-FFF2-40B4-BE49-F238E27FC236}">
                <a16:creationId xmlns:a16="http://schemas.microsoft.com/office/drawing/2014/main" id="{C4A04A52-03EF-483F-AD59-7C941AC395E1}"/>
              </a:ext>
            </a:extLst>
          </p:cNvPr>
          <p:cNvSpPr>
            <a:spLocks noGrp="1"/>
          </p:cNvSpPr>
          <p:nvPr/>
        </p:nvSpPr>
        <p:spPr>
          <a:xfrm>
            <a:off x="800100" y="2552700"/>
            <a:ext cx="685800" cy="213360"/>
          </a:xfrm>
          <a:prstGeom prst="rect">
            <a:avLst/>
          </a:prstGeom>
          <a:noFill/>
          <a:ln w="0">
            <a:noFill/>
            <a:prstDash val="solid"/>
          </a:ln>
        </p:spPr>
        <p:txBody>
          <a:bodyPr anchor="t">
            <a:noAutofit/>
          </a:bodyPr>
          <a:lstStyle/>
          <a:p>
            <a:pPr algn="l">
              <a:lnSpc>
                <a:spcPct val="108000"/>
              </a:lnSpc>
              <a:buNone/>
              <a:defRPr sz="1350" b="1" i="0">
                <a:solidFill>
                  <a:srgbClr val="5A5A5A"/>
                </a:solidFill>
                <a:latin typeface="Aptos"/>
                <a:ea typeface="Aptos"/>
                <a:cs typeface="Aptos"/>
              </a:defRPr>
            </a:pPr>
            <a:r>
              <a:rPr sz="1080" b="1">
                <a:solidFill>
                  <a:srgbClr val="5A5A5A"/>
                </a:solidFill>
                <a:latin typeface="Aptos"/>
                <a:ea typeface="Aptos"/>
                <a:cs typeface="Aptos"/>
              </a:rPr>
              <a:t>1 day</a:t>
            </a:r>
          </a:p>
        </p:txBody>
      </p:sp>
      <p:sp>
        <p:nvSpPr>
          <p:cNvPr id="17" name="Rounded Rectangle 16">
            <a:extLst>
              <a:ext uri="{FF2B5EF4-FFF2-40B4-BE49-F238E27FC236}">
                <a16:creationId xmlns:a16="http://schemas.microsoft.com/office/drawing/2014/main" id="{FBE5CC76-A6E0-4D94-8657-0CFE68D86A00}"/>
              </a:ext>
            </a:extLst>
          </p:cNvPr>
          <p:cNvSpPr>
            <a:spLocks noGrp="1"/>
          </p:cNvSpPr>
          <p:nvPr/>
        </p:nvSpPr>
        <p:spPr>
          <a:xfrm>
            <a:off x="1676400" y="2400300"/>
            <a:ext cx="86411" cy="213360"/>
          </a:xfrm>
          <a:prstGeom prst="roundRect">
            <a:avLst>
              <a:gd name="adj" fmla="val 50000"/>
            </a:avLst>
          </a:prstGeom>
          <a:solidFill>
            <a:srgbClr val="1484D6"/>
          </a:solidFill>
          <a:ln w="0">
            <a:solidFill>
              <a:srgbClr val="1484D6"/>
            </a:solidFill>
            <a:prstDash val="solid"/>
          </a:ln>
        </p:spPr>
        <p:txBody>
          <a:bodyPr/>
          <a:lstStyle/>
          <a:p>
            <a:endParaRPr lang="en-US" sz="1440"/>
          </a:p>
        </p:txBody>
      </p:sp>
      <p:sp>
        <p:nvSpPr>
          <p:cNvPr id="18" name="Rounded Rectangle 17">
            <a:extLst>
              <a:ext uri="{FF2B5EF4-FFF2-40B4-BE49-F238E27FC236}">
                <a16:creationId xmlns:a16="http://schemas.microsoft.com/office/drawing/2014/main" id="{6AE60E1F-1112-4D68-814D-77A1CB8220B1}"/>
              </a:ext>
            </a:extLst>
          </p:cNvPr>
          <p:cNvSpPr>
            <a:spLocks noGrp="1"/>
          </p:cNvSpPr>
          <p:nvPr/>
        </p:nvSpPr>
        <p:spPr>
          <a:xfrm>
            <a:off x="1676400" y="2720340"/>
            <a:ext cx="195453" cy="213360"/>
          </a:xfrm>
          <a:prstGeom prst="roundRect">
            <a:avLst>
              <a:gd name="adj" fmla="val 23392"/>
            </a:avLst>
          </a:prstGeom>
          <a:solidFill>
            <a:srgbClr val="EF7D00"/>
          </a:solidFill>
          <a:ln w="0">
            <a:solidFill>
              <a:srgbClr val="EF7D00"/>
            </a:solidFill>
            <a:prstDash val="solid"/>
          </a:ln>
        </p:spPr>
        <p:txBody>
          <a:bodyPr/>
          <a:lstStyle/>
          <a:p>
            <a:endParaRPr lang="en-US" sz="1440"/>
          </a:p>
        </p:txBody>
      </p:sp>
      <p:sp>
        <p:nvSpPr>
          <p:cNvPr id="19" name="Rectangle 18">
            <a:extLst>
              <a:ext uri="{FF2B5EF4-FFF2-40B4-BE49-F238E27FC236}">
                <a16:creationId xmlns:a16="http://schemas.microsoft.com/office/drawing/2014/main" id="{2F720D1E-98C1-461D-AF44-7579255BBC21}"/>
              </a:ext>
            </a:extLst>
          </p:cNvPr>
          <p:cNvSpPr>
            <a:spLocks noGrp="1"/>
          </p:cNvSpPr>
          <p:nvPr/>
        </p:nvSpPr>
        <p:spPr>
          <a:xfrm>
            <a:off x="1877111" y="2392680"/>
            <a:ext cx="685800" cy="182880"/>
          </a:xfrm>
          <a:prstGeom prst="rect">
            <a:avLst/>
          </a:prstGeom>
          <a:noFill/>
          <a:ln w="0">
            <a:noFill/>
            <a:prstDash val="solid"/>
          </a:ln>
        </p:spPr>
        <p:txBody>
          <a:bodyPr anchor="t">
            <a:noAutofit/>
          </a:bodyPr>
          <a:lstStyle/>
          <a:p>
            <a:pPr algn="l">
              <a:lnSpc>
                <a:spcPct val="108000"/>
              </a:lnSpc>
              <a:buNone/>
              <a:defRPr sz="1050" b="1" i="0">
                <a:solidFill>
                  <a:srgbClr val="1484D6"/>
                </a:solidFill>
                <a:latin typeface="Aptos"/>
                <a:ea typeface="Aptos"/>
                <a:cs typeface="Aptos"/>
              </a:defRPr>
            </a:pPr>
            <a:r>
              <a:rPr sz="840" b="1">
                <a:solidFill>
                  <a:srgbClr val="1484D6"/>
                </a:solidFill>
                <a:latin typeface="Aptos"/>
                <a:ea typeface="Aptos"/>
                <a:cs typeface="Aptos"/>
              </a:rPr>
              <a:t>0.42%</a:t>
            </a:r>
          </a:p>
        </p:txBody>
      </p:sp>
      <p:sp>
        <p:nvSpPr>
          <p:cNvPr id="20" name="Rectangle 19">
            <a:extLst>
              <a:ext uri="{FF2B5EF4-FFF2-40B4-BE49-F238E27FC236}">
                <a16:creationId xmlns:a16="http://schemas.microsoft.com/office/drawing/2014/main" id="{DF3E6726-6632-4183-A7D4-9F9F316D1A2F}"/>
              </a:ext>
            </a:extLst>
          </p:cNvPr>
          <p:cNvSpPr>
            <a:spLocks noGrp="1"/>
          </p:cNvSpPr>
          <p:nvPr/>
        </p:nvSpPr>
        <p:spPr>
          <a:xfrm>
            <a:off x="1986153" y="2705100"/>
            <a:ext cx="685800" cy="182880"/>
          </a:xfrm>
          <a:prstGeom prst="rect">
            <a:avLst/>
          </a:prstGeom>
          <a:noFill/>
          <a:ln w="0">
            <a:noFill/>
            <a:prstDash val="solid"/>
          </a:ln>
        </p:spPr>
        <p:txBody>
          <a:bodyPr anchor="t">
            <a:noAutofit/>
          </a:bodyPr>
          <a:lstStyle/>
          <a:p>
            <a:pPr algn="l">
              <a:lnSpc>
                <a:spcPct val="108000"/>
              </a:lnSpc>
              <a:buNone/>
              <a:defRPr sz="1050" b="1" i="0">
                <a:solidFill>
                  <a:srgbClr val="EF7D00"/>
                </a:solidFill>
                <a:latin typeface="Aptos"/>
                <a:ea typeface="Aptos"/>
                <a:cs typeface="Aptos"/>
              </a:defRPr>
            </a:pPr>
            <a:r>
              <a:rPr sz="840" b="1">
                <a:solidFill>
                  <a:srgbClr val="EF7D00"/>
                </a:solidFill>
                <a:latin typeface="Aptos"/>
                <a:ea typeface="Aptos"/>
                <a:cs typeface="Aptos"/>
              </a:rPr>
              <a:t>0.95%</a:t>
            </a:r>
          </a:p>
        </p:txBody>
      </p:sp>
      <p:sp>
        <p:nvSpPr>
          <p:cNvPr id="21" name="Rectangle 20">
            <a:extLst>
              <a:ext uri="{FF2B5EF4-FFF2-40B4-BE49-F238E27FC236}">
                <a16:creationId xmlns:a16="http://schemas.microsoft.com/office/drawing/2014/main" id="{C17D1522-659E-4DB0-B675-9775B130C08C}"/>
              </a:ext>
            </a:extLst>
          </p:cNvPr>
          <p:cNvSpPr>
            <a:spLocks noGrp="1"/>
          </p:cNvSpPr>
          <p:nvPr/>
        </p:nvSpPr>
        <p:spPr>
          <a:xfrm>
            <a:off x="800100" y="3390900"/>
            <a:ext cx="685800" cy="213360"/>
          </a:xfrm>
          <a:prstGeom prst="rect">
            <a:avLst/>
          </a:prstGeom>
          <a:noFill/>
          <a:ln w="0">
            <a:noFill/>
            <a:prstDash val="solid"/>
          </a:ln>
        </p:spPr>
        <p:txBody>
          <a:bodyPr anchor="t">
            <a:noAutofit/>
          </a:bodyPr>
          <a:lstStyle/>
          <a:p>
            <a:pPr algn="l">
              <a:lnSpc>
                <a:spcPct val="108000"/>
              </a:lnSpc>
              <a:buNone/>
              <a:defRPr sz="1350" b="1" i="0">
                <a:solidFill>
                  <a:srgbClr val="5A5A5A"/>
                </a:solidFill>
                <a:latin typeface="Aptos"/>
                <a:ea typeface="Aptos"/>
                <a:cs typeface="Aptos"/>
              </a:defRPr>
            </a:pPr>
            <a:r>
              <a:rPr sz="1080" b="1">
                <a:solidFill>
                  <a:srgbClr val="5A5A5A"/>
                </a:solidFill>
                <a:latin typeface="Aptos"/>
                <a:ea typeface="Aptos"/>
                <a:cs typeface="Aptos"/>
              </a:rPr>
              <a:t>3 days</a:t>
            </a:r>
          </a:p>
        </p:txBody>
      </p:sp>
      <p:sp>
        <p:nvSpPr>
          <p:cNvPr id="22" name="Rounded Rectangle 21">
            <a:extLst>
              <a:ext uri="{FF2B5EF4-FFF2-40B4-BE49-F238E27FC236}">
                <a16:creationId xmlns:a16="http://schemas.microsoft.com/office/drawing/2014/main" id="{0AE1FF35-C6EC-47D6-AA59-46A5110C9470}"/>
              </a:ext>
            </a:extLst>
          </p:cNvPr>
          <p:cNvSpPr>
            <a:spLocks noGrp="1"/>
          </p:cNvSpPr>
          <p:nvPr/>
        </p:nvSpPr>
        <p:spPr>
          <a:xfrm>
            <a:off x="1676400" y="3238500"/>
            <a:ext cx="921715" cy="213360"/>
          </a:xfrm>
          <a:prstGeom prst="roundRect">
            <a:avLst>
              <a:gd name="adj" fmla="val 21429"/>
            </a:avLst>
          </a:prstGeom>
          <a:solidFill>
            <a:srgbClr val="1484D6"/>
          </a:solidFill>
          <a:ln w="0">
            <a:solidFill>
              <a:srgbClr val="1484D6"/>
            </a:solidFill>
            <a:prstDash val="solid"/>
          </a:ln>
        </p:spPr>
        <p:txBody>
          <a:bodyPr/>
          <a:lstStyle/>
          <a:p>
            <a:endParaRPr lang="en-US" sz="1440"/>
          </a:p>
        </p:txBody>
      </p:sp>
      <p:sp>
        <p:nvSpPr>
          <p:cNvPr id="23" name="Rounded Rectangle 22">
            <a:extLst>
              <a:ext uri="{FF2B5EF4-FFF2-40B4-BE49-F238E27FC236}">
                <a16:creationId xmlns:a16="http://schemas.microsoft.com/office/drawing/2014/main" id="{A9F5981C-5E97-48B4-BC5A-F5FD032401C7}"/>
              </a:ext>
            </a:extLst>
          </p:cNvPr>
          <p:cNvSpPr>
            <a:spLocks noGrp="1"/>
          </p:cNvSpPr>
          <p:nvPr/>
        </p:nvSpPr>
        <p:spPr>
          <a:xfrm>
            <a:off x="1676400" y="3558540"/>
            <a:ext cx="1623289" cy="213360"/>
          </a:xfrm>
          <a:prstGeom prst="roundRect">
            <a:avLst>
              <a:gd name="adj" fmla="val 21429"/>
            </a:avLst>
          </a:prstGeom>
          <a:solidFill>
            <a:srgbClr val="EF7D00"/>
          </a:solidFill>
          <a:ln w="0">
            <a:solidFill>
              <a:srgbClr val="EF7D00"/>
            </a:solidFill>
            <a:prstDash val="solid"/>
          </a:ln>
        </p:spPr>
        <p:txBody>
          <a:bodyPr/>
          <a:lstStyle/>
          <a:p>
            <a:endParaRPr lang="en-US" sz="1440"/>
          </a:p>
        </p:txBody>
      </p:sp>
      <p:sp>
        <p:nvSpPr>
          <p:cNvPr id="24" name="Rectangle 23">
            <a:extLst>
              <a:ext uri="{FF2B5EF4-FFF2-40B4-BE49-F238E27FC236}">
                <a16:creationId xmlns:a16="http://schemas.microsoft.com/office/drawing/2014/main" id="{82F8BC15-DC77-45FE-A521-FAEB05650D82}"/>
              </a:ext>
            </a:extLst>
          </p:cNvPr>
          <p:cNvSpPr>
            <a:spLocks noGrp="1"/>
          </p:cNvSpPr>
          <p:nvPr/>
        </p:nvSpPr>
        <p:spPr>
          <a:xfrm>
            <a:off x="2712415" y="3230880"/>
            <a:ext cx="685800" cy="182880"/>
          </a:xfrm>
          <a:prstGeom prst="rect">
            <a:avLst/>
          </a:prstGeom>
          <a:noFill/>
          <a:ln w="0">
            <a:noFill/>
            <a:prstDash val="solid"/>
          </a:ln>
        </p:spPr>
        <p:txBody>
          <a:bodyPr anchor="t">
            <a:noAutofit/>
          </a:bodyPr>
          <a:lstStyle/>
          <a:p>
            <a:pPr algn="l">
              <a:lnSpc>
                <a:spcPct val="108000"/>
              </a:lnSpc>
              <a:buNone/>
              <a:defRPr sz="1050" b="1" i="0">
                <a:solidFill>
                  <a:srgbClr val="1484D6"/>
                </a:solidFill>
                <a:latin typeface="Aptos"/>
                <a:ea typeface="Aptos"/>
                <a:cs typeface="Aptos"/>
              </a:defRPr>
            </a:pPr>
            <a:r>
              <a:rPr sz="840" b="1">
                <a:solidFill>
                  <a:srgbClr val="1484D6"/>
                </a:solidFill>
                <a:latin typeface="Aptos"/>
                <a:ea typeface="Aptos"/>
                <a:cs typeface="Aptos"/>
              </a:rPr>
              <a:t>4.48%</a:t>
            </a:r>
          </a:p>
        </p:txBody>
      </p:sp>
      <p:sp>
        <p:nvSpPr>
          <p:cNvPr id="25" name="Rectangle 24">
            <a:extLst>
              <a:ext uri="{FF2B5EF4-FFF2-40B4-BE49-F238E27FC236}">
                <a16:creationId xmlns:a16="http://schemas.microsoft.com/office/drawing/2014/main" id="{2165D767-F44F-4FD8-96E1-FAB422A1F2E2}"/>
              </a:ext>
            </a:extLst>
          </p:cNvPr>
          <p:cNvSpPr>
            <a:spLocks noGrp="1"/>
          </p:cNvSpPr>
          <p:nvPr/>
        </p:nvSpPr>
        <p:spPr>
          <a:xfrm>
            <a:off x="3413989" y="3543300"/>
            <a:ext cx="685800" cy="182880"/>
          </a:xfrm>
          <a:prstGeom prst="rect">
            <a:avLst/>
          </a:prstGeom>
          <a:noFill/>
          <a:ln w="0">
            <a:noFill/>
            <a:prstDash val="solid"/>
          </a:ln>
        </p:spPr>
        <p:txBody>
          <a:bodyPr anchor="t">
            <a:noAutofit/>
          </a:bodyPr>
          <a:lstStyle/>
          <a:p>
            <a:pPr algn="l">
              <a:lnSpc>
                <a:spcPct val="108000"/>
              </a:lnSpc>
              <a:buNone/>
              <a:defRPr sz="1050" b="1" i="0">
                <a:solidFill>
                  <a:srgbClr val="EF7D00"/>
                </a:solidFill>
                <a:latin typeface="Aptos"/>
                <a:ea typeface="Aptos"/>
                <a:cs typeface="Aptos"/>
              </a:defRPr>
            </a:pPr>
            <a:r>
              <a:rPr sz="840" b="1">
                <a:solidFill>
                  <a:srgbClr val="EF7D00"/>
                </a:solidFill>
                <a:latin typeface="Aptos"/>
                <a:ea typeface="Aptos"/>
                <a:cs typeface="Aptos"/>
              </a:rPr>
              <a:t>7.89%</a:t>
            </a:r>
          </a:p>
        </p:txBody>
      </p:sp>
      <p:sp>
        <p:nvSpPr>
          <p:cNvPr id="26" name="Rectangle 25">
            <a:extLst>
              <a:ext uri="{FF2B5EF4-FFF2-40B4-BE49-F238E27FC236}">
                <a16:creationId xmlns:a16="http://schemas.microsoft.com/office/drawing/2014/main" id="{075CBFA3-C07B-4BD9-8FDA-C32FF126A95F}"/>
              </a:ext>
            </a:extLst>
          </p:cNvPr>
          <p:cNvSpPr>
            <a:spLocks noGrp="1"/>
          </p:cNvSpPr>
          <p:nvPr/>
        </p:nvSpPr>
        <p:spPr>
          <a:xfrm>
            <a:off x="800100" y="4229100"/>
            <a:ext cx="685800" cy="213360"/>
          </a:xfrm>
          <a:prstGeom prst="rect">
            <a:avLst/>
          </a:prstGeom>
          <a:noFill/>
          <a:ln w="0">
            <a:noFill/>
            <a:prstDash val="solid"/>
          </a:ln>
        </p:spPr>
        <p:txBody>
          <a:bodyPr anchor="t">
            <a:noAutofit/>
          </a:bodyPr>
          <a:lstStyle/>
          <a:p>
            <a:pPr algn="l">
              <a:lnSpc>
                <a:spcPct val="108000"/>
              </a:lnSpc>
              <a:buNone/>
              <a:defRPr sz="1350" b="1" i="0">
                <a:solidFill>
                  <a:srgbClr val="5A5A5A"/>
                </a:solidFill>
                <a:latin typeface="Aptos"/>
                <a:ea typeface="Aptos"/>
                <a:cs typeface="Aptos"/>
              </a:defRPr>
            </a:pPr>
            <a:r>
              <a:rPr sz="1080" b="1">
                <a:solidFill>
                  <a:srgbClr val="5A5A5A"/>
                </a:solidFill>
                <a:latin typeface="Aptos"/>
                <a:ea typeface="Aptos"/>
                <a:cs typeface="Aptos"/>
              </a:rPr>
              <a:t>7 days</a:t>
            </a:r>
          </a:p>
        </p:txBody>
      </p:sp>
      <p:sp>
        <p:nvSpPr>
          <p:cNvPr id="27" name="Rounded Rectangle 26">
            <a:extLst>
              <a:ext uri="{FF2B5EF4-FFF2-40B4-BE49-F238E27FC236}">
                <a16:creationId xmlns:a16="http://schemas.microsoft.com/office/drawing/2014/main" id="{737A1FCD-DC8C-401C-926C-825CD14935D8}"/>
              </a:ext>
            </a:extLst>
          </p:cNvPr>
          <p:cNvSpPr>
            <a:spLocks noGrp="1"/>
          </p:cNvSpPr>
          <p:nvPr/>
        </p:nvSpPr>
        <p:spPr>
          <a:xfrm>
            <a:off x="1676401" y="4076700"/>
            <a:ext cx="1820799" cy="213360"/>
          </a:xfrm>
          <a:prstGeom prst="roundRect">
            <a:avLst>
              <a:gd name="adj" fmla="val 21429"/>
            </a:avLst>
          </a:prstGeom>
          <a:solidFill>
            <a:srgbClr val="1484D6"/>
          </a:solidFill>
          <a:ln w="0">
            <a:solidFill>
              <a:srgbClr val="1484D6"/>
            </a:solidFill>
            <a:prstDash val="solid"/>
          </a:ln>
        </p:spPr>
        <p:txBody>
          <a:bodyPr/>
          <a:lstStyle/>
          <a:p>
            <a:endParaRPr lang="en-US" sz="1440"/>
          </a:p>
        </p:txBody>
      </p:sp>
      <p:sp>
        <p:nvSpPr>
          <p:cNvPr id="28" name="Rounded Rectangle 27">
            <a:extLst>
              <a:ext uri="{FF2B5EF4-FFF2-40B4-BE49-F238E27FC236}">
                <a16:creationId xmlns:a16="http://schemas.microsoft.com/office/drawing/2014/main" id="{C206A35A-B2C6-43A6-A72A-A1C5904068F8}"/>
              </a:ext>
            </a:extLst>
          </p:cNvPr>
          <p:cNvSpPr>
            <a:spLocks noGrp="1"/>
          </p:cNvSpPr>
          <p:nvPr/>
        </p:nvSpPr>
        <p:spPr>
          <a:xfrm>
            <a:off x="1676401" y="4396740"/>
            <a:ext cx="2491511" cy="213360"/>
          </a:xfrm>
          <a:prstGeom prst="roundRect">
            <a:avLst>
              <a:gd name="adj" fmla="val 21429"/>
            </a:avLst>
          </a:prstGeom>
          <a:solidFill>
            <a:srgbClr val="EF7D00"/>
          </a:solidFill>
          <a:ln w="0">
            <a:solidFill>
              <a:srgbClr val="EF7D00"/>
            </a:solidFill>
            <a:prstDash val="solid"/>
          </a:ln>
        </p:spPr>
        <p:txBody>
          <a:bodyPr/>
          <a:lstStyle/>
          <a:p>
            <a:endParaRPr lang="en-US" sz="1440"/>
          </a:p>
        </p:txBody>
      </p:sp>
      <p:sp>
        <p:nvSpPr>
          <p:cNvPr id="29" name="Rectangle 28">
            <a:extLst>
              <a:ext uri="{FF2B5EF4-FFF2-40B4-BE49-F238E27FC236}">
                <a16:creationId xmlns:a16="http://schemas.microsoft.com/office/drawing/2014/main" id="{D2392266-4AC4-4813-B3C3-FDBDEB7F6A45}"/>
              </a:ext>
            </a:extLst>
          </p:cNvPr>
          <p:cNvSpPr>
            <a:spLocks noGrp="1"/>
          </p:cNvSpPr>
          <p:nvPr/>
        </p:nvSpPr>
        <p:spPr>
          <a:xfrm>
            <a:off x="3611499" y="4069080"/>
            <a:ext cx="685800" cy="182880"/>
          </a:xfrm>
          <a:prstGeom prst="rect">
            <a:avLst/>
          </a:prstGeom>
          <a:noFill/>
          <a:ln w="0">
            <a:noFill/>
            <a:prstDash val="solid"/>
          </a:ln>
        </p:spPr>
        <p:txBody>
          <a:bodyPr anchor="t">
            <a:noAutofit/>
          </a:bodyPr>
          <a:lstStyle/>
          <a:p>
            <a:pPr algn="l">
              <a:lnSpc>
                <a:spcPct val="108000"/>
              </a:lnSpc>
              <a:buNone/>
              <a:defRPr sz="1050" b="1" i="0">
                <a:solidFill>
                  <a:srgbClr val="1484D6"/>
                </a:solidFill>
                <a:latin typeface="Aptos"/>
                <a:ea typeface="Aptos"/>
                <a:cs typeface="Aptos"/>
              </a:defRPr>
            </a:pPr>
            <a:r>
              <a:rPr sz="840" b="1">
                <a:solidFill>
                  <a:srgbClr val="1484D6"/>
                </a:solidFill>
                <a:latin typeface="Aptos"/>
                <a:ea typeface="Aptos"/>
                <a:cs typeface="Aptos"/>
              </a:rPr>
              <a:t>8.85%</a:t>
            </a:r>
          </a:p>
        </p:txBody>
      </p:sp>
      <p:sp>
        <p:nvSpPr>
          <p:cNvPr id="30" name="Rectangle 29">
            <a:extLst>
              <a:ext uri="{FF2B5EF4-FFF2-40B4-BE49-F238E27FC236}">
                <a16:creationId xmlns:a16="http://schemas.microsoft.com/office/drawing/2014/main" id="{67CBC58C-B4D8-438B-A54B-408945F6BCE1}"/>
              </a:ext>
            </a:extLst>
          </p:cNvPr>
          <p:cNvSpPr>
            <a:spLocks noGrp="1"/>
          </p:cNvSpPr>
          <p:nvPr/>
        </p:nvSpPr>
        <p:spPr>
          <a:xfrm>
            <a:off x="4282211" y="4381500"/>
            <a:ext cx="685800" cy="182880"/>
          </a:xfrm>
          <a:prstGeom prst="rect">
            <a:avLst/>
          </a:prstGeom>
          <a:noFill/>
          <a:ln w="0">
            <a:noFill/>
            <a:prstDash val="solid"/>
          </a:ln>
        </p:spPr>
        <p:txBody>
          <a:bodyPr anchor="t">
            <a:noAutofit/>
          </a:bodyPr>
          <a:lstStyle/>
          <a:p>
            <a:pPr algn="l">
              <a:lnSpc>
                <a:spcPct val="108000"/>
              </a:lnSpc>
              <a:buNone/>
              <a:defRPr sz="1050" b="1" i="0">
                <a:solidFill>
                  <a:srgbClr val="EF7D00"/>
                </a:solidFill>
                <a:latin typeface="Aptos"/>
                <a:ea typeface="Aptos"/>
                <a:cs typeface="Aptos"/>
              </a:defRPr>
            </a:pPr>
            <a:r>
              <a:rPr sz="840" b="1">
                <a:solidFill>
                  <a:srgbClr val="EF7D00"/>
                </a:solidFill>
                <a:latin typeface="Aptos"/>
                <a:ea typeface="Aptos"/>
                <a:cs typeface="Aptos"/>
              </a:rPr>
              <a:t>12.11%</a:t>
            </a:r>
          </a:p>
        </p:txBody>
      </p:sp>
      <p:sp>
        <p:nvSpPr>
          <p:cNvPr id="31" name="Rounded Rectangle 30">
            <a:extLst>
              <a:ext uri="{FF2B5EF4-FFF2-40B4-BE49-F238E27FC236}">
                <a16:creationId xmlns:a16="http://schemas.microsoft.com/office/drawing/2014/main" id="{2878CE5E-FC77-4CE2-AEE1-237406FB829B}"/>
              </a:ext>
            </a:extLst>
          </p:cNvPr>
          <p:cNvSpPr>
            <a:spLocks noGrp="1"/>
          </p:cNvSpPr>
          <p:nvPr/>
        </p:nvSpPr>
        <p:spPr>
          <a:xfrm>
            <a:off x="5867400" y="1790700"/>
            <a:ext cx="5562600" cy="3200400"/>
          </a:xfrm>
          <a:prstGeom prst="roundRect">
            <a:avLst>
              <a:gd name="adj" fmla="val 3810"/>
            </a:avLst>
          </a:prstGeom>
          <a:solidFill>
            <a:srgbClr val="F7F6F2"/>
          </a:solidFill>
          <a:ln w="17145">
            <a:solidFill>
              <a:srgbClr val="00A870"/>
            </a:solidFill>
            <a:prstDash val="solid"/>
          </a:ln>
        </p:spPr>
        <p:txBody>
          <a:bodyPr/>
          <a:lstStyle/>
          <a:p>
            <a:endParaRPr lang="en-US" sz="1440"/>
          </a:p>
        </p:txBody>
      </p:sp>
      <p:sp>
        <p:nvSpPr>
          <p:cNvPr id="32" name="Rectangle 31">
            <a:extLst>
              <a:ext uri="{FF2B5EF4-FFF2-40B4-BE49-F238E27FC236}">
                <a16:creationId xmlns:a16="http://schemas.microsoft.com/office/drawing/2014/main" id="{5C1A7189-9135-4928-8C90-F6F01326EF8E}"/>
              </a:ext>
            </a:extLst>
          </p:cNvPr>
          <p:cNvSpPr>
            <a:spLocks noGrp="1"/>
          </p:cNvSpPr>
          <p:nvPr/>
        </p:nvSpPr>
        <p:spPr>
          <a:xfrm>
            <a:off x="6172200" y="2057400"/>
            <a:ext cx="4953000" cy="304800"/>
          </a:xfrm>
          <a:prstGeom prst="rect">
            <a:avLst/>
          </a:prstGeom>
          <a:noFill/>
          <a:ln w="0">
            <a:noFill/>
            <a:prstDash val="solid"/>
          </a:ln>
        </p:spPr>
        <p:txBody>
          <a:bodyPr anchor="t">
            <a:noAutofit/>
          </a:bodyPr>
          <a:lstStyle/>
          <a:p>
            <a:pPr algn="ctr">
              <a:lnSpc>
                <a:spcPct val="108000"/>
              </a:lnSpc>
              <a:buNone/>
              <a:defRPr sz="2175" b="1" i="0">
                <a:solidFill>
                  <a:srgbClr val="00A870"/>
                </a:solidFill>
                <a:latin typeface="Georgia"/>
                <a:ea typeface="Georgia"/>
                <a:cs typeface="Georgia"/>
              </a:defRPr>
            </a:pPr>
            <a:r>
              <a:rPr sz="1740" b="1">
                <a:solidFill>
                  <a:srgbClr val="00A870"/>
                </a:solidFill>
                <a:latin typeface="Georgia"/>
                <a:ea typeface="Georgia"/>
                <a:cs typeface="Georgia"/>
              </a:rPr>
              <a:t>Sequential logistic validation</a:t>
            </a:r>
          </a:p>
        </p:txBody>
      </p:sp>
      <p:sp>
        <p:nvSpPr>
          <p:cNvPr id="33" name="Rectangle 32">
            <a:extLst>
              <a:ext uri="{FF2B5EF4-FFF2-40B4-BE49-F238E27FC236}">
                <a16:creationId xmlns:a16="http://schemas.microsoft.com/office/drawing/2014/main" id="{D675D0FE-06F0-4B81-AAC4-3F5280014BB1}"/>
              </a:ext>
            </a:extLst>
          </p:cNvPr>
          <p:cNvSpPr>
            <a:spLocks noGrp="1"/>
          </p:cNvSpPr>
          <p:nvPr/>
        </p:nvSpPr>
        <p:spPr>
          <a:xfrm>
            <a:off x="6172200" y="2705100"/>
            <a:ext cx="1104900" cy="182880"/>
          </a:xfrm>
          <a:prstGeom prst="rect">
            <a:avLst/>
          </a:prstGeom>
          <a:noFill/>
          <a:ln w="0">
            <a:noFill/>
            <a:prstDash val="solid"/>
          </a:ln>
        </p:spPr>
        <p:txBody>
          <a:bodyPr anchor="t">
            <a:noAutofit/>
          </a:bodyPr>
          <a:lstStyle/>
          <a:p>
            <a:pPr algn="ctr">
              <a:lnSpc>
                <a:spcPct val="108000"/>
              </a:lnSpc>
              <a:buNone/>
              <a:defRPr sz="1050" b="1" i="0">
                <a:solidFill>
                  <a:srgbClr val="5A5A5A"/>
                </a:solidFill>
                <a:latin typeface="Aptos"/>
                <a:ea typeface="Aptos"/>
                <a:cs typeface="Aptos"/>
              </a:defRPr>
            </a:pPr>
            <a:r>
              <a:rPr sz="840" b="1">
                <a:solidFill>
                  <a:srgbClr val="5A5A5A"/>
                </a:solidFill>
                <a:latin typeface="Aptos"/>
                <a:ea typeface="Aptos"/>
                <a:cs typeface="Aptos"/>
              </a:rPr>
              <a:t>M1</a:t>
            </a:r>
          </a:p>
        </p:txBody>
      </p:sp>
      <p:sp>
        <p:nvSpPr>
          <p:cNvPr id="34" name="Rectangle 33">
            <a:extLst>
              <a:ext uri="{FF2B5EF4-FFF2-40B4-BE49-F238E27FC236}">
                <a16:creationId xmlns:a16="http://schemas.microsoft.com/office/drawing/2014/main" id="{ED3AB055-5BD8-4DB5-A1E5-318AB1BC5FDA}"/>
              </a:ext>
            </a:extLst>
          </p:cNvPr>
          <p:cNvSpPr>
            <a:spLocks noGrp="1"/>
          </p:cNvSpPr>
          <p:nvPr/>
        </p:nvSpPr>
        <p:spPr>
          <a:xfrm>
            <a:off x="6172200" y="2971800"/>
            <a:ext cx="1104900" cy="381000"/>
          </a:xfrm>
          <a:prstGeom prst="rect">
            <a:avLst/>
          </a:prstGeom>
          <a:noFill/>
          <a:ln w="0">
            <a:noFill/>
            <a:prstDash val="solid"/>
          </a:ln>
        </p:spPr>
        <p:txBody>
          <a:bodyPr anchor="t">
            <a:noAutofit/>
          </a:bodyPr>
          <a:lstStyle/>
          <a:p>
            <a:pPr algn="ctr">
              <a:lnSpc>
                <a:spcPct val="108000"/>
              </a:lnSpc>
              <a:buNone/>
              <a:defRPr sz="2850" b="1" i="0">
                <a:solidFill>
                  <a:srgbClr val="00A870"/>
                </a:solidFill>
                <a:latin typeface="Georgia"/>
                <a:ea typeface="Georgia"/>
                <a:cs typeface="Georgia"/>
              </a:defRPr>
            </a:pPr>
            <a:r>
              <a:rPr sz="2280" b="1">
                <a:solidFill>
                  <a:srgbClr val="00A870"/>
                </a:solidFill>
                <a:latin typeface="Georgia"/>
                <a:ea typeface="Georgia"/>
                <a:cs typeface="Georgia"/>
              </a:rPr>
              <a:t>1.42</a:t>
            </a:r>
          </a:p>
        </p:txBody>
      </p:sp>
      <p:sp>
        <p:nvSpPr>
          <p:cNvPr id="35" name="Rectangle 34">
            <a:extLst>
              <a:ext uri="{FF2B5EF4-FFF2-40B4-BE49-F238E27FC236}">
                <a16:creationId xmlns:a16="http://schemas.microsoft.com/office/drawing/2014/main" id="{2FF00C4B-BD98-49E1-84C9-476E07F3ECB7}"/>
              </a:ext>
            </a:extLst>
          </p:cNvPr>
          <p:cNvSpPr>
            <a:spLocks noGrp="1"/>
          </p:cNvSpPr>
          <p:nvPr/>
        </p:nvSpPr>
        <p:spPr>
          <a:xfrm>
            <a:off x="6172200" y="3467100"/>
            <a:ext cx="1104900" cy="335280"/>
          </a:xfrm>
          <a:prstGeom prst="rect">
            <a:avLst/>
          </a:prstGeom>
          <a:noFill/>
          <a:ln w="0">
            <a:noFill/>
            <a:prstDash val="solid"/>
          </a:ln>
        </p:spPr>
        <p:txBody>
          <a:bodyPr anchor="ctr">
            <a:normAutofit/>
          </a:bodyPr>
          <a:lstStyle/>
          <a:p>
            <a:pPr algn="ctr">
              <a:lnSpc>
                <a:spcPct val="108000"/>
              </a:lnSpc>
              <a:buNone/>
              <a:defRPr sz="1275" b="0" i="0">
                <a:solidFill>
                  <a:srgbClr val="5A5A5A"/>
                </a:solidFill>
                <a:latin typeface="Aptos"/>
                <a:ea typeface="Aptos"/>
                <a:cs typeface="Aptos"/>
              </a:defRPr>
            </a:pPr>
            <a:r>
              <a:rPr sz="1020">
                <a:solidFill>
                  <a:srgbClr val="5A5A5A"/>
                </a:solidFill>
                <a:latin typeface="Aptos"/>
                <a:ea typeface="Aptos"/>
                <a:cs typeface="Aptos"/>
              </a:rPr>
              <a:t>RIWT only</a:t>
            </a:r>
          </a:p>
        </p:txBody>
      </p:sp>
      <p:sp>
        <p:nvSpPr>
          <p:cNvPr id="36" name="Rectangle 35">
            <a:extLst>
              <a:ext uri="{FF2B5EF4-FFF2-40B4-BE49-F238E27FC236}">
                <a16:creationId xmlns:a16="http://schemas.microsoft.com/office/drawing/2014/main" id="{62CA6F02-A230-4DAB-8B03-05C5761553E2}"/>
              </a:ext>
            </a:extLst>
          </p:cNvPr>
          <p:cNvSpPr>
            <a:spLocks noGrp="1"/>
          </p:cNvSpPr>
          <p:nvPr/>
        </p:nvSpPr>
        <p:spPr>
          <a:xfrm>
            <a:off x="7239000" y="3070860"/>
            <a:ext cx="228600" cy="213360"/>
          </a:xfrm>
          <a:prstGeom prst="rect">
            <a:avLst/>
          </a:prstGeom>
          <a:noFill/>
          <a:ln w="0">
            <a:noFill/>
            <a:prstDash val="solid"/>
          </a:ln>
        </p:spPr>
        <p:txBody>
          <a:bodyPr anchor="t">
            <a:noAutofit/>
          </a:bodyPr>
          <a:lstStyle/>
          <a:p>
            <a:pPr algn="ctr">
              <a:lnSpc>
                <a:spcPct val="108000"/>
              </a:lnSpc>
              <a:buNone/>
              <a:defRPr sz="1875" b="0" i="0">
                <a:solidFill>
                  <a:srgbClr val="B9B9B9"/>
                </a:solidFill>
                <a:latin typeface="Aptos"/>
                <a:ea typeface="Aptos"/>
                <a:cs typeface="Aptos"/>
              </a:defRPr>
            </a:pPr>
            <a:r>
              <a:rPr sz="1500">
                <a:solidFill>
                  <a:srgbClr val="B9B9B9"/>
                </a:solidFill>
                <a:latin typeface="Aptos"/>
                <a:ea typeface="Aptos"/>
                <a:cs typeface="Aptos"/>
              </a:rPr>
              <a:t>→</a:t>
            </a:r>
          </a:p>
        </p:txBody>
      </p:sp>
      <p:sp>
        <p:nvSpPr>
          <p:cNvPr id="37" name="Rectangle 36">
            <a:extLst>
              <a:ext uri="{FF2B5EF4-FFF2-40B4-BE49-F238E27FC236}">
                <a16:creationId xmlns:a16="http://schemas.microsoft.com/office/drawing/2014/main" id="{E2FDE442-BF1E-4EAF-AB91-DC7DFBA71428}"/>
              </a:ext>
            </a:extLst>
          </p:cNvPr>
          <p:cNvSpPr>
            <a:spLocks noGrp="1"/>
          </p:cNvSpPr>
          <p:nvPr/>
        </p:nvSpPr>
        <p:spPr>
          <a:xfrm>
            <a:off x="7429500" y="2705100"/>
            <a:ext cx="1104900" cy="182880"/>
          </a:xfrm>
          <a:prstGeom prst="rect">
            <a:avLst/>
          </a:prstGeom>
          <a:noFill/>
          <a:ln w="0">
            <a:noFill/>
            <a:prstDash val="solid"/>
          </a:ln>
        </p:spPr>
        <p:txBody>
          <a:bodyPr anchor="t">
            <a:noAutofit/>
          </a:bodyPr>
          <a:lstStyle/>
          <a:p>
            <a:pPr algn="ctr">
              <a:lnSpc>
                <a:spcPct val="108000"/>
              </a:lnSpc>
              <a:buNone/>
              <a:defRPr sz="1050" b="1" i="0">
                <a:solidFill>
                  <a:srgbClr val="5A5A5A"/>
                </a:solidFill>
                <a:latin typeface="Aptos"/>
                <a:ea typeface="Aptos"/>
                <a:cs typeface="Aptos"/>
              </a:defRPr>
            </a:pPr>
            <a:r>
              <a:rPr sz="840" b="1">
                <a:solidFill>
                  <a:srgbClr val="5A5A5A"/>
                </a:solidFill>
                <a:latin typeface="Aptos"/>
                <a:ea typeface="Aptos"/>
                <a:cs typeface="Aptos"/>
              </a:rPr>
              <a:t>M2</a:t>
            </a:r>
          </a:p>
        </p:txBody>
      </p:sp>
      <p:sp>
        <p:nvSpPr>
          <p:cNvPr id="38" name="Rectangle 37">
            <a:extLst>
              <a:ext uri="{FF2B5EF4-FFF2-40B4-BE49-F238E27FC236}">
                <a16:creationId xmlns:a16="http://schemas.microsoft.com/office/drawing/2014/main" id="{B3C1F892-636F-456C-917E-7C94169B2A6A}"/>
              </a:ext>
            </a:extLst>
          </p:cNvPr>
          <p:cNvSpPr>
            <a:spLocks noGrp="1"/>
          </p:cNvSpPr>
          <p:nvPr/>
        </p:nvSpPr>
        <p:spPr>
          <a:xfrm>
            <a:off x="7429500" y="2971800"/>
            <a:ext cx="1104900" cy="381000"/>
          </a:xfrm>
          <a:prstGeom prst="rect">
            <a:avLst/>
          </a:prstGeom>
          <a:noFill/>
          <a:ln w="0">
            <a:noFill/>
            <a:prstDash val="solid"/>
          </a:ln>
        </p:spPr>
        <p:txBody>
          <a:bodyPr anchor="t">
            <a:noAutofit/>
          </a:bodyPr>
          <a:lstStyle/>
          <a:p>
            <a:pPr algn="ctr">
              <a:lnSpc>
                <a:spcPct val="108000"/>
              </a:lnSpc>
              <a:buNone/>
              <a:defRPr sz="2850" b="1" i="0">
                <a:solidFill>
                  <a:srgbClr val="00A870"/>
                </a:solidFill>
                <a:latin typeface="Georgia"/>
                <a:ea typeface="Georgia"/>
                <a:cs typeface="Georgia"/>
              </a:defRPr>
            </a:pPr>
            <a:r>
              <a:rPr sz="2280" b="1">
                <a:solidFill>
                  <a:srgbClr val="00A870"/>
                </a:solidFill>
                <a:latin typeface="Georgia"/>
                <a:ea typeface="Georgia"/>
                <a:cs typeface="Georgia"/>
              </a:rPr>
              <a:t>1.39</a:t>
            </a:r>
          </a:p>
        </p:txBody>
      </p:sp>
      <p:sp>
        <p:nvSpPr>
          <p:cNvPr id="39" name="Rectangle 38">
            <a:extLst>
              <a:ext uri="{FF2B5EF4-FFF2-40B4-BE49-F238E27FC236}">
                <a16:creationId xmlns:a16="http://schemas.microsoft.com/office/drawing/2014/main" id="{0EC14619-1C02-47E1-987B-90F9D6662360}"/>
              </a:ext>
            </a:extLst>
          </p:cNvPr>
          <p:cNvSpPr>
            <a:spLocks noGrp="1"/>
          </p:cNvSpPr>
          <p:nvPr/>
        </p:nvSpPr>
        <p:spPr>
          <a:xfrm>
            <a:off x="7429500" y="3467100"/>
            <a:ext cx="1104900" cy="335280"/>
          </a:xfrm>
          <a:prstGeom prst="rect">
            <a:avLst/>
          </a:prstGeom>
          <a:noFill/>
          <a:ln w="0">
            <a:noFill/>
            <a:prstDash val="solid"/>
          </a:ln>
        </p:spPr>
        <p:txBody>
          <a:bodyPr anchor="ctr">
            <a:normAutofit/>
          </a:bodyPr>
          <a:lstStyle/>
          <a:p>
            <a:pPr algn="ctr">
              <a:lnSpc>
                <a:spcPct val="108000"/>
              </a:lnSpc>
              <a:buNone/>
              <a:defRPr sz="1275" b="0" i="0">
                <a:solidFill>
                  <a:srgbClr val="5A5A5A"/>
                </a:solidFill>
                <a:latin typeface="Aptos"/>
                <a:ea typeface="Aptos"/>
                <a:cs typeface="Aptos"/>
              </a:defRPr>
            </a:pPr>
            <a:r>
              <a:rPr sz="1020">
                <a:solidFill>
                  <a:srgbClr val="5A5A5A"/>
                </a:solidFill>
                <a:latin typeface="Aptos"/>
                <a:ea typeface="Aptos"/>
                <a:cs typeface="Aptos"/>
              </a:rPr>
              <a:t>+ age, sex</a:t>
            </a:r>
          </a:p>
        </p:txBody>
      </p:sp>
      <p:sp>
        <p:nvSpPr>
          <p:cNvPr id="40" name="Rectangle 39">
            <a:extLst>
              <a:ext uri="{FF2B5EF4-FFF2-40B4-BE49-F238E27FC236}">
                <a16:creationId xmlns:a16="http://schemas.microsoft.com/office/drawing/2014/main" id="{05A0DB40-D5AD-4D09-B9CE-3A0F80EBB2F2}"/>
              </a:ext>
            </a:extLst>
          </p:cNvPr>
          <p:cNvSpPr>
            <a:spLocks noGrp="1"/>
          </p:cNvSpPr>
          <p:nvPr/>
        </p:nvSpPr>
        <p:spPr>
          <a:xfrm>
            <a:off x="8496300" y="3070860"/>
            <a:ext cx="228600" cy="213360"/>
          </a:xfrm>
          <a:prstGeom prst="rect">
            <a:avLst/>
          </a:prstGeom>
          <a:noFill/>
          <a:ln w="0">
            <a:noFill/>
            <a:prstDash val="solid"/>
          </a:ln>
        </p:spPr>
        <p:txBody>
          <a:bodyPr anchor="t">
            <a:noAutofit/>
          </a:bodyPr>
          <a:lstStyle/>
          <a:p>
            <a:pPr algn="ctr">
              <a:lnSpc>
                <a:spcPct val="108000"/>
              </a:lnSpc>
              <a:buNone/>
              <a:defRPr sz="1875" b="0" i="0">
                <a:solidFill>
                  <a:srgbClr val="B9B9B9"/>
                </a:solidFill>
                <a:latin typeface="Aptos"/>
                <a:ea typeface="Aptos"/>
                <a:cs typeface="Aptos"/>
              </a:defRPr>
            </a:pPr>
            <a:r>
              <a:rPr sz="1500">
                <a:solidFill>
                  <a:srgbClr val="B9B9B9"/>
                </a:solidFill>
                <a:latin typeface="Aptos"/>
                <a:ea typeface="Aptos"/>
                <a:cs typeface="Aptos"/>
              </a:rPr>
              <a:t>→</a:t>
            </a:r>
          </a:p>
        </p:txBody>
      </p:sp>
      <p:sp>
        <p:nvSpPr>
          <p:cNvPr id="41" name="Rectangle 40">
            <a:extLst>
              <a:ext uri="{FF2B5EF4-FFF2-40B4-BE49-F238E27FC236}">
                <a16:creationId xmlns:a16="http://schemas.microsoft.com/office/drawing/2014/main" id="{24193756-8291-4C85-AEB6-2440BBA54233}"/>
              </a:ext>
            </a:extLst>
          </p:cNvPr>
          <p:cNvSpPr>
            <a:spLocks noGrp="1"/>
          </p:cNvSpPr>
          <p:nvPr/>
        </p:nvSpPr>
        <p:spPr>
          <a:xfrm>
            <a:off x="8686800" y="2705100"/>
            <a:ext cx="1104900" cy="182880"/>
          </a:xfrm>
          <a:prstGeom prst="rect">
            <a:avLst/>
          </a:prstGeom>
          <a:noFill/>
          <a:ln w="0">
            <a:noFill/>
            <a:prstDash val="solid"/>
          </a:ln>
        </p:spPr>
        <p:txBody>
          <a:bodyPr anchor="t">
            <a:noAutofit/>
          </a:bodyPr>
          <a:lstStyle/>
          <a:p>
            <a:pPr algn="ctr">
              <a:lnSpc>
                <a:spcPct val="108000"/>
              </a:lnSpc>
              <a:buNone/>
              <a:defRPr sz="1050" b="1" i="0">
                <a:solidFill>
                  <a:srgbClr val="5A5A5A"/>
                </a:solidFill>
                <a:latin typeface="Aptos"/>
                <a:ea typeface="Aptos"/>
                <a:cs typeface="Aptos"/>
              </a:defRPr>
            </a:pPr>
            <a:r>
              <a:rPr sz="840" b="1">
                <a:solidFill>
                  <a:srgbClr val="5A5A5A"/>
                </a:solidFill>
                <a:latin typeface="Aptos"/>
                <a:ea typeface="Aptos"/>
                <a:cs typeface="Aptos"/>
              </a:rPr>
              <a:t>M3</a:t>
            </a:r>
          </a:p>
        </p:txBody>
      </p:sp>
      <p:sp>
        <p:nvSpPr>
          <p:cNvPr id="42" name="Rectangle 41">
            <a:extLst>
              <a:ext uri="{FF2B5EF4-FFF2-40B4-BE49-F238E27FC236}">
                <a16:creationId xmlns:a16="http://schemas.microsoft.com/office/drawing/2014/main" id="{CF55D51E-8871-46C0-8252-7FB22D494096}"/>
              </a:ext>
            </a:extLst>
          </p:cNvPr>
          <p:cNvSpPr>
            <a:spLocks noGrp="1"/>
          </p:cNvSpPr>
          <p:nvPr/>
        </p:nvSpPr>
        <p:spPr>
          <a:xfrm>
            <a:off x="8686800" y="2971800"/>
            <a:ext cx="1104900" cy="381000"/>
          </a:xfrm>
          <a:prstGeom prst="rect">
            <a:avLst/>
          </a:prstGeom>
          <a:noFill/>
          <a:ln w="0">
            <a:noFill/>
            <a:prstDash val="solid"/>
          </a:ln>
        </p:spPr>
        <p:txBody>
          <a:bodyPr anchor="t">
            <a:noAutofit/>
          </a:bodyPr>
          <a:lstStyle/>
          <a:p>
            <a:pPr algn="ctr">
              <a:lnSpc>
                <a:spcPct val="108000"/>
              </a:lnSpc>
              <a:buNone/>
              <a:defRPr sz="2850" b="1" i="0">
                <a:solidFill>
                  <a:srgbClr val="00A870"/>
                </a:solidFill>
                <a:latin typeface="Georgia"/>
                <a:ea typeface="Georgia"/>
                <a:cs typeface="Georgia"/>
              </a:defRPr>
            </a:pPr>
            <a:r>
              <a:rPr sz="2280" b="1">
                <a:solidFill>
                  <a:srgbClr val="00A870"/>
                </a:solidFill>
                <a:latin typeface="Georgia"/>
                <a:ea typeface="Georgia"/>
                <a:cs typeface="Georgia"/>
              </a:rPr>
              <a:t>1.94</a:t>
            </a:r>
          </a:p>
        </p:txBody>
      </p:sp>
      <p:sp>
        <p:nvSpPr>
          <p:cNvPr id="43" name="Rectangle 42">
            <a:extLst>
              <a:ext uri="{FF2B5EF4-FFF2-40B4-BE49-F238E27FC236}">
                <a16:creationId xmlns:a16="http://schemas.microsoft.com/office/drawing/2014/main" id="{09E06400-8F3F-4DFD-B580-FBBF73F88455}"/>
              </a:ext>
            </a:extLst>
          </p:cNvPr>
          <p:cNvSpPr>
            <a:spLocks noGrp="1"/>
          </p:cNvSpPr>
          <p:nvPr/>
        </p:nvSpPr>
        <p:spPr>
          <a:xfrm>
            <a:off x="8686800" y="3467100"/>
            <a:ext cx="1104900" cy="335280"/>
          </a:xfrm>
          <a:prstGeom prst="rect">
            <a:avLst/>
          </a:prstGeom>
          <a:noFill/>
          <a:ln w="0">
            <a:noFill/>
            <a:prstDash val="solid"/>
          </a:ln>
        </p:spPr>
        <p:txBody>
          <a:bodyPr anchor="ctr">
            <a:normAutofit/>
          </a:bodyPr>
          <a:lstStyle/>
          <a:p>
            <a:pPr algn="ctr">
              <a:lnSpc>
                <a:spcPct val="108000"/>
              </a:lnSpc>
              <a:buNone/>
              <a:defRPr sz="1275" b="0" i="0">
                <a:solidFill>
                  <a:srgbClr val="5A5A5A"/>
                </a:solidFill>
                <a:latin typeface="Aptos"/>
                <a:ea typeface="Aptos"/>
                <a:cs typeface="Aptos"/>
              </a:defRPr>
            </a:pPr>
            <a:r>
              <a:rPr sz="1020">
                <a:solidFill>
                  <a:srgbClr val="5A5A5A"/>
                </a:solidFill>
                <a:latin typeface="Aptos"/>
                <a:ea typeface="Aptos"/>
                <a:cs typeface="Aptos"/>
              </a:rPr>
              <a:t>+ ICU type</a:t>
            </a:r>
          </a:p>
        </p:txBody>
      </p:sp>
      <p:sp>
        <p:nvSpPr>
          <p:cNvPr id="44" name="Rectangle 43">
            <a:extLst>
              <a:ext uri="{FF2B5EF4-FFF2-40B4-BE49-F238E27FC236}">
                <a16:creationId xmlns:a16="http://schemas.microsoft.com/office/drawing/2014/main" id="{42405458-4AF7-45D6-A6D6-584CC3F6CD65}"/>
              </a:ext>
            </a:extLst>
          </p:cNvPr>
          <p:cNvSpPr>
            <a:spLocks noGrp="1"/>
          </p:cNvSpPr>
          <p:nvPr/>
        </p:nvSpPr>
        <p:spPr>
          <a:xfrm>
            <a:off x="9753600" y="3070860"/>
            <a:ext cx="228600" cy="213360"/>
          </a:xfrm>
          <a:prstGeom prst="rect">
            <a:avLst/>
          </a:prstGeom>
          <a:noFill/>
          <a:ln w="0">
            <a:noFill/>
            <a:prstDash val="solid"/>
          </a:ln>
        </p:spPr>
        <p:txBody>
          <a:bodyPr anchor="t">
            <a:noAutofit/>
          </a:bodyPr>
          <a:lstStyle/>
          <a:p>
            <a:pPr algn="ctr">
              <a:lnSpc>
                <a:spcPct val="108000"/>
              </a:lnSpc>
              <a:buNone/>
              <a:defRPr sz="1875" b="0" i="0">
                <a:solidFill>
                  <a:srgbClr val="B9B9B9"/>
                </a:solidFill>
                <a:latin typeface="Aptos"/>
                <a:ea typeface="Aptos"/>
                <a:cs typeface="Aptos"/>
              </a:defRPr>
            </a:pPr>
            <a:r>
              <a:rPr sz="1500">
                <a:solidFill>
                  <a:srgbClr val="B9B9B9"/>
                </a:solidFill>
                <a:latin typeface="Aptos"/>
                <a:ea typeface="Aptos"/>
                <a:cs typeface="Aptos"/>
              </a:rPr>
              <a:t>→</a:t>
            </a:r>
          </a:p>
        </p:txBody>
      </p:sp>
      <p:sp>
        <p:nvSpPr>
          <p:cNvPr id="45" name="Rectangle 44">
            <a:extLst>
              <a:ext uri="{FF2B5EF4-FFF2-40B4-BE49-F238E27FC236}">
                <a16:creationId xmlns:a16="http://schemas.microsoft.com/office/drawing/2014/main" id="{89B9C21E-FA9D-4722-B025-D0772B36D6B1}"/>
              </a:ext>
            </a:extLst>
          </p:cNvPr>
          <p:cNvSpPr>
            <a:spLocks noGrp="1"/>
          </p:cNvSpPr>
          <p:nvPr/>
        </p:nvSpPr>
        <p:spPr>
          <a:xfrm>
            <a:off x="9944100" y="2705100"/>
            <a:ext cx="1104900" cy="182880"/>
          </a:xfrm>
          <a:prstGeom prst="rect">
            <a:avLst/>
          </a:prstGeom>
          <a:noFill/>
          <a:ln w="0">
            <a:noFill/>
            <a:prstDash val="solid"/>
          </a:ln>
        </p:spPr>
        <p:txBody>
          <a:bodyPr anchor="t">
            <a:noAutofit/>
          </a:bodyPr>
          <a:lstStyle/>
          <a:p>
            <a:pPr algn="ctr">
              <a:lnSpc>
                <a:spcPct val="108000"/>
              </a:lnSpc>
              <a:buNone/>
              <a:defRPr sz="1050" b="1" i="0">
                <a:solidFill>
                  <a:srgbClr val="5A5A5A"/>
                </a:solidFill>
                <a:latin typeface="Aptos"/>
                <a:ea typeface="Aptos"/>
                <a:cs typeface="Aptos"/>
              </a:defRPr>
            </a:pPr>
            <a:r>
              <a:rPr sz="840" b="1">
                <a:solidFill>
                  <a:srgbClr val="5A5A5A"/>
                </a:solidFill>
                <a:latin typeface="Aptos"/>
                <a:ea typeface="Aptos"/>
                <a:cs typeface="Aptos"/>
              </a:rPr>
              <a:t>M4</a:t>
            </a:r>
          </a:p>
        </p:txBody>
      </p:sp>
      <p:sp>
        <p:nvSpPr>
          <p:cNvPr id="46" name="Rectangle 45">
            <a:extLst>
              <a:ext uri="{FF2B5EF4-FFF2-40B4-BE49-F238E27FC236}">
                <a16:creationId xmlns:a16="http://schemas.microsoft.com/office/drawing/2014/main" id="{E64C0893-7AFA-4566-A74F-FADFBBB17053}"/>
              </a:ext>
            </a:extLst>
          </p:cNvPr>
          <p:cNvSpPr>
            <a:spLocks noGrp="1"/>
          </p:cNvSpPr>
          <p:nvPr/>
        </p:nvSpPr>
        <p:spPr>
          <a:xfrm>
            <a:off x="9944100" y="2971800"/>
            <a:ext cx="1104900" cy="381000"/>
          </a:xfrm>
          <a:prstGeom prst="rect">
            <a:avLst/>
          </a:prstGeom>
          <a:noFill/>
          <a:ln w="0">
            <a:noFill/>
            <a:prstDash val="solid"/>
          </a:ln>
        </p:spPr>
        <p:txBody>
          <a:bodyPr anchor="t">
            <a:noAutofit/>
          </a:bodyPr>
          <a:lstStyle/>
          <a:p>
            <a:pPr algn="ctr">
              <a:lnSpc>
                <a:spcPct val="108000"/>
              </a:lnSpc>
              <a:buNone/>
              <a:defRPr sz="2850" b="1" i="0">
                <a:solidFill>
                  <a:srgbClr val="EF7D00"/>
                </a:solidFill>
                <a:latin typeface="Georgia"/>
                <a:ea typeface="Georgia"/>
                <a:cs typeface="Georgia"/>
              </a:defRPr>
            </a:pPr>
            <a:r>
              <a:rPr sz="2280" b="1">
                <a:solidFill>
                  <a:srgbClr val="EF7D00"/>
                </a:solidFill>
                <a:latin typeface="Georgia"/>
                <a:ea typeface="Georgia"/>
                <a:cs typeface="Georgia"/>
              </a:rPr>
              <a:t>2.14</a:t>
            </a:r>
          </a:p>
        </p:txBody>
      </p:sp>
      <p:sp>
        <p:nvSpPr>
          <p:cNvPr id="47" name="Rectangle 46">
            <a:extLst>
              <a:ext uri="{FF2B5EF4-FFF2-40B4-BE49-F238E27FC236}">
                <a16:creationId xmlns:a16="http://schemas.microsoft.com/office/drawing/2014/main" id="{C5B099CC-8965-491D-BF1A-E943C6B338B6}"/>
              </a:ext>
            </a:extLst>
          </p:cNvPr>
          <p:cNvSpPr>
            <a:spLocks noGrp="1"/>
          </p:cNvSpPr>
          <p:nvPr/>
        </p:nvSpPr>
        <p:spPr>
          <a:xfrm>
            <a:off x="9944100" y="3467100"/>
            <a:ext cx="1104900" cy="335280"/>
          </a:xfrm>
          <a:prstGeom prst="rect">
            <a:avLst/>
          </a:prstGeom>
          <a:noFill/>
          <a:ln w="0">
            <a:noFill/>
            <a:prstDash val="solid"/>
          </a:ln>
        </p:spPr>
        <p:txBody>
          <a:bodyPr anchor="ctr">
            <a:normAutofit/>
          </a:bodyPr>
          <a:lstStyle/>
          <a:p>
            <a:pPr algn="ctr">
              <a:lnSpc>
                <a:spcPct val="108000"/>
              </a:lnSpc>
              <a:buNone/>
              <a:defRPr sz="1275" b="0" i="0">
                <a:solidFill>
                  <a:srgbClr val="5A5A5A"/>
                </a:solidFill>
                <a:latin typeface="Aptos"/>
                <a:ea typeface="Aptos"/>
                <a:cs typeface="Aptos"/>
              </a:defRPr>
            </a:pPr>
            <a:r>
              <a:rPr sz="1020">
                <a:solidFill>
                  <a:srgbClr val="5A5A5A"/>
                </a:solidFill>
                <a:latin typeface="Aptos"/>
                <a:ea typeface="Aptos"/>
                <a:cs typeface="Aptos"/>
              </a:rPr>
              <a:t>+ baseline labs</a:t>
            </a:r>
          </a:p>
        </p:txBody>
      </p:sp>
      <p:sp>
        <p:nvSpPr>
          <p:cNvPr id="48" name="Rectangle 47">
            <a:extLst>
              <a:ext uri="{FF2B5EF4-FFF2-40B4-BE49-F238E27FC236}">
                <a16:creationId xmlns:a16="http://schemas.microsoft.com/office/drawing/2014/main" id="{B2515105-1E37-4DBA-97C1-1B5E930ED74D}"/>
              </a:ext>
            </a:extLst>
          </p:cNvPr>
          <p:cNvSpPr>
            <a:spLocks noGrp="1"/>
          </p:cNvSpPr>
          <p:nvPr/>
        </p:nvSpPr>
        <p:spPr>
          <a:xfrm>
            <a:off x="6819900" y="4152900"/>
            <a:ext cx="3657600" cy="228600"/>
          </a:xfrm>
          <a:prstGeom prst="rect">
            <a:avLst/>
          </a:prstGeom>
          <a:noFill/>
          <a:ln w="0">
            <a:noFill/>
            <a:prstDash val="solid"/>
          </a:ln>
        </p:spPr>
        <p:txBody>
          <a:bodyPr anchor="t">
            <a:noAutofit/>
          </a:bodyPr>
          <a:lstStyle/>
          <a:p>
            <a:pPr algn="ctr">
              <a:lnSpc>
                <a:spcPct val="108000"/>
              </a:lnSpc>
              <a:buNone/>
              <a:defRPr sz="1350" b="1" i="0">
                <a:solidFill>
                  <a:srgbClr val="111111"/>
                </a:solidFill>
                <a:latin typeface="Aptos"/>
                <a:ea typeface="Aptos"/>
                <a:cs typeface="Aptos"/>
              </a:defRPr>
            </a:pPr>
            <a:r>
              <a:rPr sz="1080" b="1">
                <a:solidFill>
                  <a:srgbClr val="111111"/>
                </a:solidFill>
                <a:latin typeface="Aptos"/>
                <a:ea typeface="Aptos"/>
                <a:cs typeface="Aptos"/>
              </a:rPr>
              <a:t>7-day odds ratio (RIWT vs RBT)</a:t>
            </a:r>
          </a:p>
        </p:txBody>
      </p:sp>
      <p:sp>
        <p:nvSpPr>
          <p:cNvPr id="49" name="Rectangle 48">
            <a:extLst>
              <a:ext uri="{FF2B5EF4-FFF2-40B4-BE49-F238E27FC236}">
                <a16:creationId xmlns:a16="http://schemas.microsoft.com/office/drawing/2014/main" id="{F35408D0-91B0-43AD-9C3A-6C82FAF31CB4}"/>
              </a:ext>
            </a:extLst>
          </p:cNvPr>
          <p:cNvSpPr>
            <a:spLocks noGrp="1"/>
          </p:cNvSpPr>
          <p:nvPr/>
        </p:nvSpPr>
        <p:spPr>
          <a:xfrm>
            <a:off x="6324600" y="4495800"/>
            <a:ext cx="4648200" cy="365760"/>
          </a:xfrm>
          <a:prstGeom prst="rect">
            <a:avLst/>
          </a:prstGeom>
          <a:noFill/>
          <a:ln w="0">
            <a:noFill/>
            <a:prstDash val="solid"/>
          </a:ln>
        </p:spPr>
        <p:txBody>
          <a:bodyPr anchor="t">
            <a:normAutofit fontScale="85473" lnSpcReduction="20000"/>
          </a:bodyPr>
          <a:lstStyle/>
          <a:p>
            <a:pPr algn="ctr">
              <a:lnSpc>
                <a:spcPct val="108000"/>
              </a:lnSpc>
              <a:buNone/>
              <a:defRPr sz="1425" b="0" i="0">
                <a:solidFill>
                  <a:srgbClr val="5A5A5A"/>
                </a:solidFill>
                <a:latin typeface="Aptos"/>
                <a:ea typeface="Aptos"/>
                <a:cs typeface="Aptos"/>
              </a:defRPr>
            </a:pPr>
            <a:r>
              <a:rPr sz="1140">
                <a:solidFill>
                  <a:srgbClr val="5A5A5A"/>
                </a:solidFill>
                <a:latin typeface="Aptos"/>
                <a:ea typeface="Aptos"/>
                <a:cs typeface="Aptos"/>
              </a:rPr>
              <a:t>The same framework was run for 1-, 3-, and 7-day mortality. Initial lab levels, sex, age, and ICU type enter here - after clustering.</a:t>
            </a:r>
          </a:p>
        </p:txBody>
      </p:sp>
      <p:sp>
        <p:nvSpPr>
          <p:cNvPr id="50" name="Rectangle 49">
            <a:extLst>
              <a:ext uri="{FF2B5EF4-FFF2-40B4-BE49-F238E27FC236}">
                <a16:creationId xmlns:a16="http://schemas.microsoft.com/office/drawing/2014/main" id="{B68629EC-9E18-4534-A932-E89DDE0C2996}"/>
              </a:ext>
            </a:extLst>
          </p:cNvPr>
          <p:cNvSpPr>
            <a:spLocks noGrp="1"/>
          </p:cNvSpPr>
          <p:nvPr/>
        </p:nvSpPr>
        <p:spPr>
          <a:xfrm>
            <a:off x="723900" y="5372100"/>
            <a:ext cx="1905000" cy="228600"/>
          </a:xfrm>
          <a:prstGeom prst="rect">
            <a:avLst/>
          </a:prstGeom>
          <a:noFill/>
          <a:ln w="0">
            <a:noFill/>
            <a:prstDash val="solid"/>
          </a:ln>
        </p:spPr>
        <p:txBody>
          <a:bodyPr anchor="t">
            <a:noAutofit/>
          </a:bodyPr>
          <a:lstStyle/>
          <a:p>
            <a:pPr algn="l">
              <a:lnSpc>
                <a:spcPct val="108000"/>
              </a:lnSpc>
              <a:buNone/>
              <a:defRPr sz="1575" b="1" i="0">
                <a:solidFill>
                  <a:srgbClr val="EF7D00"/>
                </a:solidFill>
                <a:latin typeface="Georgia"/>
                <a:ea typeface="Georgia"/>
                <a:cs typeface="Georgia"/>
              </a:defRPr>
            </a:pPr>
            <a:r>
              <a:rPr sz="1260" b="1">
                <a:solidFill>
                  <a:srgbClr val="EF7D00"/>
                </a:solidFill>
                <a:latin typeface="Georgia"/>
                <a:ea typeface="Georgia"/>
                <a:cs typeface="Georgia"/>
              </a:rPr>
              <a:t>Validation boundary</a:t>
            </a:r>
          </a:p>
        </p:txBody>
      </p:sp>
      <p:sp>
        <p:nvSpPr>
          <p:cNvPr id="51" name="Rectangle 50">
            <a:extLst>
              <a:ext uri="{FF2B5EF4-FFF2-40B4-BE49-F238E27FC236}">
                <a16:creationId xmlns:a16="http://schemas.microsoft.com/office/drawing/2014/main" id="{FEDEB342-3F1F-4B98-8EEC-FC09C35BC07F}"/>
              </a:ext>
            </a:extLst>
          </p:cNvPr>
          <p:cNvSpPr>
            <a:spLocks noGrp="1"/>
          </p:cNvSpPr>
          <p:nvPr/>
        </p:nvSpPr>
        <p:spPr>
          <a:xfrm>
            <a:off x="723900" y="5715000"/>
            <a:ext cx="10363200" cy="411480"/>
          </a:xfrm>
          <a:prstGeom prst="rect">
            <a:avLst/>
          </a:prstGeom>
          <a:noFill/>
          <a:ln w="0">
            <a:noFill/>
            <a:prstDash val="solid"/>
          </a:ln>
        </p:spPr>
        <p:txBody>
          <a:bodyPr anchor="t">
            <a:noAutofit/>
          </a:bodyPr>
          <a:lstStyle/>
          <a:p>
            <a:pPr algn="l">
              <a:lnSpc>
                <a:spcPct val="105000"/>
              </a:lnSpc>
              <a:buNone/>
              <a:defRPr sz="1575" b="1" i="0">
                <a:solidFill>
                  <a:srgbClr val="111111"/>
                </a:solidFill>
                <a:latin typeface="Georgia"/>
                <a:ea typeface="Georgia"/>
                <a:cs typeface="Georgia"/>
              </a:defRPr>
            </a:pPr>
            <a:r>
              <a:rPr sz="1260" b="1">
                <a:solidFill>
                  <a:srgbClr val="111111"/>
                </a:solidFill>
                <a:latin typeface="Georgia"/>
                <a:ea typeface="Georgia"/>
                <a:cs typeface="Georgia"/>
              </a:rPr>
              <a:t>The 1-day endpoint overlaps the 24-hour feature window and remains exploratory. Model 4's use of label-defining baseline labs also requires an independent-severity sensitivity analysis.</a:t>
            </a:r>
          </a:p>
        </p:txBody>
      </p:sp>
      <p:sp>
        <p:nvSpPr>
          <p:cNvPr id="52" name="Straight Connector 51">
            <a:extLst>
              <a:ext uri="{FF2B5EF4-FFF2-40B4-BE49-F238E27FC236}">
                <a16:creationId xmlns:a16="http://schemas.microsoft.com/office/drawing/2014/main" id="{C8FF62CF-4F92-4640-8A5A-47F1A81BE472}"/>
              </a:ext>
            </a:extLst>
          </p:cNvPr>
          <p:cNvSpPr>
            <a:spLocks noGrp="1"/>
          </p:cNvSpPr>
          <p:nvPr/>
        </p:nvSpPr>
        <p:spPr>
          <a:xfrm>
            <a:off x="609600" y="6507480"/>
            <a:ext cx="10972800" cy="0"/>
          </a:xfrm>
          <a:prstGeom prst="line">
            <a:avLst/>
          </a:prstGeom>
          <a:noFill/>
          <a:ln w="9525">
            <a:solidFill>
              <a:srgbClr val="DDDDDD"/>
            </a:solidFill>
            <a:prstDash val="solid"/>
          </a:ln>
        </p:spPr>
        <p:txBody>
          <a:bodyPr/>
          <a:lstStyle/>
          <a:p>
            <a:endParaRPr lang="en-US" sz="1440"/>
          </a:p>
        </p:txBody>
      </p:sp>
      <p:sp>
        <p:nvSpPr>
          <p:cNvPr id="53" name="Rectangle 52">
            <a:extLst>
              <a:ext uri="{FF2B5EF4-FFF2-40B4-BE49-F238E27FC236}">
                <a16:creationId xmlns:a16="http://schemas.microsoft.com/office/drawing/2014/main" id="{306166EF-B82B-46A7-A712-7A249A00857C}"/>
              </a:ext>
            </a:extLst>
          </p:cNvPr>
          <p:cNvSpPr>
            <a:spLocks noGrp="1"/>
          </p:cNvSpPr>
          <p:nvPr/>
        </p:nvSpPr>
        <p:spPr>
          <a:xfrm>
            <a:off x="624840" y="6568440"/>
            <a:ext cx="5791200" cy="167640"/>
          </a:xfrm>
          <a:prstGeom prst="rect">
            <a:avLst/>
          </a:prstGeom>
          <a:noFill/>
          <a:ln w="0">
            <a:noFill/>
            <a:prstDash val="solid"/>
          </a:ln>
        </p:spPr>
        <p:txBody>
          <a:bodyPr anchor="t">
            <a:noAutofit/>
          </a:bodyPr>
          <a:lstStyle/>
          <a:p>
            <a:pPr algn="l">
              <a:lnSpc>
                <a:spcPct val="108000"/>
              </a:lnSpc>
              <a:buNone/>
              <a:defRPr sz="975" b="0" i="0">
                <a:solidFill>
                  <a:srgbClr val="777777"/>
                </a:solidFill>
                <a:latin typeface="Aptos"/>
                <a:ea typeface="Aptos"/>
                <a:cs typeface="Aptos"/>
              </a:defRPr>
            </a:pPr>
            <a:r>
              <a:rPr sz="780">
                <a:solidFill>
                  <a:srgbClr val="777777"/>
                </a:solidFill>
                <a:latin typeface="Aptos"/>
                <a:ea typeface="Aptos"/>
                <a:cs typeface="Aptos"/>
              </a:rPr>
              <a:t>MIMIC-IV first-24-hour biochemical trajectory study</a:t>
            </a:r>
          </a:p>
        </p:txBody>
      </p:sp>
      <p:sp>
        <p:nvSpPr>
          <p:cNvPr id="54" name="Rectangle 53">
            <a:extLst>
              <a:ext uri="{FF2B5EF4-FFF2-40B4-BE49-F238E27FC236}">
                <a16:creationId xmlns:a16="http://schemas.microsoft.com/office/drawing/2014/main" id="{A4A4F854-1191-41FB-9352-44C80F114586}"/>
              </a:ext>
            </a:extLst>
          </p:cNvPr>
          <p:cNvSpPr>
            <a:spLocks noGrp="1"/>
          </p:cNvSpPr>
          <p:nvPr/>
        </p:nvSpPr>
        <p:spPr>
          <a:xfrm>
            <a:off x="11163300" y="6568440"/>
            <a:ext cx="381000" cy="167640"/>
          </a:xfrm>
          <a:prstGeom prst="rect">
            <a:avLst/>
          </a:prstGeom>
          <a:noFill/>
          <a:ln w="0">
            <a:noFill/>
            <a:prstDash val="solid"/>
          </a:ln>
        </p:spPr>
        <p:txBody>
          <a:bodyPr anchor="t">
            <a:noAutofit/>
          </a:bodyPr>
          <a:lstStyle/>
          <a:p>
            <a:pPr algn="r">
              <a:lnSpc>
                <a:spcPct val="108000"/>
              </a:lnSpc>
              <a:buNone/>
              <a:defRPr sz="975" b="0" i="0">
                <a:solidFill>
                  <a:srgbClr val="777777"/>
                </a:solidFill>
                <a:latin typeface="Aptos"/>
                <a:ea typeface="Aptos"/>
                <a:cs typeface="Aptos"/>
              </a:defRPr>
            </a:pPr>
            <a:r>
              <a:rPr sz="780">
                <a:solidFill>
                  <a:srgbClr val="777777"/>
                </a:solidFill>
                <a:latin typeface="Aptos"/>
                <a:ea typeface="Aptos"/>
                <a:cs typeface="Aptos"/>
              </a:rPr>
              <a:t>09</a:t>
            </a:r>
          </a:p>
        </p:txBody>
      </p:sp>
    </p:spTree>
    <p:extLst>
      <p:ext uri="{BB962C8B-B14F-4D97-AF65-F5344CB8AC3E}">
        <p14:creationId xmlns:p14="http://schemas.microsoft.com/office/powerpoint/2010/main" val="6164862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slide-title">
            <a:extLst>
              <a:ext uri="{FF2B5EF4-FFF2-40B4-BE49-F238E27FC236}">
                <a16:creationId xmlns:a16="http://schemas.microsoft.com/office/drawing/2014/main" id="{1B568891-AB0C-4A2F-BC4A-8F0E3F21A91E}"/>
              </a:ext>
            </a:extLst>
          </p:cNvPr>
          <p:cNvSpPr>
            <a:spLocks noGrp="1"/>
          </p:cNvSpPr>
          <p:nvPr/>
        </p:nvSpPr>
        <p:spPr>
          <a:xfrm>
            <a:off x="594360" y="259080"/>
            <a:ext cx="8534400" cy="533400"/>
          </a:xfrm>
          <a:prstGeom prst="rect">
            <a:avLst/>
          </a:prstGeom>
          <a:noFill/>
          <a:ln w="0">
            <a:noFill/>
            <a:prstDash val="solid"/>
          </a:ln>
        </p:spPr>
        <p:txBody>
          <a:bodyPr anchor="t">
            <a:normAutofit fontScale="86305"/>
          </a:bodyPr>
          <a:lstStyle/>
          <a:p>
            <a:pPr algn="l">
              <a:lnSpc>
                <a:spcPct val="108000"/>
              </a:lnSpc>
              <a:buNone/>
              <a:defRPr sz="4050" b="1" i="0">
                <a:solidFill>
                  <a:srgbClr val="111111"/>
                </a:solidFill>
                <a:latin typeface="Georgia"/>
                <a:ea typeface="Georgia"/>
                <a:cs typeface="Georgia"/>
              </a:defRPr>
            </a:pPr>
            <a:r>
              <a:rPr sz="3240" b="1">
                <a:solidFill>
                  <a:srgbClr val="111111"/>
                </a:solidFill>
                <a:latin typeface="Georgia"/>
                <a:ea typeface="Georgia"/>
                <a:cs typeface="Georgia"/>
              </a:rPr>
              <a:t>Infrastructure Makes the Result Usable</a:t>
            </a:r>
          </a:p>
        </p:txBody>
      </p:sp>
      <p:sp>
        <p:nvSpPr>
          <p:cNvPr id="2" name="Rectangle 1">
            <a:extLst>
              <a:ext uri="{FF2B5EF4-FFF2-40B4-BE49-F238E27FC236}">
                <a16:creationId xmlns:a16="http://schemas.microsoft.com/office/drawing/2014/main" id="{2F4E070C-AC61-4550-8F8E-792F5B1544BC}"/>
              </a:ext>
            </a:extLst>
          </p:cNvPr>
          <p:cNvSpPr>
            <a:spLocks noGrp="1"/>
          </p:cNvSpPr>
          <p:nvPr/>
        </p:nvSpPr>
        <p:spPr>
          <a:xfrm>
            <a:off x="9372600" y="228600"/>
            <a:ext cx="2286000" cy="533400"/>
          </a:xfrm>
          <a:prstGeom prst="rect">
            <a:avLst/>
          </a:prstGeom>
          <a:noFill/>
          <a:ln w="0">
            <a:noFill/>
            <a:prstDash val="solid"/>
          </a:ln>
        </p:spPr>
        <p:txBody>
          <a:bodyPr anchor="t">
            <a:normAutofit fontScale="82835" lnSpcReduction="10000"/>
          </a:bodyPr>
          <a:lstStyle/>
          <a:p>
            <a:pPr algn="r">
              <a:lnSpc>
                <a:spcPct val="108000"/>
              </a:lnSpc>
              <a:buNone/>
              <a:defRPr sz="2475" b="1" i="0">
                <a:solidFill>
                  <a:srgbClr val="EF7D00"/>
                </a:solidFill>
                <a:latin typeface="Georgia"/>
                <a:ea typeface="Georgia"/>
                <a:cs typeface="Georgia"/>
              </a:defRPr>
            </a:pPr>
            <a:r>
              <a:rPr sz="1980" b="1">
                <a:solidFill>
                  <a:srgbClr val="EF7D00"/>
                </a:solidFill>
                <a:latin typeface="Georgia"/>
                <a:ea typeface="Georgia"/>
                <a:cs typeface="Georgia"/>
              </a:rPr>
              <a:t>Streamlit Delivery</a:t>
            </a:r>
          </a:p>
        </p:txBody>
      </p:sp>
      <p:sp>
        <p:nvSpPr>
          <p:cNvPr id="3" name="Rectangle 2">
            <a:extLst>
              <a:ext uri="{FF2B5EF4-FFF2-40B4-BE49-F238E27FC236}">
                <a16:creationId xmlns:a16="http://schemas.microsoft.com/office/drawing/2014/main" id="{86F5F749-E87C-4529-9C9F-2C81C42F57D5}"/>
              </a:ext>
            </a:extLst>
          </p:cNvPr>
          <p:cNvSpPr>
            <a:spLocks noGrp="1"/>
          </p:cNvSpPr>
          <p:nvPr/>
        </p:nvSpPr>
        <p:spPr>
          <a:xfrm>
            <a:off x="624840" y="853440"/>
            <a:ext cx="8610600" cy="259080"/>
          </a:xfrm>
          <a:prstGeom prst="rect">
            <a:avLst/>
          </a:prstGeom>
          <a:noFill/>
          <a:ln w="0">
            <a:noFill/>
            <a:prstDash val="solid"/>
          </a:ln>
        </p:spPr>
        <p:txBody>
          <a:bodyPr anchor="t">
            <a:noAutofit/>
          </a:bodyPr>
          <a:lstStyle/>
          <a:p>
            <a:pPr algn="l">
              <a:lnSpc>
                <a:spcPct val="108000"/>
              </a:lnSpc>
              <a:buNone/>
              <a:defRPr sz="1500" b="0" i="0">
                <a:solidFill>
                  <a:srgbClr val="5A5A5A"/>
                </a:solidFill>
                <a:latin typeface="Aptos"/>
                <a:ea typeface="Aptos"/>
                <a:cs typeface="Aptos"/>
              </a:defRPr>
            </a:pPr>
            <a:r>
              <a:rPr sz="1200">
                <a:solidFill>
                  <a:srgbClr val="5A5A5A"/>
                </a:solidFill>
                <a:latin typeface="Aptos"/>
                <a:ea typeface="Aptos"/>
                <a:cs typeface="Aptos"/>
              </a:rPr>
              <a:t>The application is the final layer of a reproducible database-to-decision pipeline.</a:t>
            </a:r>
          </a:p>
        </p:txBody>
      </p:sp>
      <p:sp>
        <p:nvSpPr>
          <p:cNvPr id="4" name="Straight Connector 3">
            <a:extLst>
              <a:ext uri="{FF2B5EF4-FFF2-40B4-BE49-F238E27FC236}">
                <a16:creationId xmlns:a16="http://schemas.microsoft.com/office/drawing/2014/main" id="{2A9BE2B9-FD84-4F80-8F2C-0931315262D2}"/>
              </a:ext>
            </a:extLst>
          </p:cNvPr>
          <p:cNvSpPr>
            <a:spLocks noGrp="1"/>
          </p:cNvSpPr>
          <p:nvPr/>
        </p:nvSpPr>
        <p:spPr>
          <a:xfrm>
            <a:off x="2628900" y="1379220"/>
            <a:ext cx="723900" cy="0"/>
          </a:xfrm>
          <a:prstGeom prst="line">
            <a:avLst/>
          </a:prstGeom>
          <a:noFill/>
          <a:ln w="14288">
            <a:solidFill>
              <a:srgbClr val="B9B9B9"/>
            </a:solidFill>
            <a:prstDash val="solid"/>
          </a:ln>
        </p:spPr>
        <p:txBody>
          <a:bodyPr/>
          <a:lstStyle/>
          <a:p>
            <a:endParaRPr lang="en-US" sz="1440"/>
          </a:p>
        </p:txBody>
      </p:sp>
      <p:sp>
        <p:nvSpPr>
          <p:cNvPr id="5" name="Oval 4">
            <a:extLst>
              <a:ext uri="{FF2B5EF4-FFF2-40B4-BE49-F238E27FC236}">
                <a16:creationId xmlns:a16="http://schemas.microsoft.com/office/drawing/2014/main" id="{B78CE60D-DB08-4792-8057-2F50A0C5FD9D}"/>
              </a:ext>
            </a:extLst>
          </p:cNvPr>
          <p:cNvSpPr>
            <a:spLocks noGrp="1"/>
          </p:cNvSpPr>
          <p:nvPr/>
        </p:nvSpPr>
        <p:spPr>
          <a:xfrm>
            <a:off x="647700" y="1203960"/>
            <a:ext cx="350520" cy="350520"/>
          </a:xfrm>
          <a:prstGeom prst="ellipse">
            <a:avLst/>
          </a:prstGeom>
          <a:solidFill>
            <a:srgbClr val="FFFFFF"/>
          </a:solidFill>
          <a:ln w="14288">
            <a:solidFill>
              <a:srgbClr val="1484D6"/>
            </a:solidFill>
            <a:prstDash val="solid"/>
          </a:ln>
        </p:spPr>
        <p:txBody>
          <a:bodyPr anchor="ctr"/>
          <a:lstStyle/>
          <a:p>
            <a:pPr algn="ctr">
              <a:defRPr sz="1200" b="1">
                <a:solidFill>
                  <a:srgbClr val="1484D6"/>
                </a:solidFill>
              </a:defRPr>
            </a:pPr>
            <a:r>
              <a:rPr sz="960" b="1">
                <a:solidFill>
                  <a:srgbClr val="1484D6"/>
                </a:solidFill>
              </a:rPr>
              <a:t>1</a:t>
            </a:r>
          </a:p>
        </p:txBody>
      </p:sp>
      <p:sp>
        <p:nvSpPr>
          <p:cNvPr id="6" name="Rectangle 5">
            <a:extLst>
              <a:ext uri="{FF2B5EF4-FFF2-40B4-BE49-F238E27FC236}">
                <a16:creationId xmlns:a16="http://schemas.microsoft.com/office/drawing/2014/main" id="{D5641DB1-576E-4DD2-91FD-DACAC69F7D7B}"/>
              </a:ext>
            </a:extLst>
          </p:cNvPr>
          <p:cNvSpPr>
            <a:spLocks noGrp="1"/>
          </p:cNvSpPr>
          <p:nvPr/>
        </p:nvSpPr>
        <p:spPr>
          <a:xfrm>
            <a:off x="1089660" y="1234440"/>
            <a:ext cx="1828800" cy="190500"/>
          </a:xfrm>
          <a:prstGeom prst="rect">
            <a:avLst/>
          </a:prstGeom>
          <a:noFill/>
          <a:ln w="0">
            <a:noFill/>
            <a:prstDash val="solid"/>
          </a:ln>
        </p:spPr>
        <p:txBody>
          <a:bodyPr anchor="t">
            <a:noAutofit/>
          </a:bodyPr>
          <a:lstStyle/>
          <a:p>
            <a:pPr algn="l">
              <a:lnSpc>
                <a:spcPct val="108000"/>
              </a:lnSpc>
              <a:buNone/>
              <a:defRPr sz="1050" b="1" i="0">
                <a:solidFill>
                  <a:srgbClr val="777777"/>
                </a:solidFill>
                <a:latin typeface="Aptos"/>
                <a:ea typeface="Aptos"/>
                <a:cs typeface="Aptos"/>
              </a:defRPr>
            </a:pPr>
            <a:r>
              <a:rPr sz="840" b="1">
                <a:solidFill>
                  <a:srgbClr val="777777"/>
                </a:solidFill>
                <a:latin typeface="Aptos"/>
                <a:ea typeface="Aptos"/>
                <a:cs typeface="Aptos"/>
              </a:rPr>
              <a:t>BUSINESS NEEDS</a:t>
            </a:r>
          </a:p>
        </p:txBody>
      </p:sp>
      <p:sp>
        <p:nvSpPr>
          <p:cNvPr id="7" name="Straight Connector 6">
            <a:extLst>
              <a:ext uri="{FF2B5EF4-FFF2-40B4-BE49-F238E27FC236}">
                <a16:creationId xmlns:a16="http://schemas.microsoft.com/office/drawing/2014/main" id="{49E28626-6E44-4796-9881-1C5D298DFAF6}"/>
              </a:ext>
            </a:extLst>
          </p:cNvPr>
          <p:cNvSpPr>
            <a:spLocks noGrp="1"/>
          </p:cNvSpPr>
          <p:nvPr/>
        </p:nvSpPr>
        <p:spPr>
          <a:xfrm>
            <a:off x="5448300" y="1379220"/>
            <a:ext cx="723900" cy="0"/>
          </a:xfrm>
          <a:prstGeom prst="line">
            <a:avLst/>
          </a:prstGeom>
          <a:noFill/>
          <a:ln w="14288">
            <a:solidFill>
              <a:srgbClr val="B9B9B9"/>
            </a:solidFill>
            <a:prstDash val="solid"/>
          </a:ln>
        </p:spPr>
        <p:txBody>
          <a:bodyPr/>
          <a:lstStyle/>
          <a:p>
            <a:endParaRPr lang="en-US" sz="1440"/>
          </a:p>
        </p:txBody>
      </p:sp>
      <p:sp>
        <p:nvSpPr>
          <p:cNvPr id="8" name="Oval 7">
            <a:extLst>
              <a:ext uri="{FF2B5EF4-FFF2-40B4-BE49-F238E27FC236}">
                <a16:creationId xmlns:a16="http://schemas.microsoft.com/office/drawing/2014/main" id="{25BFD4C1-504E-486C-8F55-304634597DB3}"/>
              </a:ext>
            </a:extLst>
          </p:cNvPr>
          <p:cNvSpPr>
            <a:spLocks noGrp="1"/>
          </p:cNvSpPr>
          <p:nvPr/>
        </p:nvSpPr>
        <p:spPr>
          <a:xfrm>
            <a:off x="3467100" y="1203960"/>
            <a:ext cx="350520" cy="350520"/>
          </a:xfrm>
          <a:prstGeom prst="ellipse">
            <a:avLst/>
          </a:prstGeom>
          <a:solidFill>
            <a:srgbClr val="FFFFFF"/>
          </a:solidFill>
          <a:ln w="14288">
            <a:solidFill>
              <a:srgbClr val="9552D0"/>
            </a:solidFill>
            <a:prstDash val="solid"/>
          </a:ln>
        </p:spPr>
        <p:txBody>
          <a:bodyPr anchor="ctr"/>
          <a:lstStyle/>
          <a:p>
            <a:pPr algn="ctr">
              <a:defRPr sz="1200" b="1">
                <a:solidFill>
                  <a:srgbClr val="9552D0"/>
                </a:solidFill>
              </a:defRPr>
            </a:pPr>
            <a:r>
              <a:rPr sz="960" b="1">
                <a:solidFill>
                  <a:srgbClr val="9552D0"/>
                </a:solidFill>
              </a:rPr>
              <a:t>2</a:t>
            </a:r>
          </a:p>
        </p:txBody>
      </p:sp>
      <p:sp>
        <p:nvSpPr>
          <p:cNvPr id="9" name="Rectangle 8">
            <a:extLst>
              <a:ext uri="{FF2B5EF4-FFF2-40B4-BE49-F238E27FC236}">
                <a16:creationId xmlns:a16="http://schemas.microsoft.com/office/drawing/2014/main" id="{8BB59748-4666-4C03-8F2B-36873063CF25}"/>
              </a:ext>
            </a:extLst>
          </p:cNvPr>
          <p:cNvSpPr>
            <a:spLocks noGrp="1"/>
          </p:cNvSpPr>
          <p:nvPr/>
        </p:nvSpPr>
        <p:spPr>
          <a:xfrm>
            <a:off x="3909060" y="1234440"/>
            <a:ext cx="1828800" cy="190500"/>
          </a:xfrm>
          <a:prstGeom prst="rect">
            <a:avLst/>
          </a:prstGeom>
          <a:noFill/>
          <a:ln w="0">
            <a:noFill/>
            <a:prstDash val="solid"/>
          </a:ln>
        </p:spPr>
        <p:txBody>
          <a:bodyPr anchor="t">
            <a:noAutofit/>
          </a:bodyPr>
          <a:lstStyle/>
          <a:p>
            <a:pPr algn="l">
              <a:lnSpc>
                <a:spcPct val="108000"/>
              </a:lnSpc>
              <a:buNone/>
              <a:defRPr sz="1050" b="1" i="0">
                <a:solidFill>
                  <a:srgbClr val="777777"/>
                </a:solidFill>
                <a:latin typeface="Aptos"/>
                <a:ea typeface="Aptos"/>
                <a:cs typeface="Aptos"/>
              </a:defRPr>
            </a:pPr>
            <a:r>
              <a:rPr sz="840" b="1">
                <a:solidFill>
                  <a:srgbClr val="777777"/>
                </a:solidFill>
                <a:latin typeface="Aptos"/>
                <a:ea typeface="Aptos"/>
                <a:cs typeface="Aptos"/>
              </a:rPr>
              <a:t>DATA PROCESSING</a:t>
            </a:r>
          </a:p>
        </p:txBody>
      </p:sp>
      <p:sp>
        <p:nvSpPr>
          <p:cNvPr id="10" name="Straight Connector 9">
            <a:extLst>
              <a:ext uri="{FF2B5EF4-FFF2-40B4-BE49-F238E27FC236}">
                <a16:creationId xmlns:a16="http://schemas.microsoft.com/office/drawing/2014/main" id="{3AE436EB-325E-4258-A891-0C68A95E613A}"/>
              </a:ext>
            </a:extLst>
          </p:cNvPr>
          <p:cNvSpPr>
            <a:spLocks noGrp="1"/>
          </p:cNvSpPr>
          <p:nvPr/>
        </p:nvSpPr>
        <p:spPr>
          <a:xfrm>
            <a:off x="8267700" y="1379220"/>
            <a:ext cx="723900" cy="0"/>
          </a:xfrm>
          <a:prstGeom prst="line">
            <a:avLst/>
          </a:prstGeom>
          <a:noFill/>
          <a:ln w="14288">
            <a:solidFill>
              <a:srgbClr val="B9B9B9"/>
            </a:solidFill>
            <a:prstDash val="solid"/>
          </a:ln>
        </p:spPr>
        <p:txBody>
          <a:bodyPr/>
          <a:lstStyle/>
          <a:p>
            <a:endParaRPr lang="en-US" sz="1440"/>
          </a:p>
        </p:txBody>
      </p:sp>
      <p:sp>
        <p:nvSpPr>
          <p:cNvPr id="11" name="Oval 10">
            <a:extLst>
              <a:ext uri="{FF2B5EF4-FFF2-40B4-BE49-F238E27FC236}">
                <a16:creationId xmlns:a16="http://schemas.microsoft.com/office/drawing/2014/main" id="{C4BFC14F-B342-4C06-966D-35BE40BD9933}"/>
              </a:ext>
            </a:extLst>
          </p:cNvPr>
          <p:cNvSpPr>
            <a:spLocks noGrp="1"/>
          </p:cNvSpPr>
          <p:nvPr/>
        </p:nvSpPr>
        <p:spPr>
          <a:xfrm>
            <a:off x="6286500" y="1203960"/>
            <a:ext cx="350520" cy="350520"/>
          </a:xfrm>
          <a:prstGeom prst="ellipse">
            <a:avLst/>
          </a:prstGeom>
          <a:solidFill>
            <a:srgbClr val="FFFFFF"/>
          </a:solidFill>
          <a:ln w="14288">
            <a:solidFill>
              <a:srgbClr val="00A870"/>
            </a:solidFill>
            <a:prstDash val="solid"/>
          </a:ln>
        </p:spPr>
        <p:txBody>
          <a:bodyPr anchor="ctr"/>
          <a:lstStyle/>
          <a:p>
            <a:pPr algn="ctr">
              <a:defRPr sz="1200" b="1">
                <a:solidFill>
                  <a:srgbClr val="00A870"/>
                </a:solidFill>
              </a:defRPr>
            </a:pPr>
            <a:r>
              <a:rPr sz="960" b="1">
                <a:solidFill>
                  <a:srgbClr val="00A870"/>
                </a:solidFill>
              </a:rPr>
              <a:t>3</a:t>
            </a:r>
          </a:p>
        </p:txBody>
      </p:sp>
      <p:sp>
        <p:nvSpPr>
          <p:cNvPr id="12" name="Rectangle 11">
            <a:extLst>
              <a:ext uri="{FF2B5EF4-FFF2-40B4-BE49-F238E27FC236}">
                <a16:creationId xmlns:a16="http://schemas.microsoft.com/office/drawing/2014/main" id="{4060BA45-926E-4322-A8A0-A206D27996F7}"/>
              </a:ext>
            </a:extLst>
          </p:cNvPr>
          <p:cNvSpPr>
            <a:spLocks noGrp="1"/>
          </p:cNvSpPr>
          <p:nvPr/>
        </p:nvSpPr>
        <p:spPr>
          <a:xfrm>
            <a:off x="6728460" y="1234440"/>
            <a:ext cx="1828800" cy="190500"/>
          </a:xfrm>
          <a:prstGeom prst="rect">
            <a:avLst/>
          </a:prstGeom>
          <a:noFill/>
          <a:ln w="0">
            <a:noFill/>
            <a:prstDash val="solid"/>
          </a:ln>
        </p:spPr>
        <p:txBody>
          <a:bodyPr anchor="t">
            <a:noAutofit/>
          </a:bodyPr>
          <a:lstStyle/>
          <a:p>
            <a:pPr algn="l">
              <a:lnSpc>
                <a:spcPct val="108000"/>
              </a:lnSpc>
              <a:buNone/>
              <a:defRPr sz="1050" b="1" i="0">
                <a:solidFill>
                  <a:srgbClr val="777777"/>
                </a:solidFill>
                <a:latin typeface="Aptos"/>
                <a:ea typeface="Aptos"/>
                <a:cs typeface="Aptos"/>
              </a:defRPr>
            </a:pPr>
            <a:r>
              <a:rPr sz="840" b="1">
                <a:solidFill>
                  <a:srgbClr val="777777"/>
                </a:solidFill>
                <a:latin typeface="Aptos"/>
                <a:ea typeface="Aptos"/>
                <a:cs typeface="Aptos"/>
              </a:rPr>
              <a:t>DATA MODELLING</a:t>
            </a:r>
          </a:p>
        </p:txBody>
      </p:sp>
      <p:sp>
        <p:nvSpPr>
          <p:cNvPr id="13" name="Oval 12">
            <a:extLst>
              <a:ext uri="{FF2B5EF4-FFF2-40B4-BE49-F238E27FC236}">
                <a16:creationId xmlns:a16="http://schemas.microsoft.com/office/drawing/2014/main" id="{B857E243-1078-4DA6-8C6B-62E351FB71CA}"/>
              </a:ext>
            </a:extLst>
          </p:cNvPr>
          <p:cNvSpPr>
            <a:spLocks noGrp="1"/>
          </p:cNvSpPr>
          <p:nvPr/>
        </p:nvSpPr>
        <p:spPr>
          <a:xfrm>
            <a:off x="9105900" y="1203960"/>
            <a:ext cx="350520" cy="350520"/>
          </a:xfrm>
          <a:prstGeom prst="ellipse">
            <a:avLst/>
          </a:prstGeom>
          <a:solidFill>
            <a:srgbClr val="EF7D00"/>
          </a:solidFill>
          <a:ln w="14288">
            <a:solidFill>
              <a:srgbClr val="EF7D00"/>
            </a:solidFill>
            <a:prstDash val="solid"/>
          </a:ln>
        </p:spPr>
        <p:txBody>
          <a:bodyPr anchor="ctr"/>
          <a:lstStyle/>
          <a:p>
            <a:pPr algn="ctr">
              <a:defRPr sz="1200" b="1">
                <a:solidFill>
                  <a:srgbClr val="FFFFFF"/>
                </a:solidFill>
              </a:defRPr>
            </a:pPr>
            <a:r>
              <a:rPr sz="960" b="1">
                <a:solidFill>
                  <a:srgbClr val="FFFFFF"/>
                </a:solidFill>
              </a:rPr>
              <a:t>4</a:t>
            </a:r>
          </a:p>
        </p:txBody>
      </p:sp>
      <p:sp>
        <p:nvSpPr>
          <p:cNvPr id="14" name="Rectangle 13">
            <a:extLst>
              <a:ext uri="{FF2B5EF4-FFF2-40B4-BE49-F238E27FC236}">
                <a16:creationId xmlns:a16="http://schemas.microsoft.com/office/drawing/2014/main" id="{888C3A71-A556-4F78-A184-002E3FBF5B80}"/>
              </a:ext>
            </a:extLst>
          </p:cNvPr>
          <p:cNvSpPr>
            <a:spLocks noGrp="1"/>
          </p:cNvSpPr>
          <p:nvPr/>
        </p:nvSpPr>
        <p:spPr>
          <a:xfrm>
            <a:off x="9547860" y="1234440"/>
            <a:ext cx="1828800" cy="190500"/>
          </a:xfrm>
          <a:prstGeom prst="rect">
            <a:avLst/>
          </a:prstGeom>
          <a:noFill/>
          <a:ln w="0">
            <a:noFill/>
            <a:prstDash val="solid"/>
          </a:ln>
        </p:spPr>
        <p:txBody>
          <a:bodyPr anchor="t">
            <a:noAutofit/>
          </a:bodyPr>
          <a:lstStyle/>
          <a:p>
            <a:pPr algn="l">
              <a:lnSpc>
                <a:spcPct val="108000"/>
              </a:lnSpc>
              <a:buNone/>
              <a:defRPr sz="1050" b="1" i="0">
                <a:solidFill>
                  <a:srgbClr val="EF7D00"/>
                </a:solidFill>
                <a:latin typeface="Aptos"/>
                <a:ea typeface="Aptos"/>
                <a:cs typeface="Aptos"/>
              </a:defRPr>
            </a:pPr>
            <a:r>
              <a:rPr sz="840" b="1">
                <a:solidFill>
                  <a:srgbClr val="EF7D00"/>
                </a:solidFill>
                <a:latin typeface="Aptos"/>
                <a:ea typeface="Aptos"/>
                <a:cs typeface="Aptos"/>
              </a:rPr>
              <a:t>BUSINESS INFRASTRUCTURE</a:t>
            </a:r>
          </a:p>
        </p:txBody>
      </p:sp>
      <p:sp>
        <p:nvSpPr>
          <p:cNvPr id="15" name="Straight Connector 14">
            <a:extLst>
              <a:ext uri="{FF2B5EF4-FFF2-40B4-BE49-F238E27FC236}">
                <a16:creationId xmlns:a16="http://schemas.microsoft.com/office/drawing/2014/main" id="{DB84CFB1-CFB1-4FC2-AF10-AE312505259B}"/>
              </a:ext>
            </a:extLst>
          </p:cNvPr>
          <p:cNvSpPr>
            <a:spLocks noGrp="1"/>
          </p:cNvSpPr>
          <p:nvPr/>
        </p:nvSpPr>
        <p:spPr>
          <a:xfrm>
            <a:off x="2667000" y="2781300"/>
            <a:ext cx="1143000" cy="0"/>
          </a:xfrm>
          <a:prstGeom prst="line">
            <a:avLst/>
          </a:prstGeom>
          <a:noFill/>
          <a:ln w="19050">
            <a:solidFill>
              <a:srgbClr val="B9B9B9"/>
            </a:solidFill>
            <a:prstDash val="solid"/>
          </a:ln>
        </p:spPr>
        <p:txBody>
          <a:bodyPr/>
          <a:lstStyle/>
          <a:p>
            <a:endParaRPr lang="en-US" sz="1440"/>
          </a:p>
        </p:txBody>
      </p:sp>
      <p:sp>
        <p:nvSpPr>
          <p:cNvPr id="16" name="Straight Connector 15">
            <a:extLst>
              <a:ext uri="{FF2B5EF4-FFF2-40B4-BE49-F238E27FC236}">
                <a16:creationId xmlns:a16="http://schemas.microsoft.com/office/drawing/2014/main" id="{6F169463-17A8-45FB-A690-98AD98A8A9CB}"/>
              </a:ext>
            </a:extLst>
          </p:cNvPr>
          <p:cNvSpPr>
            <a:spLocks noGrp="1"/>
          </p:cNvSpPr>
          <p:nvPr/>
        </p:nvSpPr>
        <p:spPr>
          <a:xfrm>
            <a:off x="6019800" y="2781300"/>
            <a:ext cx="1143000" cy="0"/>
          </a:xfrm>
          <a:prstGeom prst="line">
            <a:avLst/>
          </a:prstGeom>
          <a:noFill/>
          <a:ln w="19050">
            <a:solidFill>
              <a:srgbClr val="B9B9B9"/>
            </a:solidFill>
            <a:prstDash val="solid"/>
          </a:ln>
        </p:spPr>
        <p:txBody>
          <a:bodyPr/>
          <a:lstStyle/>
          <a:p>
            <a:endParaRPr lang="en-US" sz="1440"/>
          </a:p>
        </p:txBody>
      </p:sp>
      <p:sp>
        <p:nvSpPr>
          <p:cNvPr id="17" name="Straight Connector 16">
            <a:extLst>
              <a:ext uri="{FF2B5EF4-FFF2-40B4-BE49-F238E27FC236}">
                <a16:creationId xmlns:a16="http://schemas.microsoft.com/office/drawing/2014/main" id="{85873064-D969-4F56-A882-95291D13B0A1}"/>
              </a:ext>
            </a:extLst>
          </p:cNvPr>
          <p:cNvSpPr>
            <a:spLocks noGrp="1"/>
          </p:cNvSpPr>
          <p:nvPr/>
        </p:nvSpPr>
        <p:spPr>
          <a:xfrm>
            <a:off x="9372600" y="2781300"/>
            <a:ext cx="1143000" cy="0"/>
          </a:xfrm>
          <a:prstGeom prst="line">
            <a:avLst/>
          </a:prstGeom>
          <a:noFill/>
          <a:ln w="19050">
            <a:solidFill>
              <a:srgbClr val="B9B9B9"/>
            </a:solidFill>
            <a:prstDash val="solid"/>
          </a:ln>
        </p:spPr>
        <p:txBody>
          <a:bodyPr/>
          <a:lstStyle/>
          <a:p>
            <a:endParaRPr lang="en-US" sz="1440"/>
          </a:p>
        </p:txBody>
      </p:sp>
      <p:sp>
        <p:nvSpPr>
          <p:cNvPr id="18" name="Rounded Rectangle 17">
            <a:extLst>
              <a:ext uri="{FF2B5EF4-FFF2-40B4-BE49-F238E27FC236}">
                <a16:creationId xmlns:a16="http://schemas.microsoft.com/office/drawing/2014/main" id="{3222346F-BB41-448F-A31B-DDDF1F28A137}"/>
              </a:ext>
            </a:extLst>
          </p:cNvPr>
          <p:cNvSpPr>
            <a:spLocks noGrp="1"/>
          </p:cNvSpPr>
          <p:nvPr/>
        </p:nvSpPr>
        <p:spPr>
          <a:xfrm>
            <a:off x="609600" y="1981200"/>
            <a:ext cx="2057400" cy="1676400"/>
          </a:xfrm>
          <a:prstGeom prst="roundRect">
            <a:avLst>
              <a:gd name="adj" fmla="val 7273"/>
            </a:avLst>
          </a:prstGeom>
          <a:solidFill>
            <a:srgbClr val="F5EEFC"/>
          </a:solidFill>
          <a:ln w="19050">
            <a:solidFill>
              <a:srgbClr val="9552D0"/>
            </a:solidFill>
            <a:prstDash val="solid"/>
          </a:ln>
        </p:spPr>
        <p:txBody>
          <a:bodyPr/>
          <a:lstStyle/>
          <a:p>
            <a:endParaRPr lang="en-US" sz="1440"/>
          </a:p>
        </p:txBody>
      </p:sp>
      <p:sp>
        <p:nvSpPr>
          <p:cNvPr id="19" name="Rectangle 18">
            <a:extLst>
              <a:ext uri="{FF2B5EF4-FFF2-40B4-BE49-F238E27FC236}">
                <a16:creationId xmlns:a16="http://schemas.microsoft.com/office/drawing/2014/main" id="{2A376F6F-0520-4B4E-8FD9-E30B110EA9EC}"/>
              </a:ext>
            </a:extLst>
          </p:cNvPr>
          <p:cNvSpPr>
            <a:spLocks noGrp="1"/>
          </p:cNvSpPr>
          <p:nvPr/>
        </p:nvSpPr>
        <p:spPr>
          <a:xfrm>
            <a:off x="822960" y="2125980"/>
            <a:ext cx="1630680" cy="160020"/>
          </a:xfrm>
          <a:prstGeom prst="rect">
            <a:avLst/>
          </a:prstGeom>
          <a:noFill/>
          <a:ln w="0">
            <a:noFill/>
            <a:prstDash val="solid"/>
          </a:ln>
        </p:spPr>
        <p:txBody>
          <a:bodyPr anchor="t">
            <a:noAutofit/>
          </a:bodyPr>
          <a:lstStyle/>
          <a:p>
            <a:pPr algn="l">
              <a:lnSpc>
                <a:spcPct val="108000"/>
              </a:lnSpc>
              <a:buNone/>
              <a:defRPr sz="975" b="1" i="0">
                <a:solidFill>
                  <a:srgbClr val="9552D0"/>
                </a:solidFill>
                <a:latin typeface="Aptos"/>
                <a:ea typeface="Aptos"/>
                <a:cs typeface="Aptos"/>
              </a:defRPr>
            </a:pPr>
            <a:r>
              <a:rPr sz="780" b="1">
                <a:solidFill>
                  <a:srgbClr val="9552D0"/>
                </a:solidFill>
                <a:latin typeface="Aptos"/>
                <a:ea typeface="Aptos"/>
                <a:cs typeface="Aptos"/>
              </a:rPr>
              <a:t>DATA</a:t>
            </a:r>
          </a:p>
        </p:txBody>
      </p:sp>
      <p:sp>
        <p:nvSpPr>
          <p:cNvPr id="20" name="Rectangle 19">
            <a:extLst>
              <a:ext uri="{FF2B5EF4-FFF2-40B4-BE49-F238E27FC236}">
                <a16:creationId xmlns:a16="http://schemas.microsoft.com/office/drawing/2014/main" id="{13A78723-14F5-4FE2-8EB0-6053636457DC}"/>
              </a:ext>
            </a:extLst>
          </p:cNvPr>
          <p:cNvSpPr>
            <a:spLocks noGrp="1"/>
          </p:cNvSpPr>
          <p:nvPr/>
        </p:nvSpPr>
        <p:spPr>
          <a:xfrm>
            <a:off x="822960" y="2324100"/>
            <a:ext cx="1630680" cy="441960"/>
          </a:xfrm>
          <a:prstGeom prst="rect">
            <a:avLst/>
          </a:prstGeom>
          <a:noFill/>
          <a:ln w="0">
            <a:noFill/>
            <a:prstDash val="solid"/>
          </a:ln>
        </p:spPr>
        <p:txBody>
          <a:bodyPr anchor="ctr">
            <a:normAutofit/>
          </a:bodyPr>
          <a:lstStyle/>
          <a:p>
            <a:pPr algn="l">
              <a:lnSpc>
                <a:spcPct val="108000"/>
              </a:lnSpc>
              <a:buNone/>
              <a:defRPr sz="1500" b="1" i="0">
                <a:solidFill>
                  <a:srgbClr val="111111"/>
                </a:solidFill>
                <a:latin typeface="Georgia"/>
                <a:ea typeface="Georgia"/>
                <a:cs typeface="Georgia"/>
              </a:defRPr>
            </a:pPr>
            <a:r>
              <a:rPr sz="1200" b="1">
                <a:solidFill>
                  <a:srgbClr val="111111"/>
                </a:solidFill>
                <a:latin typeface="Georgia"/>
                <a:ea typeface="Georgia"/>
                <a:cs typeface="Georgia"/>
              </a:rPr>
              <a:t>PostgreSQL</a:t>
            </a:r>
          </a:p>
        </p:txBody>
      </p:sp>
      <p:sp>
        <p:nvSpPr>
          <p:cNvPr id="21" name="Rectangle 20">
            <a:extLst>
              <a:ext uri="{FF2B5EF4-FFF2-40B4-BE49-F238E27FC236}">
                <a16:creationId xmlns:a16="http://schemas.microsoft.com/office/drawing/2014/main" id="{8F33C694-B880-47A4-BE23-1E70CF023CAF}"/>
              </a:ext>
            </a:extLst>
          </p:cNvPr>
          <p:cNvSpPr>
            <a:spLocks noGrp="1"/>
          </p:cNvSpPr>
          <p:nvPr/>
        </p:nvSpPr>
        <p:spPr>
          <a:xfrm>
            <a:off x="822960" y="2834640"/>
            <a:ext cx="1630680" cy="685800"/>
          </a:xfrm>
          <a:prstGeom prst="rect">
            <a:avLst/>
          </a:prstGeom>
          <a:noFill/>
          <a:ln w="0">
            <a:noFill/>
            <a:prstDash val="solid"/>
          </a:ln>
        </p:spPr>
        <p:txBody>
          <a:bodyPr anchor="t">
            <a:normAutofit fontScale="84159" lnSpcReduction="20000"/>
          </a:bodyPr>
          <a:lstStyle/>
          <a:p>
            <a:pPr algn="l">
              <a:lnSpc>
                <a:spcPct val="115000"/>
              </a:lnSpc>
              <a:buNone/>
              <a:defRPr sz="1425" b="0" i="0">
                <a:solidFill>
                  <a:srgbClr val="5A5A5A"/>
                </a:solidFill>
                <a:latin typeface="Aptos"/>
                <a:ea typeface="Aptos"/>
                <a:cs typeface="Aptos"/>
              </a:defRPr>
            </a:pPr>
            <a:r>
              <a:rPr sz="1140">
                <a:solidFill>
                  <a:srgbClr val="5A5A5A"/>
                </a:solidFill>
                <a:latin typeface="Aptos"/>
                <a:ea typeface="Aptos"/>
                <a:cs typeface="Aptos"/>
              </a:rPr>
              <a:t>Full MIMIC-IV tables, validated schema, cohort, labels, and first-24-hour measurements.</a:t>
            </a:r>
          </a:p>
        </p:txBody>
      </p:sp>
      <p:sp>
        <p:nvSpPr>
          <p:cNvPr id="22" name="Rounded Rectangle 21">
            <a:extLst>
              <a:ext uri="{FF2B5EF4-FFF2-40B4-BE49-F238E27FC236}">
                <a16:creationId xmlns:a16="http://schemas.microsoft.com/office/drawing/2014/main" id="{F4DE1FA0-B24C-4E76-887C-505B3AC8776B}"/>
              </a:ext>
            </a:extLst>
          </p:cNvPr>
          <p:cNvSpPr>
            <a:spLocks noGrp="1"/>
          </p:cNvSpPr>
          <p:nvPr/>
        </p:nvSpPr>
        <p:spPr>
          <a:xfrm>
            <a:off x="3276600" y="1828800"/>
            <a:ext cx="2743200" cy="1981200"/>
          </a:xfrm>
          <a:prstGeom prst="roundRect">
            <a:avLst>
              <a:gd name="adj" fmla="val 6154"/>
            </a:avLst>
          </a:prstGeom>
          <a:solidFill>
            <a:srgbClr val="EAF8F2"/>
          </a:solidFill>
          <a:ln w="19050">
            <a:solidFill>
              <a:srgbClr val="00A870"/>
            </a:solidFill>
            <a:prstDash val="solid"/>
          </a:ln>
        </p:spPr>
        <p:txBody>
          <a:bodyPr/>
          <a:lstStyle/>
          <a:p>
            <a:endParaRPr lang="en-US" sz="1440"/>
          </a:p>
        </p:txBody>
      </p:sp>
      <p:sp>
        <p:nvSpPr>
          <p:cNvPr id="23" name="Rectangle 22">
            <a:extLst>
              <a:ext uri="{FF2B5EF4-FFF2-40B4-BE49-F238E27FC236}">
                <a16:creationId xmlns:a16="http://schemas.microsoft.com/office/drawing/2014/main" id="{F97282D8-9CC8-4326-B169-D2FA0D184C5F}"/>
              </a:ext>
            </a:extLst>
          </p:cNvPr>
          <p:cNvSpPr>
            <a:spLocks noGrp="1"/>
          </p:cNvSpPr>
          <p:nvPr/>
        </p:nvSpPr>
        <p:spPr>
          <a:xfrm>
            <a:off x="3489960" y="1973580"/>
            <a:ext cx="2316480" cy="160020"/>
          </a:xfrm>
          <a:prstGeom prst="rect">
            <a:avLst/>
          </a:prstGeom>
          <a:noFill/>
          <a:ln w="0">
            <a:noFill/>
            <a:prstDash val="solid"/>
          </a:ln>
        </p:spPr>
        <p:txBody>
          <a:bodyPr anchor="t">
            <a:noAutofit/>
          </a:bodyPr>
          <a:lstStyle/>
          <a:p>
            <a:pPr algn="l">
              <a:lnSpc>
                <a:spcPct val="108000"/>
              </a:lnSpc>
              <a:buNone/>
              <a:defRPr sz="975" b="1" i="0">
                <a:solidFill>
                  <a:srgbClr val="00A870"/>
                </a:solidFill>
                <a:latin typeface="Aptos"/>
                <a:ea typeface="Aptos"/>
                <a:cs typeface="Aptos"/>
              </a:defRPr>
            </a:pPr>
            <a:r>
              <a:rPr sz="780" b="1">
                <a:solidFill>
                  <a:srgbClr val="00A870"/>
                </a:solidFill>
                <a:latin typeface="Aptos"/>
                <a:ea typeface="Aptos"/>
                <a:cs typeface="Aptos"/>
              </a:rPr>
              <a:t>ANALYTICS</a:t>
            </a:r>
          </a:p>
        </p:txBody>
      </p:sp>
      <p:sp>
        <p:nvSpPr>
          <p:cNvPr id="24" name="Rectangle 23">
            <a:extLst>
              <a:ext uri="{FF2B5EF4-FFF2-40B4-BE49-F238E27FC236}">
                <a16:creationId xmlns:a16="http://schemas.microsoft.com/office/drawing/2014/main" id="{034AC38F-E369-40C8-9803-CD4DD198A60D}"/>
              </a:ext>
            </a:extLst>
          </p:cNvPr>
          <p:cNvSpPr>
            <a:spLocks noGrp="1"/>
          </p:cNvSpPr>
          <p:nvPr/>
        </p:nvSpPr>
        <p:spPr>
          <a:xfrm>
            <a:off x="3489960" y="2171700"/>
            <a:ext cx="2316480" cy="441960"/>
          </a:xfrm>
          <a:prstGeom prst="rect">
            <a:avLst/>
          </a:prstGeom>
          <a:noFill/>
          <a:ln w="0">
            <a:noFill/>
            <a:prstDash val="solid"/>
          </a:ln>
        </p:spPr>
        <p:txBody>
          <a:bodyPr anchor="ctr">
            <a:normAutofit fontScale="90944" lnSpcReduction="20000"/>
          </a:bodyPr>
          <a:lstStyle/>
          <a:p>
            <a:pPr algn="l">
              <a:lnSpc>
                <a:spcPct val="108000"/>
              </a:lnSpc>
              <a:buNone/>
              <a:defRPr sz="1800" b="1" i="0">
                <a:solidFill>
                  <a:srgbClr val="111111"/>
                </a:solidFill>
                <a:latin typeface="Georgia"/>
                <a:ea typeface="Georgia"/>
                <a:cs typeface="Georgia"/>
              </a:defRPr>
            </a:pPr>
            <a:r>
              <a:rPr sz="1440" b="1">
                <a:solidFill>
                  <a:srgbClr val="111111"/>
                </a:solidFill>
                <a:latin typeface="Georgia"/>
                <a:ea typeface="Georgia"/>
                <a:cs typeface="Georgia"/>
              </a:rPr>
              <a:t>SQL + deterministic Python</a:t>
            </a:r>
          </a:p>
        </p:txBody>
      </p:sp>
      <p:sp>
        <p:nvSpPr>
          <p:cNvPr id="25" name="Rectangle 24">
            <a:extLst>
              <a:ext uri="{FF2B5EF4-FFF2-40B4-BE49-F238E27FC236}">
                <a16:creationId xmlns:a16="http://schemas.microsoft.com/office/drawing/2014/main" id="{AC38A15E-C8BD-4975-86AA-22B9A5E84C0F}"/>
              </a:ext>
            </a:extLst>
          </p:cNvPr>
          <p:cNvSpPr>
            <a:spLocks noGrp="1"/>
          </p:cNvSpPr>
          <p:nvPr/>
        </p:nvSpPr>
        <p:spPr>
          <a:xfrm>
            <a:off x="3489960" y="2682240"/>
            <a:ext cx="2316480" cy="990600"/>
          </a:xfrm>
          <a:prstGeom prst="rect">
            <a:avLst/>
          </a:prstGeom>
          <a:noFill/>
          <a:ln w="0">
            <a:noFill/>
            <a:prstDash val="solid"/>
          </a:ln>
        </p:spPr>
        <p:txBody>
          <a:bodyPr anchor="t">
            <a:normAutofit/>
          </a:bodyPr>
          <a:lstStyle/>
          <a:p>
            <a:pPr algn="l">
              <a:lnSpc>
                <a:spcPct val="115000"/>
              </a:lnSpc>
              <a:buNone/>
              <a:defRPr sz="1425" b="0" i="0">
                <a:solidFill>
                  <a:srgbClr val="5A5A5A"/>
                </a:solidFill>
                <a:latin typeface="Aptos"/>
                <a:ea typeface="Aptos"/>
                <a:cs typeface="Aptos"/>
              </a:defRPr>
            </a:pPr>
            <a:r>
              <a:rPr sz="1140">
                <a:solidFill>
                  <a:srgbClr val="5A5A5A"/>
                </a:solidFill>
                <a:latin typeface="Aptos"/>
                <a:ea typeface="Aptos"/>
                <a:cs typeface="Aptos"/>
              </a:rPr>
              <a:t>Feature extraction, winsorization, scaling, clustering, mortality validation, coefficient export, atomic outputs, and fixed seeds.</a:t>
            </a:r>
          </a:p>
        </p:txBody>
      </p:sp>
      <p:sp>
        <p:nvSpPr>
          <p:cNvPr id="26" name="Rounded Rectangle 25">
            <a:extLst>
              <a:ext uri="{FF2B5EF4-FFF2-40B4-BE49-F238E27FC236}">
                <a16:creationId xmlns:a16="http://schemas.microsoft.com/office/drawing/2014/main" id="{4208A554-1962-41BF-8FE0-D103B440B748}"/>
              </a:ext>
            </a:extLst>
          </p:cNvPr>
          <p:cNvSpPr>
            <a:spLocks noGrp="1"/>
          </p:cNvSpPr>
          <p:nvPr/>
        </p:nvSpPr>
        <p:spPr>
          <a:xfrm>
            <a:off x="6629400" y="1828800"/>
            <a:ext cx="2743200" cy="1981200"/>
          </a:xfrm>
          <a:prstGeom prst="roundRect">
            <a:avLst>
              <a:gd name="adj" fmla="val 6154"/>
            </a:avLst>
          </a:prstGeom>
          <a:solidFill>
            <a:srgbClr val="FFFFFF"/>
          </a:solidFill>
          <a:ln w="19050">
            <a:solidFill>
              <a:srgbClr val="00A870"/>
            </a:solidFill>
            <a:prstDash val="solid"/>
          </a:ln>
        </p:spPr>
        <p:txBody>
          <a:bodyPr/>
          <a:lstStyle/>
          <a:p>
            <a:endParaRPr lang="en-US" sz="1440"/>
          </a:p>
        </p:txBody>
      </p:sp>
      <p:sp>
        <p:nvSpPr>
          <p:cNvPr id="27" name="Rectangle 26">
            <a:extLst>
              <a:ext uri="{FF2B5EF4-FFF2-40B4-BE49-F238E27FC236}">
                <a16:creationId xmlns:a16="http://schemas.microsoft.com/office/drawing/2014/main" id="{6A52FAB5-B592-4EEB-9105-B35200962120}"/>
              </a:ext>
            </a:extLst>
          </p:cNvPr>
          <p:cNvSpPr>
            <a:spLocks noGrp="1"/>
          </p:cNvSpPr>
          <p:nvPr/>
        </p:nvSpPr>
        <p:spPr>
          <a:xfrm>
            <a:off x="6842760" y="1973580"/>
            <a:ext cx="2316480" cy="160020"/>
          </a:xfrm>
          <a:prstGeom prst="rect">
            <a:avLst/>
          </a:prstGeom>
          <a:noFill/>
          <a:ln w="0">
            <a:noFill/>
            <a:prstDash val="solid"/>
          </a:ln>
        </p:spPr>
        <p:txBody>
          <a:bodyPr anchor="t">
            <a:noAutofit/>
          </a:bodyPr>
          <a:lstStyle/>
          <a:p>
            <a:pPr algn="l">
              <a:lnSpc>
                <a:spcPct val="108000"/>
              </a:lnSpc>
              <a:buNone/>
              <a:defRPr sz="975" b="1" i="0">
                <a:solidFill>
                  <a:srgbClr val="00A870"/>
                </a:solidFill>
                <a:latin typeface="Aptos"/>
                <a:ea typeface="Aptos"/>
                <a:cs typeface="Aptos"/>
              </a:defRPr>
            </a:pPr>
            <a:r>
              <a:rPr sz="780" b="1">
                <a:solidFill>
                  <a:srgbClr val="00A870"/>
                </a:solidFill>
                <a:latin typeface="Aptos"/>
                <a:ea typeface="Aptos"/>
                <a:cs typeface="Aptos"/>
              </a:rPr>
              <a:t>MODEL ARTIFACTS</a:t>
            </a:r>
          </a:p>
        </p:txBody>
      </p:sp>
      <p:sp>
        <p:nvSpPr>
          <p:cNvPr id="28" name="Rectangle 27">
            <a:extLst>
              <a:ext uri="{FF2B5EF4-FFF2-40B4-BE49-F238E27FC236}">
                <a16:creationId xmlns:a16="http://schemas.microsoft.com/office/drawing/2014/main" id="{509E0291-7E5A-4E0B-A5E7-71DD0B3CAD08}"/>
              </a:ext>
            </a:extLst>
          </p:cNvPr>
          <p:cNvSpPr>
            <a:spLocks noGrp="1"/>
          </p:cNvSpPr>
          <p:nvPr/>
        </p:nvSpPr>
        <p:spPr>
          <a:xfrm>
            <a:off x="6842760" y="2171700"/>
            <a:ext cx="2316480" cy="441960"/>
          </a:xfrm>
          <a:prstGeom prst="rect">
            <a:avLst/>
          </a:prstGeom>
          <a:noFill/>
          <a:ln w="0">
            <a:noFill/>
            <a:prstDash val="solid"/>
          </a:ln>
        </p:spPr>
        <p:txBody>
          <a:bodyPr anchor="ctr">
            <a:normAutofit fontScale="85303" lnSpcReduction="20000"/>
          </a:bodyPr>
          <a:lstStyle/>
          <a:p>
            <a:pPr algn="l">
              <a:lnSpc>
                <a:spcPct val="108000"/>
              </a:lnSpc>
              <a:buNone/>
              <a:defRPr sz="1800" b="1" i="0">
                <a:solidFill>
                  <a:srgbClr val="111111"/>
                </a:solidFill>
                <a:latin typeface="Georgia"/>
                <a:ea typeface="Georgia"/>
                <a:cs typeface="Georgia"/>
              </a:defRPr>
            </a:pPr>
            <a:r>
              <a:rPr sz="1440" b="1">
                <a:solidFill>
                  <a:srgbClr val="111111"/>
                </a:solidFill>
                <a:latin typeface="Georgia"/>
                <a:ea typeface="Georgia"/>
                <a:cs typeface="Georgia"/>
              </a:rPr>
              <a:t>Phenotype centroids + Model 4</a:t>
            </a:r>
          </a:p>
        </p:txBody>
      </p:sp>
      <p:sp>
        <p:nvSpPr>
          <p:cNvPr id="29" name="Rectangle 28">
            <a:extLst>
              <a:ext uri="{FF2B5EF4-FFF2-40B4-BE49-F238E27FC236}">
                <a16:creationId xmlns:a16="http://schemas.microsoft.com/office/drawing/2014/main" id="{74392796-9DAF-4FF8-B27A-63F40BD8B82D}"/>
              </a:ext>
            </a:extLst>
          </p:cNvPr>
          <p:cNvSpPr>
            <a:spLocks noGrp="1"/>
          </p:cNvSpPr>
          <p:nvPr/>
        </p:nvSpPr>
        <p:spPr>
          <a:xfrm>
            <a:off x="6842760" y="2682240"/>
            <a:ext cx="2316480" cy="990600"/>
          </a:xfrm>
          <a:prstGeom prst="rect">
            <a:avLst/>
          </a:prstGeom>
          <a:noFill/>
          <a:ln w="0">
            <a:noFill/>
            <a:prstDash val="solid"/>
          </a:ln>
        </p:spPr>
        <p:txBody>
          <a:bodyPr anchor="t">
            <a:normAutofit/>
          </a:bodyPr>
          <a:lstStyle/>
          <a:p>
            <a:pPr algn="l">
              <a:lnSpc>
                <a:spcPct val="115000"/>
              </a:lnSpc>
              <a:buNone/>
              <a:defRPr sz="1425" b="0" i="0">
                <a:solidFill>
                  <a:srgbClr val="5A5A5A"/>
                </a:solidFill>
                <a:latin typeface="Aptos"/>
                <a:ea typeface="Aptos"/>
                <a:cs typeface="Aptos"/>
              </a:defRPr>
            </a:pPr>
            <a:r>
              <a:rPr sz="1140">
                <a:solidFill>
                  <a:srgbClr val="5A5A5A"/>
                </a:solidFill>
                <a:latin typeface="Aptos"/>
                <a:ea typeface="Aptos"/>
                <a:cs typeface="Aptos"/>
              </a:rPr>
              <a:t>RBT/RIWT directional signatures and outcome-specific logistic coefficients for 1-, 3-, and 7-day mortality.</a:t>
            </a:r>
          </a:p>
        </p:txBody>
      </p:sp>
      <p:sp>
        <p:nvSpPr>
          <p:cNvPr id="30" name="Rounded Rectangle 29">
            <a:extLst>
              <a:ext uri="{FF2B5EF4-FFF2-40B4-BE49-F238E27FC236}">
                <a16:creationId xmlns:a16="http://schemas.microsoft.com/office/drawing/2014/main" id="{2354259C-79A8-429C-8772-EADD9A30947F}"/>
              </a:ext>
            </a:extLst>
          </p:cNvPr>
          <p:cNvSpPr>
            <a:spLocks noGrp="1"/>
          </p:cNvSpPr>
          <p:nvPr/>
        </p:nvSpPr>
        <p:spPr>
          <a:xfrm>
            <a:off x="9982200" y="1981200"/>
            <a:ext cx="1752600" cy="1676400"/>
          </a:xfrm>
          <a:prstGeom prst="roundRect">
            <a:avLst>
              <a:gd name="adj" fmla="val 7273"/>
            </a:avLst>
          </a:prstGeom>
          <a:solidFill>
            <a:srgbClr val="FFF3E5"/>
          </a:solidFill>
          <a:ln w="19050">
            <a:solidFill>
              <a:srgbClr val="EF7D00"/>
            </a:solidFill>
            <a:prstDash val="solid"/>
          </a:ln>
        </p:spPr>
        <p:txBody>
          <a:bodyPr/>
          <a:lstStyle/>
          <a:p>
            <a:endParaRPr lang="en-US" sz="1440"/>
          </a:p>
        </p:txBody>
      </p:sp>
      <p:sp>
        <p:nvSpPr>
          <p:cNvPr id="31" name="Rectangle 30">
            <a:extLst>
              <a:ext uri="{FF2B5EF4-FFF2-40B4-BE49-F238E27FC236}">
                <a16:creationId xmlns:a16="http://schemas.microsoft.com/office/drawing/2014/main" id="{53E20F53-D24E-404B-A358-599BC0D1A9DE}"/>
              </a:ext>
            </a:extLst>
          </p:cNvPr>
          <p:cNvSpPr>
            <a:spLocks noGrp="1"/>
          </p:cNvSpPr>
          <p:nvPr/>
        </p:nvSpPr>
        <p:spPr>
          <a:xfrm>
            <a:off x="10195560" y="2125980"/>
            <a:ext cx="1325880" cy="160020"/>
          </a:xfrm>
          <a:prstGeom prst="rect">
            <a:avLst/>
          </a:prstGeom>
          <a:noFill/>
          <a:ln w="0">
            <a:noFill/>
            <a:prstDash val="solid"/>
          </a:ln>
        </p:spPr>
        <p:txBody>
          <a:bodyPr anchor="t">
            <a:noAutofit/>
          </a:bodyPr>
          <a:lstStyle/>
          <a:p>
            <a:pPr algn="l">
              <a:lnSpc>
                <a:spcPct val="108000"/>
              </a:lnSpc>
              <a:buNone/>
              <a:defRPr sz="975" b="1" i="0">
                <a:solidFill>
                  <a:srgbClr val="EF7D00"/>
                </a:solidFill>
                <a:latin typeface="Aptos"/>
                <a:ea typeface="Aptos"/>
                <a:cs typeface="Aptos"/>
              </a:defRPr>
            </a:pPr>
            <a:r>
              <a:rPr sz="780" b="1">
                <a:solidFill>
                  <a:srgbClr val="EF7D00"/>
                </a:solidFill>
                <a:latin typeface="Aptos"/>
                <a:ea typeface="Aptos"/>
                <a:cs typeface="Aptos"/>
              </a:rPr>
              <a:t>BUSINESS INTERFACE</a:t>
            </a:r>
          </a:p>
        </p:txBody>
      </p:sp>
      <p:sp>
        <p:nvSpPr>
          <p:cNvPr id="32" name="Rectangle 31">
            <a:extLst>
              <a:ext uri="{FF2B5EF4-FFF2-40B4-BE49-F238E27FC236}">
                <a16:creationId xmlns:a16="http://schemas.microsoft.com/office/drawing/2014/main" id="{FA4B628A-DD25-45B4-AB38-E031B349828A}"/>
              </a:ext>
            </a:extLst>
          </p:cNvPr>
          <p:cNvSpPr>
            <a:spLocks noGrp="1"/>
          </p:cNvSpPr>
          <p:nvPr/>
        </p:nvSpPr>
        <p:spPr>
          <a:xfrm>
            <a:off x="10195560" y="2324100"/>
            <a:ext cx="1325880" cy="441960"/>
          </a:xfrm>
          <a:prstGeom prst="rect">
            <a:avLst/>
          </a:prstGeom>
          <a:noFill/>
          <a:ln w="0">
            <a:noFill/>
            <a:prstDash val="solid"/>
          </a:ln>
        </p:spPr>
        <p:txBody>
          <a:bodyPr anchor="ctr">
            <a:normAutofit/>
          </a:bodyPr>
          <a:lstStyle/>
          <a:p>
            <a:pPr algn="l">
              <a:lnSpc>
                <a:spcPct val="108000"/>
              </a:lnSpc>
              <a:buNone/>
              <a:defRPr sz="1500" b="1" i="0">
                <a:solidFill>
                  <a:srgbClr val="111111"/>
                </a:solidFill>
                <a:latin typeface="Georgia"/>
                <a:ea typeface="Georgia"/>
                <a:cs typeface="Georgia"/>
              </a:defRPr>
            </a:pPr>
            <a:r>
              <a:rPr sz="1200" b="1">
                <a:solidFill>
                  <a:srgbClr val="111111"/>
                </a:solidFill>
                <a:latin typeface="Georgia"/>
                <a:ea typeface="Georgia"/>
                <a:cs typeface="Georgia"/>
              </a:rPr>
              <a:t>Streamlit</a:t>
            </a:r>
          </a:p>
        </p:txBody>
      </p:sp>
      <p:sp>
        <p:nvSpPr>
          <p:cNvPr id="33" name="Rectangle 32">
            <a:extLst>
              <a:ext uri="{FF2B5EF4-FFF2-40B4-BE49-F238E27FC236}">
                <a16:creationId xmlns:a16="http://schemas.microsoft.com/office/drawing/2014/main" id="{30C65CB1-F2C3-42F4-A2DB-8E8E69A914C8}"/>
              </a:ext>
            </a:extLst>
          </p:cNvPr>
          <p:cNvSpPr>
            <a:spLocks noGrp="1"/>
          </p:cNvSpPr>
          <p:nvPr/>
        </p:nvSpPr>
        <p:spPr>
          <a:xfrm>
            <a:off x="10195560" y="2834640"/>
            <a:ext cx="1325880" cy="685800"/>
          </a:xfrm>
          <a:prstGeom prst="rect">
            <a:avLst/>
          </a:prstGeom>
          <a:noFill/>
          <a:ln w="0">
            <a:noFill/>
            <a:prstDash val="solid"/>
          </a:ln>
        </p:spPr>
        <p:txBody>
          <a:bodyPr anchor="t">
            <a:normAutofit fontScale="91666" lnSpcReduction="20000"/>
          </a:bodyPr>
          <a:lstStyle/>
          <a:p>
            <a:pPr algn="l">
              <a:lnSpc>
                <a:spcPct val="115000"/>
              </a:lnSpc>
              <a:buNone/>
              <a:defRPr sz="1425" b="0" i="0">
                <a:solidFill>
                  <a:srgbClr val="5A5A5A"/>
                </a:solidFill>
                <a:latin typeface="Aptos"/>
                <a:ea typeface="Aptos"/>
                <a:cs typeface="Aptos"/>
              </a:defRPr>
            </a:pPr>
            <a:r>
              <a:rPr sz="1140">
                <a:solidFill>
                  <a:srgbClr val="5A5A5A"/>
                </a:solidFill>
                <a:latin typeface="Aptos"/>
                <a:ea typeface="Aptos"/>
                <a:cs typeface="Aptos"/>
              </a:rPr>
              <a:t>Inputs → phenotype → predicted mortality bars → references.</a:t>
            </a:r>
          </a:p>
        </p:txBody>
      </p:sp>
      <p:sp>
        <p:nvSpPr>
          <p:cNvPr id="34" name="Rectangle 33">
            <a:extLst>
              <a:ext uri="{FF2B5EF4-FFF2-40B4-BE49-F238E27FC236}">
                <a16:creationId xmlns:a16="http://schemas.microsoft.com/office/drawing/2014/main" id="{F6B36D53-4486-47F5-860C-89D62E1A059E}"/>
              </a:ext>
            </a:extLst>
          </p:cNvPr>
          <p:cNvSpPr>
            <a:spLocks noGrp="1"/>
          </p:cNvSpPr>
          <p:nvPr/>
        </p:nvSpPr>
        <p:spPr>
          <a:xfrm>
            <a:off x="762000" y="4419600"/>
            <a:ext cx="3200400" cy="289560"/>
          </a:xfrm>
          <a:prstGeom prst="rect">
            <a:avLst/>
          </a:prstGeom>
          <a:noFill/>
          <a:ln w="0">
            <a:noFill/>
            <a:prstDash val="solid"/>
          </a:ln>
        </p:spPr>
        <p:txBody>
          <a:bodyPr anchor="t">
            <a:noAutofit/>
          </a:bodyPr>
          <a:lstStyle/>
          <a:p>
            <a:pPr algn="l">
              <a:lnSpc>
                <a:spcPct val="108000"/>
              </a:lnSpc>
              <a:buNone/>
              <a:defRPr sz="2025" b="1" i="0">
                <a:solidFill>
                  <a:srgbClr val="EF7D00"/>
                </a:solidFill>
                <a:latin typeface="Georgia"/>
                <a:ea typeface="Georgia"/>
                <a:cs typeface="Georgia"/>
              </a:defRPr>
            </a:pPr>
            <a:r>
              <a:rPr sz="1620" b="1">
                <a:solidFill>
                  <a:srgbClr val="EF7D00"/>
                </a:solidFill>
                <a:latin typeface="Georgia"/>
                <a:ea typeface="Georgia"/>
                <a:cs typeface="Georgia"/>
              </a:rPr>
              <a:t>Streamlit input contract</a:t>
            </a:r>
          </a:p>
        </p:txBody>
      </p:sp>
      <p:sp>
        <p:nvSpPr>
          <p:cNvPr id="35" name="Rectangle 34">
            <a:extLst>
              <a:ext uri="{FF2B5EF4-FFF2-40B4-BE49-F238E27FC236}">
                <a16:creationId xmlns:a16="http://schemas.microsoft.com/office/drawing/2014/main" id="{5D625B3D-02A3-49BA-9BA4-04CD5947EE8E}"/>
              </a:ext>
            </a:extLst>
          </p:cNvPr>
          <p:cNvSpPr>
            <a:spLocks noGrp="1"/>
          </p:cNvSpPr>
          <p:nvPr/>
        </p:nvSpPr>
        <p:spPr>
          <a:xfrm>
            <a:off x="800100" y="4800600"/>
            <a:ext cx="4953000" cy="1143000"/>
          </a:xfrm>
          <a:prstGeom prst="rect">
            <a:avLst/>
          </a:prstGeom>
          <a:noFill/>
          <a:ln w="0">
            <a:noFill/>
            <a:prstDash val="solid"/>
          </a:ln>
        </p:spPr>
        <p:txBody>
          <a:bodyPr>
            <a:normAutofit/>
          </a:bodyPr>
          <a:lstStyle/>
          <a:p>
            <a:pPr marL="19" indent="-10">
              <a:lnSpc>
                <a:spcPct val="110000"/>
              </a:lnSpc>
              <a:spcAft>
                <a:spcPts val="6"/>
              </a:spcAft>
              <a:defRPr sz="1500">
                <a:solidFill>
                  <a:srgbClr val="111111"/>
                </a:solidFill>
                <a:latin typeface="Aptos"/>
                <a:ea typeface="Aptos"/>
                <a:cs typeface="Aptos"/>
              </a:defRPr>
            </a:pPr>
            <a:r>
              <a:rPr sz="1200">
                <a:solidFill>
                  <a:srgbClr val="111111"/>
                </a:solidFill>
                <a:latin typeface="Aptos"/>
                <a:ea typeface="Aptos"/>
                <a:cs typeface="Aptos"/>
              </a:rPr>
              <a:t>Initial and follow-up values for all four labs</a:t>
            </a:r>
          </a:p>
          <a:p>
            <a:pPr marL="19" indent="-10">
              <a:lnSpc>
                <a:spcPct val="110000"/>
              </a:lnSpc>
              <a:spcAft>
                <a:spcPts val="6"/>
              </a:spcAft>
              <a:defRPr sz="1500">
                <a:solidFill>
                  <a:srgbClr val="111111"/>
                </a:solidFill>
                <a:latin typeface="Aptos"/>
                <a:ea typeface="Aptos"/>
                <a:cs typeface="Aptos"/>
              </a:defRPr>
            </a:pPr>
            <a:r>
              <a:rPr sz="1200">
                <a:solidFill>
                  <a:srgbClr val="111111"/>
                </a:solidFill>
                <a:latin typeface="Aptos"/>
                <a:ea typeface="Aptos"/>
                <a:cs typeface="Aptos"/>
              </a:rPr>
              <a:t>Age and sex</a:t>
            </a:r>
          </a:p>
          <a:p>
            <a:pPr marL="19" indent="-10">
              <a:lnSpc>
                <a:spcPct val="110000"/>
              </a:lnSpc>
              <a:spcAft>
                <a:spcPts val="6"/>
              </a:spcAft>
              <a:defRPr sz="1500">
                <a:solidFill>
                  <a:srgbClr val="111111"/>
                </a:solidFill>
                <a:latin typeface="Aptos"/>
                <a:ea typeface="Aptos"/>
                <a:cs typeface="Aptos"/>
              </a:defRPr>
            </a:pPr>
            <a:r>
              <a:rPr sz="1200">
                <a:solidFill>
                  <a:srgbClr val="111111"/>
                </a:solidFill>
                <a:latin typeface="Aptos"/>
                <a:ea typeface="Aptos"/>
                <a:cs typeface="Aptos"/>
              </a:rPr>
              <a:t>ICU type</a:t>
            </a:r>
          </a:p>
          <a:p>
            <a:pPr marL="19" indent="-10">
              <a:lnSpc>
                <a:spcPct val="110000"/>
              </a:lnSpc>
              <a:spcAft>
                <a:spcPts val="6"/>
              </a:spcAft>
              <a:defRPr sz="1500">
                <a:solidFill>
                  <a:srgbClr val="111111"/>
                </a:solidFill>
                <a:latin typeface="Aptos"/>
                <a:ea typeface="Aptos"/>
                <a:cs typeface="Aptos"/>
              </a:defRPr>
            </a:pPr>
            <a:r>
              <a:rPr sz="1200">
                <a:solidFill>
                  <a:srgbClr val="111111"/>
                </a:solidFill>
                <a:latin typeface="Aptos"/>
                <a:ea typeface="Aptos"/>
                <a:cs typeface="Aptos"/>
              </a:rPr>
              <a:t>Real 26_all_model_coefficients.csv for non-demo prediction</a:t>
            </a:r>
          </a:p>
        </p:txBody>
      </p:sp>
      <p:sp>
        <p:nvSpPr>
          <p:cNvPr id="36" name="Rectangle 35">
            <a:extLst>
              <a:ext uri="{FF2B5EF4-FFF2-40B4-BE49-F238E27FC236}">
                <a16:creationId xmlns:a16="http://schemas.microsoft.com/office/drawing/2014/main" id="{67D49DA2-F83C-42B3-8565-068978450C36}"/>
              </a:ext>
            </a:extLst>
          </p:cNvPr>
          <p:cNvSpPr>
            <a:spLocks noGrp="1"/>
          </p:cNvSpPr>
          <p:nvPr/>
        </p:nvSpPr>
        <p:spPr>
          <a:xfrm>
            <a:off x="6629400" y="4419600"/>
            <a:ext cx="3200400" cy="289560"/>
          </a:xfrm>
          <a:prstGeom prst="rect">
            <a:avLst/>
          </a:prstGeom>
          <a:noFill/>
          <a:ln w="0">
            <a:noFill/>
            <a:prstDash val="solid"/>
          </a:ln>
        </p:spPr>
        <p:txBody>
          <a:bodyPr anchor="t">
            <a:noAutofit/>
          </a:bodyPr>
          <a:lstStyle/>
          <a:p>
            <a:pPr algn="l">
              <a:lnSpc>
                <a:spcPct val="108000"/>
              </a:lnSpc>
              <a:buNone/>
              <a:defRPr sz="2025" b="1" i="0">
                <a:solidFill>
                  <a:srgbClr val="EF7D00"/>
                </a:solidFill>
                <a:latin typeface="Georgia"/>
                <a:ea typeface="Georgia"/>
                <a:cs typeface="Georgia"/>
              </a:defRPr>
            </a:pPr>
            <a:r>
              <a:rPr sz="1620" b="1">
                <a:solidFill>
                  <a:srgbClr val="EF7D00"/>
                </a:solidFill>
                <a:latin typeface="Georgia"/>
                <a:ea typeface="Georgia"/>
                <a:cs typeface="Georgia"/>
              </a:rPr>
              <a:t>Operational controls</a:t>
            </a:r>
          </a:p>
        </p:txBody>
      </p:sp>
      <p:sp>
        <p:nvSpPr>
          <p:cNvPr id="37" name="Rectangle 36">
            <a:extLst>
              <a:ext uri="{FF2B5EF4-FFF2-40B4-BE49-F238E27FC236}">
                <a16:creationId xmlns:a16="http://schemas.microsoft.com/office/drawing/2014/main" id="{2384599F-381E-4A57-9BE3-27A820F9EE1E}"/>
              </a:ext>
            </a:extLst>
          </p:cNvPr>
          <p:cNvSpPr>
            <a:spLocks noGrp="1"/>
          </p:cNvSpPr>
          <p:nvPr/>
        </p:nvSpPr>
        <p:spPr>
          <a:xfrm>
            <a:off x="6667500" y="4800600"/>
            <a:ext cx="4724400" cy="1143000"/>
          </a:xfrm>
          <a:prstGeom prst="rect">
            <a:avLst/>
          </a:prstGeom>
          <a:noFill/>
          <a:ln w="0">
            <a:noFill/>
            <a:prstDash val="solid"/>
          </a:ln>
        </p:spPr>
        <p:txBody>
          <a:bodyPr>
            <a:normAutofit/>
          </a:bodyPr>
          <a:lstStyle/>
          <a:p>
            <a:pPr marL="19" indent="-10">
              <a:lnSpc>
                <a:spcPct val="110000"/>
              </a:lnSpc>
              <a:spcAft>
                <a:spcPts val="6"/>
              </a:spcAft>
              <a:defRPr sz="1500">
                <a:solidFill>
                  <a:srgbClr val="111111"/>
                </a:solidFill>
                <a:latin typeface="Aptos"/>
                <a:ea typeface="Aptos"/>
                <a:cs typeface="Aptos"/>
              </a:defRPr>
            </a:pPr>
            <a:r>
              <a:rPr sz="1200">
                <a:solidFill>
                  <a:srgbClr val="111111"/>
                </a:solidFill>
                <a:latin typeface="Aptos"/>
                <a:ea typeface="Aptos"/>
                <a:cs typeface="Aptos"/>
              </a:rPr>
              <a:t>Fail if required covariates do not resolve</a:t>
            </a:r>
          </a:p>
          <a:p>
            <a:pPr marL="19" indent="-10">
              <a:lnSpc>
                <a:spcPct val="110000"/>
              </a:lnSpc>
              <a:spcAft>
                <a:spcPts val="6"/>
              </a:spcAft>
              <a:defRPr sz="1500">
                <a:solidFill>
                  <a:srgbClr val="111111"/>
                </a:solidFill>
                <a:latin typeface="Aptos"/>
                <a:ea typeface="Aptos"/>
                <a:cs typeface="Aptos"/>
              </a:defRPr>
            </a:pPr>
            <a:r>
              <a:rPr sz="1200">
                <a:solidFill>
                  <a:srgbClr val="111111"/>
                </a:solidFill>
                <a:latin typeface="Aptos"/>
                <a:ea typeface="Aptos"/>
                <a:cs typeface="Aptos"/>
              </a:rPr>
              <a:t>Smoke-test the full chain on the MIMIC-IV demo</a:t>
            </a:r>
          </a:p>
          <a:p>
            <a:pPr marL="19" indent="-10">
              <a:lnSpc>
                <a:spcPct val="110000"/>
              </a:lnSpc>
              <a:spcAft>
                <a:spcPts val="6"/>
              </a:spcAft>
              <a:defRPr sz="1500">
                <a:solidFill>
                  <a:srgbClr val="111111"/>
                </a:solidFill>
                <a:latin typeface="Aptos"/>
                <a:ea typeface="Aptos"/>
                <a:cs typeface="Aptos"/>
              </a:defRPr>
            </a:pPr>
            <a:r>
              <a:rPr sz="1200">
                <a:solidFill>
                  <a:srgbClr val="111111"/>
                </a:solidFill>
                <a:latin typeface="Aptos"/>
                <a:ea typeface="Aptos"/>
                <a:cs typeface="Aptos"/>
              </a:rPr>
              <a:t>Externalize absolute paths and pin PostgreSQL resources</a:t>
            </a:r>
          </a:p>
          <a:p>
            <a:pPr marL="19" indent="-10">
              <a:lnSpc>
                <a:spcPct val="110000"/>
              </a:lnSpc>
              <a:spcAft>
                <a:spcPts val="6"/>
              </a:spcAft>
              <a:defRPr sz="1500">
                <a:solidFill>
                  <a:srgbClr val="111111"/>
                </a:solidFill>
                <a:latin typeface="Aptos"/>
                <a:ea typeface="Aptos"/>
                <a:cs typeface="Aptos"/>
              </a:defRPr>
            </a:pPr>
            <a:r>
              <a:rPr sz="1200">
                <a:solidFill>
                  <a:srgbClr val="111111"/>
                </a:solidFill>
                <a:latin typeface="Aptos"/>
                <a:ea typeface="Aptos"/>
                <a:cs typeface="Aptos"/>
              </a:rPr>
              <a:t>Revalidate phenotype and outcome drift</a:t>
            </a:r>
          </a:p>
        </p:txBody>
      </p:sp>
      <p:sp>
        <p:nvSpPr>
          <p:cNvPr id="38" name="Straight Connector 37">
            <a:extLst>
              <a:ext uri="{FF2B5EF4-FFF2-40B4-BE49-F238E27FC236}">
                <a16:creationId xmlns:a16="http://schemas.microsoft.com/office/drawing/2014/main" id="{B5628399-E7E6-4856-A132-851D66EEF602}"/>
              </a:ext>
            </a:extLst>
          </p:cNvPr>
          <p:cNvSpPr>
            <a:spLocks noGrp="1"/>
          </p:cNvSpPr>
          <p:nvPr/>
        </p:nvSpPr>
        <p:spPr>
          <a:xfrm>
            <a:off x="609600" y="6507480"/>
            <a:ext cx="10972800" cy="0"/>
          </a:xfrm>
          <a:prstGeom prst="line">
            <a:avLst/>
          </a:prstGeom>
          <a:noFill/>
          <a:ln w="9525">
            <a:solidFill>
              <a:srgbClr val="DDDDDD"/>
            </a:solidFill>
            <a:prstDash val="solid"/>
          </a:ln>
        </p:spPr>
        <p:txBody>
          <a:bodyPr/>
          <a:lstStyle/>
          <a:p>
            <a:endParaRPr lang="en-US" sz="1440"/>
          </a:p>
        </p:txBody>
      </p:sp>
      <p:sp>
        <p:nvSpPr>
          <p:cNvPr id="39" name="Rectangle 38">
            <a:extLst>
              <a:ext uri="{FF2B5EF4-FFF2-40B4-BE49-F238E27FC236}">
                <a16:creationId xmlns:a16="http://schemas.microsoft.com/office/drawing/2014/main" id="{2E838313-8968-40B6-9FE1-93DFE86D4A8E}"/>
              </a:ext>
            </a:extLst>
          </p:cNvPr>
          <p:cNvSpPr>
            <a:spLocks noGrp="1"/>
          </p:cNvSpPr>
          <p:nvPr/>
        </p:nvSpPr>
        <p:spPr>
          <a:xfrm>
            <a:off x="624840" y="6568440"/>
            <a:ext cx="5791200" cy="167640"/>
          </a:xfrm>
          <a:prstGeom prst="rect">
            <a:avLst/>
          </a:prstGeom>
          <a:noFill/>
          <a:ln w="0">
            <a:noFill/>
            <a:prstDash val="solid"/>
          </a:ln>
        </p:spPr>
        <p:txBody>
          <a:bodyPr anchor="t">
            <a:noAutofit/>
          </a:bodyPr>
          <a:lstStyle/>
          <a:p>
            <a:pPr algn="l">
              <a:lnSpc>
                <a:spcPct val="108000"/>
              </a:lnSpc>
              <a:buNone/>
              <a:defRPr sz="975" b="0" i="0">
                <a:solidFill>
                  <a:srgbClr val="777777"/>
                </a:solidFill>
                <a:latin typeface="Aptos"/>
                <a:ea typeface="Aptos"/>
                <a:cs typeface="Aptos"/>
              </a:defRPr>
            </a:pPr>
            <a:r>
              <a:rPr sz="780">
                <a:solidFill>
                  <a:srgbClr val="777777"/>
                </a:solidFill>
                <a:latin typeface="Aptos"/>
                <a:ea typeface="Aptos"/>
                <a:cs typeface="Aptos"/>
              </a:rPr>
              <a:t>MIMIC-IV first-24-hour biochemical trajectory study</a:t>
            </a:r>
          </a:p>
        </p:txBody>
      </p:sp>
      <p:sp>
        <p:nvSpPr>
          <p:cNvPr id="40" name="Rectangle 39">
            <a:extLst>
              <a:ext uri="{FF2B5EF4-FFF2-40B4-BE49-F238E27FC236}">
                <a16:creationId xmlns:a16="http://schemas.microsoft.com/office/drawing/2014/main" id="{426416F9-7A16-4827-B34A-4702839E20EF}"/>
              </a:ext>
            </a:extLst>
          </p:cNvPr>
          <p:cNvSpPr>
            <a:spLocks noGrp="1"/>
          </p:cNvSpPr>
          <p:nvPr/>
        </p:nvSpPr>
        <p:spPr>
          <a:xfrm>
            <a:off x="11163300" y="6568440"/>
            <a:ext cx="381000" cy="167640"/>
          </a:xfrm>
          <a:prstGeom prst="rect">
            <a:avLst/>
          </a:prstGeom>
          <a:noFill/>
          <a:ln w="0">
            <a:noFill/>
            <a:prstDash val="solid"/>
          </a:ln>
        </p:spPr>
        <p:txBody>
          <a:bodyPr anchor="t">
            <a:noAutofit/>
          </a:bodyPr>
          <a:lstStyle/>
          <a:p>
            <a:pPr algn="r">
              <a:lnSpc>
                <a:spcPct val="108000"/>
              </a:lnSpc>
              <a:buNone/>
              <a:defRPr sz="975" b="0" i="0">
                <a:solidFill>
                  <a:srgbClr val="777777"/>
                </a:solidFill>
                <a:latin typeface="Aptos"/>
                <a:ea typeface="Aptos"/>
                <a:cs typeface="Aptos"/>
              </a:defRPr>
            </a:pPr>
            <a:r>
              <a:rPr sz="780">
                <a:solidFill>
                  <a:srgbClr val="777777"/>
                </a:solidFill>
                <a:latin typeface="Aptos"/>
                <a:ea typeface="Aptos"/>
                <a:cs typeface="Aptos"/>
              </a:rPr>
              <a:t>10</a:t>
            </a:r>
          </a:p>
        </p:txBody>
      </p:sp>
    </p:spTree>
    <p:extLst>
      <p:ext uri="{BB962C8B-B14F-4D97-AF65-F5344CB8AC3E}">
        <p14:creationId xmlns:p14="http://schemas.microsoft.com/office/powerpoint/2010/main" val="14328998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title">
            <a:extLst>
              <a:ext uri="{FF2B5EF4-FFF2-40B4-BE49-F238E27FC236}">
                <a16:creationId xmlns:a16="http://schemas.microsoft.com/office/drawing/2014/main" id="{A9B9EA22-48D8-4EE3-876A-6CC375932B1E}"/>
              </a:ext>
            </a:extLst>
          </p:cNvPr>
          <p:cNvSpPr>
            <a:spLocks noGrp="1"/>
          </p:cNvSpPr>
          <p:nvPr/>
        </p:nvSpPr>
        <p:spPr>
          <a:xfrm>
            <a:off x="594360" y="259080"/>
            <a:ext cx="8534400" cy="533400"/>
          </a:xfrm>
          <a:prstGeom prst="rect">
            <a:avLst/>
          </a:prstGeom>
          <a:noFill/>
          <a:ln w="0">
            <a:noFill/>
            <a:prstDash val="solid"/>
          </a:ln>
        </p:spPr>
        <p:txBody>
          <a:bodyPr anchor="t">
            <a:normAutofit fontScale="86305"/>
          </a:bodyPr>
          <a:lstStyle/>
          <a:p>
            <a:pPr algn="l">
              <a:lnSpc>
                <a:spcPct val="108000"/>
              </a:lnSpc>
              <a:buNone/>
              <a:defRPr sz="4050" b="1" i="0">
                <a:solidFill>
                  <a:srgbClr val="111111"/>
                </a:solidFill>
                <a:latin typeface="Georgia"/>
                <a:ea typeface="Georgia"/>
                <a:cs typeface="Georgia"/>
              </a:defRPr>
            </a:pPr>
            <a:r>
              <a:rPr sz="3240" b="1">
                <a:solidFill>
                  <a:srgbClr val="111111"/>
                </a:solidFill>
                <a:latin typeface="Georgia"/>
                <a:ea typeface="Georgia"/>
                <a:cs typeface="Georgia"/>
              </a:rPr>
              <a:t>One Conclusion, Four Connected Stages</a:t>
            </a:r>
          </a:p>
        </p:txBody>
      </p:sp>
      <p:sp>
        <p:nvSpPr>
          <p:cNvPr id="2" name="Rectangle 1">
            <a:extLst>
              <a:ext uri="{FF2B5EF4-FFF2-40B4-BE49-F238E27FC236}">
                <a16:creationId xmlns:a16="http://schemas.microsoft.com/office/drawing/2014/main" id="{B428FA3F-2390-4A95-8963-07FC2E18983D}"/>
              </a:ext>
            </a:extLst>
          </p:cNvPr>
          <p:cNvSpPr>
            <a:spLocks noGrp="1"/>
          </p:cNvSpPr>
          <p:nvPr/>
        </p:nvSpPr>
        <p:spPr>
          <a:xfrm>
            <a:off x="9372600" y="228600"/>
            <a:ext cx="2286000" cy="533400"/>
          </a:xfrm>
          <a:prstGeom prst="rect">
            <a:avLst/>
          </a:prstGeom>
          <a:noFill/>
          <a:ln w="0">
            <a:noFill/>
            <a:prstDash val="solid"/>
          </a:ln>
        </p:spPr>
        <p:txBody>
          <a:bodyPr anchor="t">
            <a:normAutofit/>
          </a:bodyPr>
          <a:lstStyle/>
          <a:p>
            <a:pPr algn="r">
              <a:lnSpc>
                <a:spcPct val="108000"/>
              </a:lnSpc>
              <a:buNone/>
              <a:defRPr sz="3000" b="1" i="0">
                <a:solidFill>
                  <a:srgbClr val="EF7D00"/>
                </a:solidFill>
                <a:latin typeface="Georgia"/>
                <a:ea typeface="Georgia"/>
                <a:cs typeface="Georgia"/>
              </a:defRPr>
            </a:pPr>
            <a:r>
              <a:rPr sz="2400" b="1">
                <a:solidFill>
                  <a:srgbClr val="EF7D00"/>
                </a:solidFill>
                <a:latin typeface="Georgia"/>
                <a:ea typeface="Georgia"/>
                <a:cs typeface="Georgia"/>
              </a:rPr>
              <a:t>Summary</a:t>
            </a:r>
          </a:p>
        </p:txBody>
      </p:sp>
      <p:sp>
        <p:nvSpPr>
          <p:cNvPr id="3" name="Rectangle 2">
            <a:extLst>
              <a:ext uri="{FF2B5EF4-FFF2-40B4-BE49-F238E27FC236}">
                <a16:creationId xmlns:a16="http://schemas.microsoft.com/office/drawing/2014/main" id="{2E02DA83-C784-4F2D-B499-10C6D0D2AE45}"/>
              </a:ext>
            </a:extLst>
          </p:cNvPr>
          <p:cNvSpPr>
            <a:spLocks noGrp="1"/>
          </p:cNvSpPr>
          <p:nvPr/>
        </p:nvSpPr>
        <p:spPr>
          <a:xfrm>
            <a:off x="624840" y="853440"/>
            <a:ext cx="8610600" cy="259080"/>
          </a:xfrm>
          <a:prstGeom prst="rect">
            <a:avLst/>
          </a:prstGeom>
          <a:noFill/>
          <a:ln w="0">
            <a:noFill/>
            <a:prstDash val="solid"/>
          </a:ln>
        </p:spPr>
        <p:txBody>
          <a:bodyPr anchor="t">
            <a:noAutofit/>
          </a:bodyPr>
          <a:lstStyle/>
          <a:p>
            <a:pPr algn="l">
              <a:lnSpc>
                <a:spcPct val="108000"/>
              </a:lnSpc>
              <a:buNone/>
              <a:defRPr sz="1500" b="0" i="0">
                <a:solidFill>
                  <a:srgbClr val="5A5A5A"/>
                </a:solidFill>
                <a:latin typeface="Aptos"/>
                <a:ea typeface="Aptos"/>
                <a:cs typeface="Aptos"/>
              </a:defRPr>
            </a:pPr>
            <a:r>
              <a:rPr sz="1200">
                <a:solidFill>
                  <a:srgbClr val="5A5A5A"/>
                </a:solidFill>
                <a:latin typeface="Aptos"/>
                <a:ea typeface="Aptos"/>
                <a:cs typeface="Aptos"/>
              </a:rPr>
              <a:t>The presentation now ends where it began: a clinical need answered by a traceable BI system.</a:t>
            </a:r>
          </a:p>
        </p:txBody>
      </p:sp>
      <p:sp>
        <p:nvSpPr>
          <p:cNvPr id="4" name="Straight Connector 3">
            <a:extLst>
              <a:ext uri="{FF2B5EF4-FFF2-40B4-BE49-F238E27FC236}">
                <a16:creationId xmlns:a16="http://schemas.microsoft.com/office/drawing/2014/main" id="{7205EE8E-98D1-48EC-BF79-C411743303F3}"/>
              </a:ext>
            </a:extLst>
          </p:cNvPr>
          <p:cNvSpPr>
            <a:spLocks noGrp="1"/>
          </p:cNvSpPr>
          <p:nvPr/>
        </p:nvSpPr>
        <p:spPr>
          <a:xfrm>
            <a:off x="1981200" y="2110740"/>
            <a:ext cx="0" cy="579120"/>
          </a:xfrm>
          <a:prstGeom prst="line">
            <a:avLst/>
          </a:prstGeom>
          <a:noFill/>
          <a:ln w="19050">
            <a:solidFill>
              <a:srgbClr val="B9B9B9"/>
            </a:solidFill>
            <a:prstDash val="solid"/>
          </a:ln>
        </p:spPr>
        <p:txBody>
          <a:bodyPr/>
          <a:lstStyle/>
          <a:p>
            <a:endParaRPr lang="en-US" sz="1440"/>
          </a:p>
        </p:txBody>
      </p:sp>
      <p:sp>
        <p:nvSpPr>
          <p:cNvPr id="5" name="Straight Connector 4">
            <a:extLst>
              <a:ext uri="{FF2B5EF4-FFF2-40B4-BE49-F238E27FC236}">
                <a16:creationId xmlns:a16="http://schemas.microsoft.com/office/drawing/2014/main" id="{931C3853-D3D0-45D3-87C6-4CF495E1558E}"/>
              </a:ext>
            </a:extLst>
          </p:cNvPr>
          <p:cNvSpPr>
            <a:spLocks noGrp="1"/>
          </p:cNvSpPr>
          <p:nvPr/>
        </p:nvSpPr>
        <p:spPr>
          <a:xfrm>
            <a:off x="1981200" y="3215640"/>
            <a:ext cx="0" cy="579120"/>
          </a:xfrm>
          <a:prstGeom prst="line">
            <a:avLst/>
          </a:prstGeom>
          <a:noFill/>
          <a:ln w="19050">
            <a:solidFill>
              <a:srgbClr val="B9B9B9"/>
            </a:solidFill>
            <a:prstDash val="solid"/>
          </a:ln>
        </p:spPr>
        <p:txBody>
          <a:bodyPr/>
          <a:lstStyle/>
          <a:p>
            <a:endParaRPr lang="en-US" sz="1440"/>
          </a:p>
        </p:txBody>
      </p:sp>
      <p:sp>
        <p:nvSpPr>
          <p:cNvPr id="6" name="Straight Connector 5">
            <a:extLst>
              <a:ext uri="{FF2B5EF4-FFF2-40B4-BE49-F238E27FC236}">
                <a16:creationId xmlns:a16="http://schemas.microsoft.com/office/drawing/2014/main" id="{9024B1FC-CF73-4D8B-BFC2-35620BEB5481}"/>
              </a:ext>
            </a:extLst>
          </p:cNvPr>
          <p:cNvSpPr>
            <a:spLocks noGrp="1"/>
          </p:cNvSpPr>
          <p:nvPr/>
        </p:nvSpPr>
        <p:spPr>
          <a:xfrm>
            <a:off x="1981200" y="4320540"/>
            <a:ext cx="0" cy="579120"/>
          </a:xfrm>
          <a:prstGeom prst="line">
            <a:avLst/>
          </a:prstGeom>
          <a:noFill/>
          <a:ln w="19050">
            <a:solidFill>
              <a:srgbClr val="B9B9B9"/>
            </a:solidFill>
            <a:prstDash val="solid"/>
          </a:ln>
        </p:spPr>
        <p:txBody>
          <a:bodyPr/>
          <a:lstStyle/>
          <a:p>
            <a:endParaRPr lang="en-US" sz="1440"/>
          </a:p>
        </p:txBody>
      </p:sp>
      <p:sp>
        <p:nvSpPr>
          <p:cNvPr id="7" name="Oval 6">
            <a:extLst>
              <a:ext uri="{FF2B5EF4-FFF2-40B4-BE49-F238E27FC236}">
                <a16:creationId xmlns:a16="http://schemas.microsoft.com/office/drawing/2014/main" id="{ED53EEF8-FC48-48DA-8B9B-35B5802FD72F}"/>
              </a:ext>
            </a:extLst>
          </p:cNvPr>
          <p:cNvSpPr>
            <a:spLocks noGrp="1"/>
          </p:cNvSpPr>
          <p:nvPr/>
        </p:nvSpPr>
        <p:spPr>
          <a:xfrm>
            <a:off x="1447800" y="1676400"/>
            <a:ext cx="838200" cy="838200"/>
          </a:xfrm>
          <a:prstGeom prst="ellipse">
            <a:avLst/>
          </a:prstGeom>
          <a:solidFill>
            <a:srgbClr val="EAF5FD"/>
          </a:solidFill>
          <a:ln w="19050">
            <a:solidFill>
              <a:srgbClr val="1484D6"/>
            </a:solidFill>
            <a:prstDash val="solid"/>
          </a:ln>
        </p:spPr>
        <p:txBody>
          <a:bodyPr anchor="ctr"/>
          <a:lstStyle/>
          <a:p>
            <a:pPr algn="ctr">
              <a:defRPr sz="2550" b="1">
                <a:solidFill>
                  <a:srgbClr val="1484D6"/>
                </a:solidFill>
              </a:defRPr>
            </a:pPr>
            <a:r>
              <a:rPr sz="2040" b="1">
                <a:solidFill>
                  <a:srgbClr val="1484D6"/>
                </a:solidFill>
              </a:rPr>
              <a:t>1</a:t>
            </a:r>
          </a:p>
        </p:txBody>
      </p:sp>
      <p:sp>
        <p:nvSpPr>
          <p:cNvPr id="8" name="Rectangle 7">
            <a:extLst>
              <a:ext uri="{FF2B5EF4-FFF2-40B4-BE49-F238E27FC236}">
                <a16:creationId xmlns:a16="http://schemas.microsoft.com/office/drawing/2014/main" id="{8A89A6F8-9CE5-447A-8441-EFCEEA4091AC}"/>
              </a:ext>
            </a:extLst>
          </p:cNvPr>
          <p:cNvSpPr>
            <a:spLocks noGrp="1"/>
          </p:cNvSpPr>
          <p:nvPr/>
        </p:nvSpPr>
        <p:spPr>
          <a:xfrm>
            <a:off x="2628900" y="1729740"/>
            <a:ext cx="2667000" cy="259080"/>
          </a:xfrm>
          <a:prstGeom prst="rect">
            <a:avLst/>
          </a:prstGeom>
          <a:noFill/>
          <a:ln w="0">
            <a:noFill/>
            <a:prstDash val="solid"/>
          </a:ln>
        </p:spPr>
        <p:txBody>
          <a:bodyPr anchor="t">
            <a:noAutofit/>
          </a:bodyPr>
          <a:lstStyle/>
          <a:p>
            <a:pPr algn="l">
              <a:lnSpc>
                <a:spcPct val="108000"/>
              </a:lnSpc>
              <a:buNone/>
              <a:defRPr sz="1500" b="1" i="0">
                <a:solidFill>
                  <a:srgbClr val="1484D6"/>
                </a:solidFill>
                <a:latin typeface="Aptos"/>
                <a:ea typeface="Aptos"/>
                <a:cs typeface="Aptos"/>
              </a:defRPr>
            </a:pPr>
            <a:r>
              <a:rPr sz="1200" b="1">
                <a:solidFill>
                  <a:srgbClr val="1484D6"/>
                </a:solidFill>
                <a:latin typeface="Aptos"/>
                <a:ea typeface="Aptos"/>
                <a:cs typeface="Aptos"/>
              </a:rPr>
              <a:t>BUSINESS NEEDS</a:t>
            </a:r>
          </a:p>
        </p:txBody>
      </p:sp>
      <p:sp>
        <p:nvSpPr>
          <p:cNvPr id="9" name="Rectangle 8">
            <a:extLst>
              <a:ext uri="{FF2B5EF4-FFF2-40B4-BE49-F238E27FC236}">
                <a16:creationId xmlns:a16="http://schemas.microsoft.com/office/drawing/2014/main" id="{2B31ED95-FA86-4B7A-97DF-E0D1A118E373}"/>
              </a:ext>
            </a:extLst>
          </p:cNvPr>
          <p:cNvSpPr>
            <a:spLocks noGrp="1"/>
          </p:cNvSpPr>
          <p:nvPr/>
        </p:nvSpPr>
        <p:spPr>
          <a:xfrm>
            <a:off x="2628900" y="2019300"/>
            <a:ext cx="6781800" cy="457200"/>
          </a:xfrm>
          <a:prstGeom prst="rect">
            <a:avLst/>
          </a:prstGeom>
          <a:noFill/>
          <a:ln w="0">
            <a:noFill/>
            <a:prstDash val="solid"/>
          </a:ln>
        </p:spPr>
        <p:txBody>
          <a:bodyPr anchor="t">
            <a:normAutofit fontScale="90909" lnSpcReduction="10000"/>
          </a:bodyPr>
          <a:lstStyle/>
          <a:p>
            <a:pPr algn="l">
              <a:lnSpc>
                <a:spcPct val="105000"/>
              </a:lnSpc>
              <a:buNone/>
              <a:defRPr sz="1650" b="1" i="0">
                <a:solidFill>
                  <a:srgbClr val="111111"/>
                </a:solidFill>
                <a:latin typeface="Georgia"/>
                <a:ea typeface="Georgia"/>
                <a:cs typeface="Georgia"/>
              </a:defRPr>
            </a:pPr>
            <a:r>
              <a:rPr sz="1320" b="1">
                <a:solidFill>
                  <a:srgbClr val="111111"/>
                </a:solidFill>
                <a:latin typeface="Georgia"/>
                <a:ea typeface="Georgia"/>
                <a:cs typeface="Georgia"/>
              </a:rPr>
              <a:t>Detect trajectory direction and estimate short-term mortality from routinely collected laboratory data.</a:t>
            </a:r>
          </a:p>
        </p:txBody>
      </p:sp>
      <p:sp>
        <p:nvSpPr>
          <p:cNvPr id="10" name="Oval 9">
            <a:extLst>
              <a:ext uri="{FF2B5EF4-FFF2-40B4-BE49-F238E27FC236}">
                <a16:creationId xmlns:a16="http://schemas.microsoft.com/office/drawing/2014/main" id="{6037F233-FAD1-40AD-B426-53225B262A19}"/>
              </a:ext>
            </a:extLst>
          </p:cNvPr>
          <p:cNvSpPr>
            <a:spLocks noGrp="1"/>
          </p:cNvSpPr>
          <p:nvPr/>
        </p:nvSpPr>
        <p:spPr>
          <a:xfrm>
            <a:off x="1447800" y="2781300"/>
            <a:ext cx="838200" cy="838200"/>
          </a:xfrm>
          <a:prstGeom prst="ellipse">
            <a:avLst/>
          </a:prstGeom>
          <a:solidFill>
            <a:srgbClr val="F5EEFC"/>
          </a:solidFill>
          <a:ln w="19050">
            <a:solidFill>
              <a:srgbClr val="9552D0"/>
            </a:solidFill>
            <a:prstDash val="solid"/>
          </a:ln>
        </p:spPr>
        <p:txBody>
          <a:bodyPr anchor="ctr"/>
          <a:lstStyle/>
          <a:p>
            <a:pPr algn="ctr">
              <a:defRPr sz="2550" b="1">
                <a:solidFill>
                  <a:srgbClr val="9552D0"/>
                </a:solidFill>
              </a:defRPr>
            </a:pPr>
            <a:r>
              <a:rPr sz="2040" b="1">
                <a:solidFill>
                  <a:srgbClr val="9552D0"/>
                </a:solidFill>
              </a:rPr>
              <a:t>2</a:t>
            </a:r>
          </a:p>
        </p:txBody>
      </p:sp>
      <p:sp>
        <p:nvSpPr>
          <p:cNvPr id="11" name="Rectangle 10">
            <a:extLst>
              <a:ext uri="{FF2B5EF4-FFF2-40B4-BE49-F238E27FC236}">
                <a16:creationId xmlns:a16="http://schemas.microsoft.com/office/drawing/2014/main" id="{78D8A74A-9B8F-4A9A-B2F7-1C6997DA8E58}"/>
              </a:ext>
            </a:extLst>
          </p:cNvPr>
          <p:cNvSpPr>
            <a:spLocks noGrp="1"/>
          </p:cNvSpPr>
          <p:nvPr/>
        </p:nvSpPr>
        <p:spPr>
          <a:xfrm>
            <a:off x="2628900" y="2834640"/>
            <a:ext cx="2667000" cy="259080"/>
          </a:xfrm>
          <a:prstGeom prst="rect">
            <a:avLst/>
          </a:prstGeom>
          <a:noFill/>
          <a:ln w="0">
            <a:noFill/>
            <a:prstDash val="solid"/>
          </a:ln>
        </p:spPr>
        <p:txBody>
          <a:bodyPr anchor="t">
            <a:noAutofit/>
          </a:bodyPr>
          <a:lstStyle/>
          <a:p>
            <a:pPr algn="l">
              <a:lnSpc>
                <a:spcPct val="108000"/>
              </a:lnSpc>
              <a:buNone/>
              <a:defRPr sz="1500" b="1" i="0">
                <a:solidFill>
                  <a:srgbClr val="9552D0"/>
                </a:solidFill>
                <a:latin typeface="Aptos"/>
                <a:ea typeface="Aptos"/>
                <a:cs typeface="Aptos"/>
              </a:defRPr>
            </a:pPr>
            <a:r>
              <a:rPr sz="1200" b="1">
                <a:solidFill>
                  <a:srgbClr val="9552D0"/>
                </a:solidFill>
                <a:latin typeface="Aptos"/>
                <a:ea typeface="Aptos"/>
                <a:cs typeface="Aptos"/>
              </a:rPr>
              <a:t>DATA PROCESSING</a:t>
            </a:r>
          </a:p>
        </p:txBody>
      </p:sp>
      <p:sp>
        <p:nvSpPr>
          <p:cNvPr id="12" name="Rectangle 11">
            <a:extLst>
              <a:ext uri="{FF2B5EF4-FFF2-40B4-BE49-F238E27FC236}">
                <a16:creationId xmlns:a16="http://schemas.microsoft.com/office/drawing/2014/main" id="{1B91FFA4-EB7C-4267-9E85-24C0957BE088}"/>
              </a:ext>
            </a:extLst>
          </p:cNvPr>
          <p:cNvSpPr>
            <a:spLocks noGrp="1"/>
          </p:cNvSpPr>
          <p:nvPr/>
        </p:nvSpPr>
        <p:spPr>
          <a:xfrm>
            <a:off x="2628900" y="3124200"/>
            <a:ext cx="6781800" cy="457200"/>
          </a:xfrm>
          <a:prstGeom prst="rect">
            <a:avLst/>
          </a:prstGeom>
          <a:noFill/>
          <a:ln w="0">
            <a:noFill/>
            <a:prstDash val="solid"/>
          </a:ln>
        </p:spPr>
        <p:txBody>
          <a:bodyPr anchor="t">
            <a:normAutofit fontScale="90909" lnSpcReduction="10000"/>
          </a:bodyPr>
          <a:lstStyle/>
          <a:p>
            <a:pPr algn="l">
              <a:lnSpc>
                <a:spcPct val="105000"/>
              </a:lnSpc>
              <a:buNone/>
              <a:defRPr sz="1650" b="1" i="0">
                <a:solidFill>
                  <a:srgbClr val="111111"/>
                </a:solidFill>
                <a:latin typeface="Georgia"/>
                <a:ea typeface="Georgia"/>
                <a:cs typeface="Georgia"/>
              </a:defRPr>
            </a:pPr>
            <a:r>
              <a:rPr sz="1320" b="1">
                <a:solidFill>
                  <a:srgbClr val="111111"/>
                </a:solidFill>
                <a:latin typeface="Georgia"/>
                <a:ea typeface="Georgia"/>
                <a:cs typeface="Georgia"/>
              </a:rPr>
              <a:t>Build and validate full MIMIC-IV → define 74,829-stay cohort → reduce 19.56M measurements to four lab trajectories.</a:t>
            </a:r>
          </a:p>
        </p:txBody>
      </p:sp>
      <p:sp>
        <p:nvSpPr>
          <p:cNvPr id="13" name="Oval 12">
            <a:extLst>
              <a:ext uri="{FF2B5EF4-FFF2-40B4-BE49-F238E27FC236}">
                <a16:creationId xmlns:a16="http://schemas.microsoft.com/office/drawing/2014/main" id="{2D048618-7AE0-420C-88AC-E3759891A23B}"/>
              </a:ext>
            </a:extLst>
          </p:cNvPr>
          <p:cNvSpPr>
            <a:spLocks noGrp="1"/>
          </p:cNvSpPr>
          <p:nvPr/>
        </p:nvSpPr>
        <p:spPr>
          <a:xfrm>
            <a:off x="1447800" y="3886200"/>
            <a:ext cx="838200" cy="838200"/>
          </a:xfrm>
          <a:prstGeom prst="ellipse">
            <a:avLst/>
          </a:prstGeom>
          <a:solidFill>
            <a:srgbClr val="EAF8F2"/>
          </a:solidFill>
          <a:ln w="19050">
            <a:solidFill>
              <a:srgbClr val="00A870"/>
            </a:solidFill>
            <a:prstDash val="solid"/>
          </a:ln>
        </p:spPr>
        <p:txBody>
          <a:bodyPr anchor="ctr"/>
          <a:lstStyle/>
          <a:p>
            <a:pPr algn="ctr">
              <a:defRPr sz="2550" b="1">
                <a:solidFill>
                  <a:srgbClr val="00A870"/>
                </a:solidFill>
              </a:defRPr>
            </a:pPr>
            <a:r>
              <a:rPr sz="2040" b="1">
                <a:solidFill>
                  <a:srgbClr val="00A870"/>
                </a:solidFill>
              </a:rPr>
              <a:t>3</a:t>
            </a:r>
          </a:p>
        </p:txBody>
      </p:sp>
      <p:sp>
        <p:nvSpPr>
          <p:cNvPr id="14" name="Rectangle 13">
            <a:extLst>
              <a:ext uri="{FF2B5EF4-FFF2-40B4-BE49-F238E27FC236}">
                <a16:creationId xmlns:a16="http://schemas.microsoft.com/office/drawing/2014/main" id="{3D802E22-8AD6-414D-9F14-984008443916}"/>
              </a:ext>
            </a:extLst>
          </p:cNvPr>
          <p:cNvSpPr>
            <a:spLocks noGrp="1"/>
          </p:cNvSpPr>
          <p:nvPr/>
        </p:nvSpPr>
        <p:spPr>
          <a:xfrm>
            <a:off x="2628900" y="3939540"/>
            <a:ext cx="2667000" cy="259080"/>
          </a:xfrm>
          <a:prstGeom prst="rect">
            <a:avLst/>
          </a:prstGeom>
          <a:noFill/>
          <a:ln w="0">
            <a:noFill/>
            <a:prstDash val="solid"/>
          </a:ln>
        </p:spPr>
        <p:txBody>
          <a:bodyPr anchor="t">
            <a:noAutofit/>
          </a:bodyPr>
          <a:lstStyle/>
          <a:p>
            <a:pPr algn="l">
              <a:lnSpc>
                <a:spcPct val="108000"/>
              </a:lnSpc>
              <a:buNone/>
              <a:defRPr sz="1500" b="1" i="0">
                <a:solidFill>
                  <a:srgbClr val="00A870"/>
                </a:solidFill>
                <a:latin typeface="Aptos"/>
                <a:ea typeface="Aptos"/>
                <a:cs typeface="Aptos"/>
              </a:defRPr>
            </a:pPr>
            <a:r>
              <a:rPr sz="1200" b="1">
                <a:solidFill>
                  <a:srgbClr val="00A870"/>
                </a:solidFill>
                <a:latin typeface="Aptos"/>
                <a:ea typeface="Aptos"/>
                <a:cs typeface="Aptos"/>
              </a:rPr>
              <a:t>DATA MODELLING</a:t>
            </a:r>
          </a:p>
        </p:txBody>
      </p:sp>
      <p:sp>
        <p:nvSpPr>
          <p:cNvPr id="15" name="Rectangle 14">
            <a:extLst>
              <a:ext uri="{FF2B5EF4-FFF2-40B4-BE49-F238E27FC236}">
                <a16:creationId xmlns:a16="http://schemas.microsoft.com/office/drawing/2014/main" id="{A889D13B-E131-439A-A49A-57414057ED1A}"/>
              </a:ext>
            </a:extLst>
          </p:cNvPr>
          <p:cNvSpPr>
            <a:spLocks noGrp="1"/>
          </p:cNvSpPr>
          <p:nvPr/>
        </p:nvSpPr>
        <p:spPr>
          <a:xfrm>
            <a:off x="2628900" y="4229100"/>
            <a:ext cx="6781800" cy="457200"/>
          </a:xfrm>
          <a:prstGeom prst="rect">
            <a:avLst/>
          </a:prstGeom>
          <a:noFill/>
          <a:ln w="0">
            <a:noFill/>
            <a:prstDash val="solid"/>
          </a:ln>
        </p:spPr>
        <p:txBody>
          <a:bodyPr anchor="t">
            <a:normAutofit fontScale="90909" lnSpcReduction="10000"/>
          </a:bodyPr>
          <a:lstStyle/>
          <a:p>
            <a:pPr algn="l">
              <a:lnSpc>
                <a:spcPct val="105000"/>
              </a:lnSpc>
              <a:buNone/>
              <a:defRPr sz="1650" b="1" i="0">
                <a:solidFill>
                  <a:srgbClr val="111111"/>
                </a:solidFill>
                <a:latin typeface="Georgia"/>
                <a:ea typeface="Georgia"/>
                <a:cs typeface="Georgia"/>
              </a:defRPr>
            </a:pPr>
            <a:r>
              <a:rPr sz="1320" b="1">
                <a:solidFill>
                  <a:srgbClr val="111111"/>
                </a:solidFill>
                <a:latin typeface="Georgia"/>
                <a:ea typeface="Georgia"/>
                <a:cs typeface="Georgia"/>
              </a:rPr>
              <a:t>Cluster four rates of change into RBT/RIWT → test reproducibility → evaluate 1/3/7-day mortality with sequential adjustment.</a:t>
            </a:r>
          </a:p>
        </p:txBody>
      </p:sp>
      <p:sp>
        <p:nvSpPr>
          <p:cNvPr id="16" name="Oval 15">
            <a:extLst>
              <a:ext uri="{FF2B5EF4-FFF2-40B4-BE49-F238E27FC236}">
                <a16:creationId xmlns:a16="http://schemas.microsoft.com/office/drawing/2014/main" id="{1611DF89-24E1-436F-9A24-CE7A251E5C75}"/>
              </a:ext>
            </a:extLst>
          </p:cNvPr>
          <p:cNvSpPr>
            <a:spLocks noGrp="1"/>
          </p:cNvSpPr>
          <p:nvPr/>
        </p:nvSpPr>
        <p:spPr>
          <a:xfrm>
            <a:off x="1447800" y="4991100"/>
            <a:ext cx="838200" cy="838200"/>
          </a:xfrm>
          <a:prstGeom prst="ellipse">
            <a:avLst/>
          </a:prstGeom>
          <a:solidFill>
            <a:srgbClr val="FFF3E5"/>
          </a:solidFill>
          <a:ln w="19050">
            <a:solidFill>
              <a:srgbClr val="EF7D00"/>
            </a:solidFill>
            <a:prstDash val="solid"/>
          </a:ln>
        </p:spPr>
        <p:txBody>
          <a:bodyPr anchor="ctr"/>
          <a:lstStyle/>
          <a:p>
            <a:pPr algn="ctr">
              <a:defRPr sz="2550" b="1">
                <a:solidFill>
                  <a:srgbClr val="EF7D00"/>
                </a:solidFill>
              </a:defRPr>
            </a:pPr>
            <a:r>
              <a:rPr sz="2040" b="1">
                <a:solidFill>
                  <a:srgbClr val="EF7D00"/>
                </a:solidFill>
              </a:rPr>
              <a:t>4</a:t>
            </a:r>
          </a:p>
        </p:txBody>
      </p:sp>
      <p:sp>
        <p:nvSpPr>
          <p:cNvPr id="17" name="Rectangle 16">
            <a:extLst>
              <a:ext uri="{FF2B5EF4-FFF2-40B4-BE49-F238E27FC236}">
                <a16:creationId xmlns:a16="http://schemas.microsoft.com/office/drawing/2014/main" id="{DB064A8C-7981-4B83-BCB3-3457954FB829}"/>
              </a:ext>
            </a:extLst>
          </p:cNvPr>
          <p:cNvSpPr>
            <a:spLocks noGrp="1"/>
          </p:cNvSpPr>
          <p:nvPr/>
        </p:nvSpPr>
        <p:spPr>
          <a:xfrm>
            <a:off x="2628900" y="5044440"/>
            <a:ext cx="2667000" cy="259080"/>
          </a:xfrm>
          <a:prstGeom prst="rect">
            <a:avLst/>
          </a:prstGeom>
          <a:noFill/>
          <a:ln w="0">
            <a:noFill/>
            <a:prstDash val="solid"/>
          </a:ln>
        </p:spPr>
        <p:txBody>
          <a:bodyPr anchor="t">
            <a:noAutofit/>
          </a:bodyPr>
          <a:lstStyle/>
          <a:p>
            <a:pPr algn="l">
              <a:lnSpc>
                <a:spcPct val="108000"/>
              </a:lnSpc>
              <a:buNone/>
              <a:defRPr sz="1500" b="1" i="0">
                <a:solidFill>
                  <a:srgbClr val="EF7D00"/>
                </a:solidFill>
                <a:latin typeface="Aptos"/>
                <a:ea typeface="Aptos"/>
                <a:cs typeface="Aptos"/>
              </a:defRPr>
            </a:pPr>
            <a:r>
              <a:rPr sz="1200" b="1">
                <a:solidFill>
                  <a:srgbClr val="EF7D00"/>
                </a:solidFill>
                <a:latin typeface="Aptos"/>
                <a:ea typeface="Aptos"/>
                <a:cs typeface="Aptos"/>
              </a:rPr>
              <a:t>BUSINESS INFRASTRUCTURE</a:t>
            </a:r>
          </a:p>
        </p:txBody>
      </p:sp>
      <p:sp>
        <p:nvSpPr>
          <p:cNvPr id="18" name="Rectangle 17">
            <a:extLst>
              <a:ext uri="{FF2B5EF4-FFF2-40B4-BE49-F238E27FC236}">
                <a16:creationId xmlns:a16="http://schemas.microsoft.com/office/drawing/2014/main" id="{F7934D45-5FA8-470F-9838-A84C8CEDDD59}"/>
              </a:ext>
            </a:extLst>
          </p:cNvPr>
          <p:cNvSpPr>
            <a:spLocks noGrp="1"/>
          </p:cNvSpPr>
          <p:nvPr/>
        </p:nvSpPr>
        <p:spPr>
          <a:xfrm>
            <a:off x="2628900" y="5334000"/>
            <a:ext cx="6781800" cy="457200"/>
          </a:xfrm>
          <a:prstGeom prst="rect">
            <a:avLst/>
          </a:prstGeom>
          <a:noFill/>
          <a:ln w="0">
            <a:noFill/>
            <a:prstDash val="solid"/>
          </a:ln>
        </p:spPr>
        <p:txBody>
          <a:bodyPr anchor="t">
            <a:normAutofit fontScale="90909" lnSpcReduction="10000"/>
          </a:bodyPr>
          <a:lstStyle/>
          <a:p>
            <a:pPr algn="l">
              <a:lnSpc>
                <a:spcPct val="105000"/>
              </a:lnSpc>
              <a:buNone/>
              <a:defRPr sz="1650" b="1" i="0">
                <a:solidFill>
                  <a:srgbClr val="111111"/>
                </a:solidFill>
                <a:latin typeface="Georgia"/>
                <a:ea typeface="Georgia"/>
                <a:cs typeface="Georgia"/>
              </a:defRPr>
            </a:pPr>
            <a:r>
              <a:rPr sz="1320" b="1">
                <a:solidFill>
                  <a:srgbClr val="111111"/>
                </a:solidFill>
                <a:latin typeface="Georgia"/>
                <a:ea typeface="Georgia"/>
                <a:cs typeface="Georgia"/>
              </a:rPr>
              <a:t>Connect PostgreSQL, SQL/Python outputs, model coefficients, and Streamlit with monitoring and fail-loud controls.</a:t>
            </a:r>
          </a:p>
        </p:txBody>
      </p:sp>
      <p:sp>
        <p:nvSpPr>
          <p:cNvPr id="19" name="Rounded Rectangle 18">
            <a:extLst>
              <a:ext uri="{FF2B5EF4-FFF2-40B4-BE49-F238E27FC236}">
                <a16:creationId xmlns:a16="http://schemas.microsoft.com/office/drawing/2014/main" id="{4B5E0236-6453-46FF-AD00-33360AF55A44}"/>
              </a:ext>
            </a:extLst>
          </p:cNvPr>
          <p:cNvSpPr>
            <a:spLocks noGrp="1"/>
          </p:cNvSpPr>
          <p:nvPr/>
        </p:nvSpPr>
        <p:spPr>
          <a:xfrm>
            <a:off x="9525000" y="1905000"/>
            <a:ext cx="2133600" cy="3581400"/>
          </a:xfrm>
          <a:prstGeom prst="roundRect">
            <a:avLst>
              <a:gd name="adj" fmla="val 5714"/>
            </a:avLst>
          </a:prstGeom>
          <a:solidFill>
            <a:srgbClr val="FFF3E5"/>
          </a:solidFill>
          <a:ln w="19050">
            <a:solidFill>
              <a:srgbClr val="EF7D00"/>
            </a:solidFill>
            <a:prstDash val="solid"/>
          </a:ln>
        </p:spPr>
        <p:txBody>
          <a:bodyPr/>
          <a:lstStyle/>
          <a:p>
            <a:endParaRPr lang="en-US" sz="1440"/>
          </a:p>
        </p:txBody>
      </p:sp>
      <p:sp>
        <p:nvSpPr>
          <p:cNvPr id="20" name="Rectangle 19">
            <a:extLst>
              <a:ext uri="{FF2B5EF4-FFF2-40B4-BE49-F238E27FC236}">
                <a16:creationId xmlns:a16="http://schemas.microsoft.com/office/drawing/2014/main" id="{2903E4F8-4A79-4593-B7E0-81C185484388}"/>
              </a:ext>
            </a:extLst>
          </p:cNvPr>
          <p:cNvSpPr>
            <a:spLocks noGrp="1"/>
          </p:cNvSpPr>
          <p:nvPr/>
        </p:nvSpPr>
        <p:spPr>
          <a:xfrm>
            <a:off x="9753600" y="2171700"/>
            <a:ext cx="1676400" cy="533400"/>
          </a:xfrm>
          <a:prstGeom prst="rect">
            <a:avLst/>
          </a:prstGeom>
          <a:noFill/>
          <a:ln w="0">
            <a:noFill/>
            <a:prstDash val="solid"/>
          </a:ln>
        </p:spPr>
        <p:txBody>
          <a:bodyPr anchor="t">
            <a:noAutofit/>
          </a:bodyPr>
          <a:lstStyle/>
          <a:p>
            <a:pPr algn="ctr">
              <a:lnSpc>
                <a:spcPct val="108000"/>
              </a:lnSpc>
              <a:buNone/>
              <a:defRPr sz="1950" b="1" i="0">
                <a:solidFill>
                  <a:srgbClr val="EF7D00"/>
                </a:solidFill>
                <a:latin typeface="Georgia"/>
                <a:ea typeface="Georgia"/>
                <a:cs typeface="Georgia"/>
              </a:defRPr>
            </a:pPr>
            <a:r>
              <a:rPr sz="1560" b="1">
                <a:solidFill>
                  <a:srgbClr val="EF7D00"/>
                </a:solidFill>
                <a:latin typeface="Georgia"/>
                <a:ea typeface="Georgia"/>
                <a:cs typeface="Georgia"/>
              </a:rPr>
              <a:t>Why this work matters</a:t>
            </a:r>
          </a:p>
        </p:txBody>
      </p:sp>
      <p:sp>
        <p:nvSpPr>
          <p:cNvPr id="21" name="Rectangle 20">
            <a:extLst>
              <a:ext uri="{FF2B5EF4-FFF2-40B4-BE49-F238E27FC236}">
                <a16:creationId xmlns:a16="http://schemas.microsoft.com/office/drawing/2014/main" id="{26B3E3F7-3B62-4791-8F9E-4B3B86B716CE}"/>
              </a:ext>
            </a:extLst>
          </p:cNvPr>
          <p:cNvSpPr>
            <a:spLocks noGrp="1"/>
          </p:cNvSpPr>
          <p:nvPr/>
        </p:nvSpPr>
        <p:spPr>
          <a:xfrm>
            <a:off x="9768840" y="2971800"/>
            <a:ext cx="1645920" cy="1866900"/>
          </a:xfrm>
          <a:prstGeom prst="rect">
            <a:avLst/>
          </a:prstGeom>
          <a:noFill/>
          <a:ln w="0">
            <a:noFill/>
            <a:prstDash val="solid"/>
          </a:ln>
        </p:spPr>
        <p:txBody>
          <a:bodyPr anchor="ctr">
            <a:normAutofit fontScale="74836" lnSpcReduction="20000"/>
          </a:bodyPr>
          <a:lstStyle/>
          <a:p>
            <a:pPr algn="ctr">
              <a:lnSpc>
                <a:spcPct val="108000"/>
              </a:lnSpc>
              <a:buNone/>
              <a:defRPr sz="1575" b="1" i="0">
                <a:solidFill>
                  <a:srgbClr val="111111"/>
                </a:solidFill>
                <a:latin typeface="Georgia"/>
                <a:ea typeface="Georgia"/>
                <a:cs typeface="Georgia"/>
              </a:defRPr>
            </a:pPr>
            <a:r>
              <a:rPr sz="1260" b="1">
                <a:solidFill>
                  <a:srgbClr val="111111"/>
                </a:solidFill>
                <a:latin typeface="Georgia"/>
                <a:ea typeface="Georgia"/>
                <a:cs typeface="Georgia"/>
              </a:rPr>
              <a:t>The final app is the visible output.</a:t>
            </a:r>
          </a:p>
          <a:p>
            <a:endParaRPr sz="1260" b="1">
              <a:solidFill>
                <a:srgbClr val="111111"/>
              </a:solidFill>
              <a:latin typeface="Georgia"/>
              <a:ea typeface="Georgia"/>
              <a:cs typeface="Georgia"/>
            </a:endParaRPr>
          </a:p>
          <a:p>
            <a:pPr algn="ctr">
              <a:lnSpc>
                <a:spcPct val="108000"/>
              </a:lnSpc>
              <a:buNone/>
              <a:defRPr sz="1575" b="1" i="0">
                <a:solidFill>
                  <a:srgbClr val="111111"/>
                </a:solidFill>
                <a:latin typeface="Georgia"/>
                <a:ea typeface="Georgia"/>
                <a:cs typeface="Georgia"/>
              </a:defRPr>
            </a:pPr>
            <a:r>
              <a:rPr sz="1260" b="1">
                <a:solidFill>
                  <a:srgbClr val="111111"/>
                </a:solidFill>
                <a:latin typeface="Georgia"/>
                <a:ea typeface="Georgia"/>
                <a:cs typeface="Georgia"/>
              </a:rPr>
              <a:t>The difficult achievement is the traceable chain beneath it: complete data handling, cohort discipline, deterministic feature construction, reproducible unsupervised modelling, and clinically bounded validation.</a:t>
            </a:r>
          </a:p>
        </p:txBody>
      </p:sp>
      <p:sp>
        <p:nvSpPr>
          <p:cNvPr id="22" name="Straight Connector 21">
            <a:extLst>
              <a:ext uri="{FF2B5EF4-FFF2-40B4-BE49-F238E27FC236}">
                <a16:creationId xmlns:a16="http://schemas.microsoft.com/office/drawing/2014/main" id="{640337AF-365D-4BA3-A322-22BDCC5EC9DE}"/>
              </a:ext>
            </a:extLst>
          </p:cNvPr>
          <p:cNvSpPr>
            <a:spLocks noGrp="1"/>
          </p:cNvSpPr>
          <p:nvPr/>
        </p:nvSpPr>
        <p:spPr>
          <a:xfrm>
            <a:off x="609600" y="6507480"/>
            <a:ext cx="10972800" cy="0"/>
          </a:xfrm>
          <a:prstGeom prst="line">
            <a:avLst/>
          </a:prstGeom>
          <a:noFill/>
          <a:ln w="9525">
            <a:solidFill>
              <a:srgbClr val="DDDDDD"/>
            </a:solidFill>
            <a:prstDash val="solid"/>
          </a:ln>
        </p:spPr>
        <p:txBody>
          <a:bodyPr/>
          <a:lstStyle/>
          <a:p>
            <a:endParaRPr lang="en-US" sz="1440"/>
          </a:p>
        </p:txBody>
      </p:sp>
      <p:sp>
        <p:nvSpPr>
          <p:cNvPr id="23" name="Rectangle 22">
            <a:extLst>
              <a:ext uri="{FF2B5EF4-FFF2-40B4-BE49-F238E27FC236}">
                <a16:creationId xmlns:a16="http://schemas.microsoft.com/office/drawing/2014/main" id="{C8A0A606-3A6C-4B2B-BD68-6FC23E8DC5B6}"/>
              </a:ext>
            </a:extLst>
          </p:cNvPr>
          <p:cNvSpPr>
            <a:spLocks noGrp="1"/>
          </p:cNvSpPr>
          <p:nvPr/>
        </p:nvSpPr>
        <p:spPr>
          <a:xfrm>
            <a:off x="624840" y="6568440"/>
            <a:ext cx="5791200" cy="167640"/>
          </a:xfrm>
          <a:prstGeom prst="rect">
            <a:avLst/>
          </a:prstGeom>
          <a:noFill/>
          <a:ln w="0">
            <a:noFill/>
            <a:prstDash val="solid"/>
          </a:ln>
        </p:spPr>
        <p:txBody>
          <a:bodyPr anchor="t">
            <a:noAutofit/>
          </a:bodyPr>
          <a:lstStyle/>
          <a:p>
            <a:pPr algn="l">
              <a:lnSpc>
                <a:spcPct val="108000"/>
              </a:lnSpc>
              <a:buNone/>
              <a:defRPr sz="975" b="0" i="0">
                <a:solidFill>
                  <a:srgbClr val="777777"/>
                </a:solidFill>
                <a:latin typeface="Aptos"/>
                <a:ea typeface="Aptos"/>
                <a:cs typeface="Aptos"/>
              </a:defRPr>
            </a:pPr>
            <a:r>
              <a:rPr sz="780">
                <a:solidFill>
                  <a:srgbClr val="777777"/>
                </a:solidFill>
                <a:latin typeface="Aptos"/>
                <a:ea typeface="Aptos"/>
                <a:cs typeface="Aptos"/>
              </a:rPr>
              <a:t>MIMIC-IV first-24-hour biochemical trajectory study</a:t>
            </a:r>
          </a:p>
        </p:txBody>
      </p:sp>
      <p:sp>
        <p:nvSpPr>
          <p:cNvPr id="24" name="Rectangle 23">
            <a:extLst>
              <a:ext uri="{FF2B5EF4-FFF2-40B4-BE49-F238E27FC236}">
                <a16:creationId xmlns:a16="http://schemas.microsoft.com/office/drawing/2014/main" id="{F08518E7-1AF6-47F1-A016-777965752B0D}"/>
              </a:ext>
            </a:extLst>
          </p:cNvPr>
          <p:cNvSpPr>
            <a:spLocks noGrp="1"/>
          </p:cNvSpPr>
          <p:nvPr/>
        </p:nvSpPr>
        <p:spPr>
          <a:xfrm>
            <a:off x="11163300" y="6568440"/>
            <a:ext cx="381000" cy="167640"/>
          </a:xfrm>
          <a:prstGeom prst="rect">
            <a:avLst/>
          </a:prstGeom>
          <a:noFill/>
          <a:ln w="0">
            <a:noFill/>
            <a:prstDash val="solid"/>
          </a:ln>
        </p:spPr>
        <p:txBody>
          <a:bodyPr anchor="t">
            <a:noAutofit/>
          </a:bodyPr>
          <a:lstStyle/>
          <a:p>
            <a:pPr algn="r">
              <a:lnSpc>
                <a:spcPct val="108000"/>
              </a:lnSpc>
              <a:buNone/>
              <a:defRPr sz="975" b="0" i="0">
                <a:solidFill>
                  <a:srgbClr val="777777"/>
                </a:solidFill>
                <a:latin typeface="Aptos"/>
                <a:ea typeface="Aptos"/>
                <a:cs typeface="Aptos"/>
              </a:defRPr>
            </a:pPr>
            <a:r>
              <a:rPr sz="780">
                <a:solidFill>
                  <a:srgbClr val="777777"/>
                </a:solidFill>
                <a:latin typeface="Aptos"/>
                <a:ea typeface="Aptos"/>
                <a:cs typeface="Aptos"/>
              </a:rPr>
              <a:t>11</a:t>
            </a:r>
          </a:p>
        </p:txBody>
      </p:sp>
    </p:spTree>
    <p:extLst>
      <p:ext uri="{BB962C8B-B14F-4D97-AF65-F5344CB8AC3E}">
        <p14:creationId xmlns:p14="http://schemas.microsoft.com/office/powerpoint/2010/main" val="19027048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slide-title"/>
          <p:cNvSpPr>
            <a:spLocks noGrp="1"/>
          </p:cNvSpPr>
          <p:nvPr/>
        </p:nvSpPr>
        <p:spPr>
          <a:xfrm>
            <a:off x="594360" y="259080"/>
            <a:ext cx="7500000" cy="533400"/>
          </a:xfrm>
          <a:prstGeom prst="rect">
            <a:avLst/>
          </a:prstGeom>
          <a:noFill/>
          <a:ln w="0">
            <a:noFill/>
            <a:prstDash val="solid"/>
          </a:ln>
        </p:spPr>
        <p:txBody>
          <a:bodyPr anchor="t">
            <a:noAutofit/>
          </a:bodyPr>
          <a:lstStyle/>
          <a:p>
            <a:pPr algn="l">
              <a:lnSpc>
                <a:spcPct val="112000"/>
              </a:lnSpc>
              <a:buNone/>
              <a:defRPr sz="3240" b="1" i="0">
                <a:solidFill>
                  <a:srgbClr val="111111"/>
                </a:solidFill>
                <a:latin typeface="Georgia"/>
                <a:ea typeface="Georgia"/>
                <a:cs typeface="Georgia"/>
              </a:defRPr>
            </a:pPr>
            <a:r>
              <a:rPr sz="3240" b="1">
                <a:solidFill>
                  <a:srgbClr val="111111"/>
                </a:solidFill>
                <a:latin typeface="Georgia"/>
                <a:ea typeface="Georgia"/>
                <a:cs typeface="Georgia"/>
              </a:rPr>
              <a:t>My Achievement</a:t>
            </a:r>
          </a:p>
        </p:txBody>
      </p:sp>
      <p:sp>
        <p:nvSpPr>
          <p:cNvPr id="101" name="byline"/>
          <p:cNvSpPr>
            <a:spLocks noGrp="1"/>
          </p:cNvSpPr>
          <p:nvPr/>
        </p:nvSpPr>
        <p:spPr>
          <a:xfrm>
            <a:off x="624840" y="853440"/>
            <a:ext cx="8610600" cy="259080"/>
          </a:xfrm>
          <a:prstGeom prst="rect">
            <a:avLst/>
          </a:prstGeom>
          <a:noFill/>
          <a:ln w="0">
            <a:noFill/>
            <a:prstDash val="solid"/>
          </a:ln>
        </p:spPr>
        <p:txBody>
          <a:bodyPr anchor="t">
            <a:noAutofit/>
          </a:bodyPr>
          <a:lstStyle/>
          <a:p>
            <a:pPr algn="l">
              <a:lnSpc>
                <a:spcPct val="112000"/>
              </a:lnSpc>
              <a:buNone/>
              <a:defRPr sz="1200" b="0" i="0">
                <a:solidFill>
                  <a:srgbClr val="5A5A5A"/>
                </a:solidFill>
                <a:latin typeface="Aptos"/>
                <a:ea typeface="Aptos"/>
                <a:cs typeface="Aptos"/>
              </a:defRPr>
            </a:pPr>
            <a:r>
              <a:rPr sz="1200" b="0">
                <a:solidFill>
                  <a:srgbClr val="5A5A5A"/>
                </a:solidFill>
                <a:latin typeface="Aptos"/>
                <a:ea typeface="Aptos"/>
                <a:cs typeface="Aptos"/>
              </a:rPr>
              <a:t>Looking back at the technical stack behind this project, not just the clinical findings.</a:t>
            </a:r>
          </a:p>
        </p:txBody>
      </p:sp>
      <p:sp>
        <p:nvSpPr>
          <p:cNvPr id="102" name="tag"/>
          <p:cNvSpPr>
            <a:spLocks noGrp="1"/>
          </p:cNvSpPr>
          <p:nvPr/>
        </p:nvSpPr>
        <p:spPr>
          <a:xfrm>
            <a:off x="9372600" y="228600"/>
            <a:ext cx="2286000" cy="533400"/>
          </a:xfrm>
          <a:prstGeom prst="rect">
            <a:avLst/>
          </a:prstGeom>
          <a:noFill/>
          <a:ln w="0">
            <a:noFill/>
            <a:prstDash val="solid"/>
          </a:ln>
        </p:spPr>
        <p:txBody>
          <a:bodyPr anchor="t">
            <a:noAutofit/>
          </a:bodyPr>
          <a:lstStyle/>
          <a:p>
            <a:pPr algn="r">
              <a:lnSpc>
                <a:spcPct val="112000"/>
              </a:lnSpc>
              <a:buNone/>
              <a:defRPr sz="2400" b="1" i="0">
                <a:solidFill>
                  <a:srgbClr val="EF7D00"/>
                </a:solidFill>
                <a:latin typeface="Georgia"/>
                <a:ea typeface="Georgia"/>
                <a:cs typeface="Georgia"/>
              </a:defRPr>
            </a:pPr>
            <a:r>
              <a:rPr sz="2400" b="1">
                <a:solidFill>
                  <a:srgbClr val="EF7D00"/>
                </a:solidFill>
                <a:latin typeface="Georgia"/>
                <a:ea typeface="Georgia"/>
                <a:cs typeface="Georgia"/>
              </a:rPr>
              <a:t>Reflection</a:t>
            </a:r>
          </a:p>
        </p:txBody>
      </p:sp>
      <p:sp>
        <p:nvSpPr>
          <p:cNvPr id="103" name="Card BG"/>
          <p:cNvSpPr>
            <a:spLocks noGrp="1"/>
          </p:cNvSpPr>
          <p:nvPr/>
        </p:nvSpPr>
        <p:spPr>
          <a:xfrm>
            <a:off x="594360" y="1424940"/>
            <a:ext cx="3515360" cy="3050540"/>
          </a:xfrm>
          <a:prstGeom prst="roundRect">
            <a:avLst>
              <a:gd name="adj" fmla="val 4500"/>
            </a:avLst>
          </a:prstGeom>
          <a:solidFill>
            <a:srgbClr val="EAF7F1"/>
          </a:solidFill>
          <a:ln w="19050">
            <a:solidFill>
              <a:srgbClr val="00A870"/>
            </a:solidFill>
            <a:prstDash val="solid"/>
          </a:ln>
        </p:spPr>
        <p:txBody>
          <a:bodyPr/>
          <a:lstStyle/>
          <a:p>
            <a:endParaRPr lang="en-US" sz="1440"/>
          </a:p>
        </p:txBody>
      </p:sp>
      <p:sp>
        <p:nvSpPr>
          <p:cNvPr id="104" name="Badge"/>
          <p:cNvSpPr>
            <a:spLocks noGrp="1"/>
          </p:cNvSpPr>
          <p:nvPr/>
        </p:nvSpPr>
        <p:spPr>
          <a:xfrm>
            <a:off x="868680" y="1699260"/>
            <a:ext cx="411480" cy="411480"/>
          </a:xfrm>
          <a:prstGeom prst="ellipse">
            <a:avLst/>
          </a:prstGeom>
          <a:solidFill>
            <a:srgbClr val="00A870"/>
          </a:solidFill>
          <a:ln w="0">
            <a:noFill/>
          </a:ln>
        </p:spPr>
        <p:txBody>
          <a:bodyPr anchor="ctr"/>
          <a:lstStyle/>
          <a:p>
            <a:pPr algn="ctr">
              <a:defRPr sz="1600" b="1">
                <a:solidFill>
                  <a:srgbClr val="FFFFFF"/>
                </a:solidFill>
              </a:defRPr>
            </a:pPr>
            <a:r>
              <a:rPr sz="1600" b="1">
                <a:solidFill>
                  <a:srgbClr val="FFFFFF"/>
                </a:solidFill>
                <a:latin typeface="Georgia"/>
              </a:rPr>
              <a:t>1</a:t>
            </a:r>
          </a:p>
        </p:txBody>
      </p:sp>
      <p:sp>
        <p:nvSpPr>
          <p:cNvPr id="105" name="card-header"/>
          <p:cNvSpPr>
            <a:spLocks noGrp="1"/>
          </p:cNvSpPr>
          <p:nvPr/>
        </p:nvSpPr>
        <p:spPr>
          <a:xfrm>
            <a:off x="868680" y="2238756"/>
            <a:ext cx="2966720" cy="620000"/>
          </a:xfrm>
          <a:prstGeom prst="rect">
            <a:avLst/>
          </a:prstGeom>
          <a:noFill/>
          <a:ln w="0">
            <a:noFill/>
            <a:prstDash val="solid"/>
          </a:ln>
        </p:spPr>
        <p:txBody>
          <a:bodyPr anchor="t">
            <a:noAutofit/>
          </a:bodyPr>
          <a:lstStyle/>
          <a:p>
            <a:pPr algn="l">
              <a:lnSpc>
                <a:spcPct val="112000"/>
              </a:lnSpc>
              <a:buNone/>
              <a:defRPr sz="1250" b="1" i="0">
                <a:solidFill>
                  <a:srgbClr val="00A870"/>
                </a:solidFill>
                <a:latin typeface="Aptos"/>
                <a:ea typeface="Aptos"/>
                <a:cs typeface="Aptos"/>
              </a:defRPr>
            </a:pPr>
            <a:r>
              <a:rPr sz="1250" b="1" dirty="0">
                <a:solidFill>
                  <a:srgbClr val="00A870"/>
                </a:solidFill>
                <a:latin typeface="Aptos"/>
                <a:ea typeface="Aptos"/>
                <a:cs typeface="Aptos"/>
              </a:rPr>
              <a:t>WHAT IS BIG DATA?</a:t>
            </a:r>
          </a:p>
        </p:txBody>
      </p:sp>
      <p:sp>
        <p:nvSpPr>
          <p:cNvPr id="106" name="card-body"/>
          <p:cNvSpPr>
            <a:spLocks noGrp="1"/>
          </p:cNvSpPr>
          <p:nvPr/>
        </p:nvSpPr>
        <p:spPr>
          <a:xfrm>
            <a:off x="868680" y="2904476"/>
            <a:ext cx="2966720" cy="1388124"/>
          </a:xfrm>
          <a:prstGeom prst="rect">
            <a:avLst/>
          </a:prstGeom>
          <a:noFill/>
          <a:ln w="0">
            <a:noFill/>
            <a:prstDash val="solid"/>
          </a:ln>
        </p:spPr>
        <p:txBody>
          <a:bodyPr anchor="t">
            <a:noAutofit/>
          </a:bodyPr>
          <a:lstStyle/>
          <a:p>
            <a:pPr algn="l">
              <a:lnSpc>
                <a:spcPct val="112000"/>
              </a:lnSpc>
              <a:buNone/>
              <a:defRPr sz="1200" b="0" i="0">
                <a:solidFill>
                  <a:srgbClr val="5A5A5A"/>
                </a:solidFill>
                <a:latin typeface="Aptos"/>
                <a:ea typeface="Aptos"/>
                <a:cs typeface="Aptos"/>
              </a:defRPr>
            </a:pPr>
            <a:r>
              <a:rPr sz="1200" b="0" dirty="0">
                <a:solidFill>
                  <a:srgbClr val="5A5A5A"/>
                </a:solidFill>
                <a:latin typeface="Aptos"/>
                <a:ea typeface="Aptos"/>
                <a:cs typeface="Aptos"/>
              </a:rPr>
              <a:t>I can now say </a:t>
            </a:r>
            <a:r>
              <a:rPr lang="ko-KR" altLang="en-US" sz="1200" dirty="0">
                <a:solidFill>
                  <a:srgbClr val="5A5A5A"/>
                </a:solidFill>
                <a:latin typeface="Aptos"/>
                <a:ea typeface="Aptos"/>
                <a:cs typeface="Aptos"/>
              </a:rPr>
              <a:t> </a:t>
            </a:r>
            <a:r>
              <a:rPr sz="1200" b="0" dirty="0">
                <a:solidFill>
                  <a:srgbClr val="5A5A5A"/>
                </a:solidFill>
                <a:latin typeface="Aptos"/>
                <a:ea typeface="Aptos"/>
                <a:cs typeface="Aptos"/>
              </a:rPr>
              <a:t>that I've handled 300 million+ rows across 180+ columns.</a:t>
            </a:r>
            <a:endParaRPr lang="en-CA" sz="1200" b="0" dirty="0">
              <a:solidFill>
                <a:srgbClr val="5A5A5A"/>
              </a:solidFill>
              <a:latin typeface="Aptos"/>
              <a:ea typeface="Aptos"/>
              <a:cs typeface="Aptos"/>
            </a:endParaRPr>
          </a:p>
          <a:p>
            <a:pPr algn="l">
              <a:lnSpc>
                <a:spcPct val="112000"/>
              </a:lnSpc>
              <a:buNone/>
              <a:defRPr sz="1200" b="0" i="0">
                <a:solidFill>
                  <a:srgbClr val="5A5A5A"/>
                </a:solidFill>
                <a:latin typeface="Aptos"/>
                <a:ea typeface="Aptos"/>
                <a:cs typeface="Aptos"/>
              </a:defRPr>
            </a:pPr>
            <a:endParaRPr lang="en-CA" sz="1200" b="0" dirty="0">
              <a:solidFill>
                <a:srgbClr val="5A5A5A"/>
              </a:solidFill>
              <a:latin typeface="Aptos"/>
              <a:ea typeface="Aptos"/>
              <a:cs typeface="Aptos"/>
            </a:endParaRPr>
          </a:p>
          <a:p>
            <a:pPr algn="l">
              <a:lnSpc>
                <a:spcPct val="112000"/>
              </a:lnSpc>
              <a:buNone/>
              <a:defRPr sz="1200" b="0" i="0">
                <a:solidFill>
                  <a:srgbClr val="5A5A5A"/>
                </a:solidFill>
                <a:latin typeface="Aptos"/>
                <a:ea typeface="Aptos"/>
                <a:cs typeface="Aptos"/>
              </a:defRPr>
            </a:pPr>
            <a:r>
              <a:rPr lang="en-US" sz="1200" b="0" dirty="0">
                <a:solidFill>
                  <a:srgbClr val="5A5A5A"/>
                </a:solidFill>
                <a:latin typeface="Aptos"/>
                <a:ea typeface="Aptos"/>
                <a:cs typeface="Aptos"/>
              </a:rPr>
              <a:t>with real-data set: MIMIC-IV v3.1</a:t>
            </a:r>
            <a:endParaRPr sz="1200" b="0" dirty="0">
              <a:solidFill>
                <a:srgbClr val="5A5A5A"/>
              </a:solidFill>
              <a:latin typeface="Aptos"/>
              <a:ea typeface="Aptos"/>
              <a:cs typeface="Aptos"/>
            </a:endParaRPr>
          </a:p>
        </p:txBody>
      </p:sp>
      <p:sp>
        <p:nvSpPr>
          <p:cNvPr id="107" name="Card BG"/>
          <p:cNvSpPr>
            <a:spLocks noGrp="1"/>
          </p:cNvSpPr>
          <p:nvPr/>
        </p:nvSpPr>
        <p:spPr>
          <a:xfrm>
            <a:off x="4338320" y="1424940"/>
            <a:ext cx="3515360" cy="3050540"/>
          </a:xfrm>
          <a:prstGeom prst="roundRect">
            <a:avLst>
              <a:gd name="adj" fmla="val 4500"/>
            </a:avLst>
          </a:prstGeom>
          <a:solidFill>
            <a:srgbClr val="E8F2FC"/>
          </a:solidFill>
          <a:ln w="19050">
            <a:solidFill>
              <a:srgbClr val="1484D6"/>
            </a:solidFill>
            <a:prstDash val="solid"/>
          </a:ln>
        </p:spPr>
        <p:txBody>
          <a:bodyPr/>
          <a:lstStyle/>
          <a:p>
            <a:endParaRPr lang="en-US" sz="1440"/>
          </a:p>
        </p:txBody>
      </p:sp>
      <p:sp>
        <p:nvSpPr>
          <p:cNvPr id="108" name="Badge"/>
          <p:cNvSpPr>
            <a:spLocks noGrp="1"/>
          </p:cNvSpPr>
          <p:nvPr/>
        </p:nvSpPr>
        <p:spPr>
          <a:xfrm>
            <a:off x="4612640" y="1699260"/>
            <a:ext cx="411480" cy="411480"/>
          </a:xfrm>
          <a:prstGeom prst="ellipse">
            <a:avLst/>
          </a:prstGeom>
          <a:solidFill>
            <a:srgbClr val="1484D6"/>
          </a:solidFill>
          <a:ln w="0">
            <a:noFill/>
          </a:ln>
        </p:spPr>
        <p:txBody>
          <a:bodyPr anchor="ctr"/>
          <a:lstStyle/>
          <a:p>
            <a:pPr algn="ctr">
              <a:defRPr sz="1600" b="1">
                <a:solidFill>
                  <a:srgbClr val="FFFFFF"/>
                </a:solidFill>
              </a:defRPr>
            </a:pPr>
            <a:r>
              <a:rPr sz="1600" b="1">
                <a:solidFill>
                  <a:srgbClr val="FFFFFF"/>
                </a:solidFill>
                <a:latin typeface="Georgia"/>
              </a:rPr>
              <a:t>2</a:t>
            </a:r>
          </a:p>
        </p:txBody>
      </p:sp>
      <p:sp>
        <p:nvSpPr>
          <p:cNvPr id="109" name="card-header"/>
          <p:cNvSpPr>
            <a:spLocks noGrp="1"/>
          </p:cNvSpPr>
          <p:nvPr/>
        </p:nvSpPr>
        <p:spPr>
          <a:xfrm>
            <a:off x="4612640" y="2238756"/>
            <a:ext cx="2966720" cy="620000"/>
          </a:xfrm>
          <a:prstGeom prst="rect">
            <a:avLst/>
          </a:prstGeom>
          <a:noFill/>
          <a:ln w="0">
            <a:noFill/>
            <a:prstDash val="solid"/>
          </a:ln>
        </p:spPr>
        <p:txBody>
          <a:bodyPr anchor="t">
            <a:noAutofit/>
          </a:bodyPr>
          <a:lstStyle/>
          <a:p>
            <a:pPr algn="l">
              <a:lnSpc>
                <a:spcPct val="112000"/>
              </a:lnSpc>
              <a:buNone/>
              <a:defRPr sz="1250" b="1" i="0">
                <a:solidFill>
                  <a:srgbClr val="1484D6"/>
                </a:solidFill>
                <a:latin typeface="Aptos"/>
                <a:ea typeface="Aptos"/>
                <a:cs typeface="Aptos"/>
              </a:defRPr>
            </a:pPr>
            <a:r>
              <a:rPr sz="1250" b="1">
                <a:solidFill>
                  <a:srgbClr val="1484D6"/>
                </a:solidFill>
                <a:latin typeface="Aptos"/>
                <a:ea typeface="Aptos"/>
                <a:cs typeface="Aptos"/>
              </a:rPr>
              <a:t>REMOTE DATABASE OPERATIONS</a:t>
            </a:r>
          </a:p>
        </p:txBody>
      </p:sp>
      <p:sp>
        <p:nvSpPr>
          <p:cNvPr id="110" name="card-body"/>
          <p:cNvSpPr>
            <a:spLocks noGrp="1"/>
          </p:cNvSpPr>
          <p:nvPr/>
        </p:nvSpPr>
        <p:spPr>
          <a:xfrm>
            <a:off x="4612640" y="2904476"/>
            <a:ext cx="2966720" cy="1388124"/>
          </a:xfrm>
          <a:prstGeom prst="rect">
            <a:avLst/>
          </a:prstGeom>
          <a:noFill/>
          <a:ln w="0">
            <a:noFill/>
            <a:prstDash val="solid"/>
          </a:ln>
        </p:spPr>
        <p:txBody>
          <a:bodyPr anchor="t">
            <a:noAutofit/>
          </a:bodyPr>
          <a:lstStyle/>
          <a:p>
            <a:pPr algn="l">
              <a:lnSpc>
                <a:spcPct val="112000"/>
              </a:lnSpc>
              <a:buNone/>
              <a:defRPr sz="1200" b="0" i="0">
                <a:solidFill>
                  <a:srgbClr val="5A5A5A"/>
                </a:solidFill>
                <a:latin typeface="Aptos"/>
                <a:ea typeface="Aptos"/>
                <a:cs typeface="Aptos"/>
              </a:defRPr>
            </a:pPr>
            <a:r>
              <a:rPr sz="1200" b="0">
                <a:solidFill>
                  <a:srgbClr val="5A5A5A"/>
                </a:solidFill>
                <a:latin typeface="Aptos"/>
                <a:ea typeface="Aptos"/>
                <a:cs typeface="Aptos"/>
              </a:rPr>
              <a:t>Built and ran a production database on a remote server from the terminal (Docker – PostgreSQL), designing the data model from scratch.</a:t>
            </a:r>
          </a:p>
        </p:txBody>
      </p:sp>
      <p:sp>
        <p:nvSpPr>
          <p:cNvPr id="111" name="Card BG"/>
          <p:cNvSpPr>
            <a:spLocks noGrp="1"/>
          </p:cNvSpPr>
          <p:nvPr/>
        </p:nvSpPr>
        <p:spPr>
          <a:xfrm>
            <a:off x="8082280" y="1424940"/>
            <a:ext cx="3515360" cy="3050540"/>
          </a:xfrm>
          <a:prstGeom prst="roundRect">
            <a:avLst>
              <a:gd name="adj" fmla="val 4500"/>
            </a:avLst>
          </a:prstGeom>
          <a:solidFill>
            <a:srgbClr val="F5EEFC"/>
          </a:solidFill>
          <a:ln w="19050">
            <a:solidFill>
              <a:srgbClr val="9552D0"/>
            </a:solidFill>
            <a:prstDash val="solid"/>
          </a:ln>
        </p:spPr>
        <p:txBody>
          <a:bodyPr/>
          <a:lstStyle/>
          <a:p>
            <a:endParaRPr lang="en-US" sz="1440"/>
          </a:p>
        </p:txBody>
      </p:sp>
      <p:sp>
        <p:nvSpPr>
          <p:cNvPr id="112" name="Badge"/>
          <p:cNvSpPr>
            <a:spLocks noGrp="1"/>
          </p:cNvSpPr>
          <p:nvPr/>
        </p:nvSpPr>
        <p:spPr>
          <a:xfrm>
            <a:off x="8356600" y="1699260"/>
            <a:ext cx="411480" cy="411480"/>
          </a:xfrm>
          <a:prstGeom prst="ellipse">
            <a:avLst/>
          </a:prstGeom>
          <a:solidFill>
            <a:srgbClr val="9552D0"/>
          </a:solidFill>
          <a:ln w="0">
            <a:noFill/>
          </a:ln>
        </p:spPr>
        <p:txBody>
          <a:bodyPr anchor="ctr"/>
          <a:lstStyle/>
          <a:p>
            <a:pPr algn="ctr">
              <a:defRPr sz="1600" b="1">
                <a:solidFill>
                  <a:srgbClr val="FFFFFF"/>
                </a:solidFill>
              </a:defRPr>
            </a:pPr>
            <a:r>
              <a:rPr sz="1600" b="1">
                <a:solidFill>
                  <a:srgbClr val="FFFFFF"/>
                </a:solidFill>
                <a:latin typeface="Georgia"/>
              </a:rPr>
              <a:t>3</a:t>
            </a:r>
          </a:p>
        </p:txBody>
      </p:sp>
      <p:sp>
        <p:nvSpPr>
          <p:cNvPr id="113" name="card-header"/>
          <p:cNvSpPr>
            <a:spLocks noGrp="1"/>
          </p:cNvSpPr>
          <p:nvPr/>
        </p:nvSpPr>
        <p:spPr>
          <a:xfrm>
            <a:off x="8356600" y="2238756"/>
            <a:ext cx="2966720" cy="620000"/>
          </a:xfrm>
          <a:prstGeom prst="rect">
            <a:avLst/>
          </a:prstGeom>
          <a:noFill/>
          <a:ln w="0">
            <a:noFill/>
            <a:prstDash val="solid"/>
          </a:ln>
        </p:spPr>
        <p:txBody>
          <a:bodyPr anchor="t">
            <a:noAutofit/>
          </a:bodyPr>
          <a:lstStyle/>
          <a:p>
            <a:pPr algn="l">
              <a:lnSpc>
                <a:spcPct val="112000"/>
              </a:lnSpc>
              <a:buNone/>
              <a:defRPr sz="1250" b="1" i="0">
                <a:solidFill>
                  <a:srgbClr val="9552D0"/>
                </a:solidFill>
                <a:latin typeface="Aptos"/>
                <a:ea typeface="Aptos"/>
                <a:cs typeface="Aptos"/>
              </a:defRPr>
            </a:pPr>
            <a:r>
              <a:rPr sz="1250" b="1">
                <a:solidFill>
                  <a:srgbClr val="9552D0"/>
                </a:solidFill>
                <a:latin typeface="Aptos"/>
                <a:ea typeface="Aptos"/>
                <a:cs typeface="Aptos"/>
              </a:rPr>
              <a:t>FIELD-READY DEPLOYMENT</a:t>
            </a:r>
          </a:p>
        </p:txBody>
      </p:sp>
      <p:sp>
        <p:nvSpPr>
          <p:cNvPr id="114" name="card-body"/>
          <p:cNvSpPr>
            <a:spLocks noGrp="1"/>
          </p:cNvSpPr>
          <p:nvPr/>
        </p:nvSpPr>
        <p:spPr>
          <a:xfrm>
            <a:off x="8356600" y="2904476"/>
            <a:ext cx="2966720" cy="1388124"/>
          </a:xfrm>
          <a:prstGeom prst="rect">
            <a:avLst/>
          </a:prstGeom>
          <a:noFill/>
          <a:ln w="0">
            <a:noFill/>
            <a:prstDash val="solid"/>
          </a:ln>
        </p:spPr>
        <p:txBody>
          <a:bodyPr anchor="t">
            <a:noAutofit/>
          </a:bodyPr>
          <a:lstStyle/>
          <a:p>
            <a:pPr algn="l">
              <a:lnSpc>
                <a:spcPct val="112000"/>
              </a:lnSpc>
              <a:buNone/>
              <a:defRPr sz="1200" b="0" i="0">
                <a:solidFill>
                  <a:srgbClr val="5A5A5A"/>
                </a:solidFill>
                <a:latin typeface="Aptos"/>
                <a:ea typeface="Aptos"/>
                <a:cs typeface="Aptos"/>
              </a:defRPr>
            </a:pPr>
            <a:r>
              <a:rPr sz="1200" b="0">
                <a:solidFill>
                  <a:srgbClr val="5A5A5A"/>
                </a:solidFill>
                <a:latin typeface="Aptos"/>
                <a:ea typeface="Aptos"/>
                <a:cs typeface="Aptos"/>
              </a:rPr>
              <a:t>Turned the result into a working Streamlit app usable in the field — the part I'm proudest of.</a:t>
            </a:r>
          </a:p>
        </p:txBody>
      </p:sp>
      <p:sp>
        <p:nvSpPr>
          <p:cNvPr id="115" name="Card BG"/>
          <p:cNvSpPr>
            <a:spLocks noGrp="1"/>
          </p:cNvSpPr>
          <p:nvPr/>
        </p:nvSpPr>
        <p:spPr>
          <a:xfrm>
            <a:off x="594360" y="4704080"/>
            <a:ext cx="11003280" cy="1711960"/>
          </a:xfrm>
          <a:prstGeom prst="roundRect">
            <a:avLst>
              <a:gd name="adj" fmla="val 4500"/>
            </a:avLst>
          </a:prstGeom>
          <a:solidFill>
            <a:srgbClr val="FDF0E1"/>
          </a:solidFill>
          <a:ln w="19050">
            <a:solidFill>
              <a:srgbClr val="EF7D00"/>
            </a:solidFill>
            <a:prstDash val="solid"/>
          </a:ln>
        </p:spPr>
        <p:txBody>
          <a:bodyPr/>
          <a:lstStyle/>
          <a:p>
            <a:endParaRPr lang="en-US" sz="1440"/>
          </a:p>
        </p:txBody>
      </p:sp>
      <p:sp>
        <p:nvSpPr>
          <p:cNvPr id="116" name="regret-header"/>
          <p:cNvSpPr>
            <a:spLocks noGrp="1"/>
          </p:cNvSpPr>
          <p:nvPr/>
        </p:nvSpPr>
        <p:spPr>
          <a:xfrm>
            <a:off x="868680" y="4932680"/>
            <a:ext cx="3000000" cy="320040"/>
          </a:xfrm>
          <a:prstGeom prst="rect">
            <a:avLst/>
          </a:prstGeom>
          <a:noFill/>
          <a:ln w="0">
            <a:noFill/>
            <a:prstDash val="solid"/>
          </a:ln>
        </p:spPr>
        <p:txBody>
          <a:bodyPr anchor="t">
            <a:noAutofit/>
          </a:bodyPr>
          <a:lstStyle/>
          <a:p>
            <a:pPr algn="l">
              <a:lnSpc>
                <a:spcPct val="112000"/>
              </a:lnSpc>
              <a:buNone/>
              <a:defRPr sz="1250" b="1" i="0">
                <a:solidFill>
                  <a:srgbClr val="EF7D00"/>
                </a:solidFill>
                <a:latin typeface="Aptos"/>
                <a:ea typeface="Aptos"/>
                <a:cs typeface="Aptos"/>
              </a:defRPr>
            </a:pPr>
            <a:r>
              <a:rPr sz="1250" b="1">
                <a:solidFill>
                  <a:srgbClr val="EF7D00"/>
                </a:solidFill>
                <a:latin typeface="Aptos"/>
                <a:ea typeface="Aptos"/>
                <a:cs typeface="Aptos"/>
              </a:rPr>
              <a:t>WHAT'S STILL UNDONE</a:t>
            </a:r>
          </a:p>
        </p:txBody>
      </p:sp>
      <p:sp>
        <p:nvSpPr>
          <p:cNvPr id="117" name="regret-body"/>
          <p:cNvSpPr>
            <a:spLocks noGrp="1"/>
          </p:cNvSpPr>
          <p:nvPr/>
        </p:nvSpPr>
        <p:spPr>
          <a:xfrm>
            <a:off x="868680" y="5298440"/>
            <a:ext cx="10454640" cy="934720"/>
          </a:xfrm>
          <a:prstGeom prst="rect">
            <a:avLst/>
          </a:prstGeom>
          <a:noFill/>
          <a:ln w="0">
            <a:noFill/>
            <a:prstDash val="solid"/>
          </a:ln>
        </p:spPr>
        <p:txBody>
          <a:bodyPr anchor="t">
            <a:noAutofit/>
          </a:bodyPr>
          <a:lstStyle/>
          <a:p>
            <a:pPr algn="l">
              <a:lnSpc>
                <a:spcPct val="112000"/>
              </a:lnSpc>
              <a:buNone/>
              <a:defRPr sz="1200" b="0" i="0">
                <a:solidFill>
                  <a:srgbClr val="5A5A5A"/>
                </a:solidFill>
                <a:latin typeface="Aptos"/>
                <a:ea typeface="Aptos"/>
                <a:cs typeface="Aptos"/>
              </a:defRPr>
            </a:pPr>
            <a:r>
              <a:rPr sz="1200" b="0" dirty="0">
                <a:solidFill>
                  <a:srgbClr val="5A5A5A"/>
                </a:solidFill>
                <a:latin typeface="Aptos"/>
                <a:ea typeface="Aptos"/>
                <a:cs typeface="Aptos"/>
              </a:rPr>
              <a:t>The original goal was to find </a:t>
            </a:r>
            <a:r>
              <a:rPr sz="1200" b="1" dirty="0">
                <a:solidFill>
                  <a:srgbClr val="5A5A5A"/>
                </a:solidFill>
                <a:latin typeface="Aptos"/>
                <a:ea typeface="Aptos"/>
                <a:cs typeface="Aptos"/>
              </a:rPr>
              <a:t>a biomarker clinically usable in the ICU</a:t>
            </a:r>
            <a:r>
              <a:rPr sz="1200" b="0" dirty="0">
                <a:solidFill>
                  <a:srgbClr val="5A5A5A"/>
                </a:solidFill>
                <a:latin typeface="Aptos"/>
                <a:ea typeface="Aptos"/>
                <a:cs typeface="Aptos"/>
              </a:rPr>
              <a:t>. That target wasn't reached — the four-phenotype trajectory model describes risk direction, but it isn't yet a validated bedside biomarker.</a:t>
            </a:r>
          </a:p>
        </p:txBody>
      </p:sp>
      <p:sp>
        <p:nvSpPr>
          <p:cNvPr id="118" name="Footer Line"/>
          <p:cNvSpPr>
            <a:spLocks noGrp="1"/>
          </p:cNvSpPr>
          <p:nvPr/>
        </p:nvSpPr>
        <p:spPr>
          <a:xfrm>
            <a:off x="609600" y="6507480"/>
            <a:ext cx="10972800" cy="0"/>
          </a:xfrm>
          <a:prstGeom prst="line">
            <a:avLst/>
          </a:prstGeom>
          <a:noFill/>
          <a:ln w="9525">
            <a:solidFill>
              <a:srgbClr val="DDDDDD"/>
            </a:solidFill>
            <a:prstDash val="solid"/>
          </a:ln>
        </p:spPr>
        <p:txBody>
          <a:bodyPr/>
          <a:lstStyle/>
          <a:p>
            <a:endParaRPr lang="en-US" sz="1440"/>
          </a:p>
        </p:txBody>
      </p:sp>
      <p:sp>
        <p:nvSpPr>
          <p:cNvPr id="119" name="footer-text"/>
          <p:cNvSpPr>
            <a:spLocks noGrp="1"/>
          </p:cNvSpPr>
          <p:nvPr/>
        </p:nvSpPr>
        <p:spPr>
          <a:xfrm>
            <a:off x="624840" y="6568440"/>
            <a:ext cx="5791200" cy="167640"/>
          </a:xfrm>
          <a:prstGeom prst="rect">
            <a:avLst/>
          </a:prstGeom>
          <a:noFill/>
          <a:ln w="0">
            <a:noFill/>
            <a:prstDash val="solid"/>
          </a:ln>
        </p:spPr>
        <p:txBody>
          <a:bodyPr anchor="t">
            <a:noAutofit/>
          </a:bodyPr>
          <a:lstStyle/>
          <a:p>
            <a:pPr algn="l">
              <a:lnSpc>
                <a:spcPct val="112000"/>
              </a:lnSpc>
              <a:buNone/>
              <a:defRPr sz="975" b="0" i="0">
                <a:solidFill>
                  <a:srgbClr val="777777"/>
                </a:solidFill>
                <a:latin typeface="Aptos"/>
                <a:ea typeface="Aptos"/>
                <a:cs typeface="Aptos"/>
              </a:defRPr>
            </a:pPr>
            <a:r>
              <a:rPr sz="975" b="0">
                <a:solidFill>
                  <a:srgbClr val="777777"/>
                </a:solidFill>
                <a:latin typeface="Aptos"/>
                <a:ea typeface="Aptos"/>
                <a:cs typeface="Aptos"/>
              </a:rPr>
              <a:t>MIMIC-IV first-24-hour biochemical trajectory study</a:t>
            </a:r>
          </a:p>
        </p:txBody>
      </p:sp>
      <p:sp>
        <p:nvSpPr>
          <p:cNvPr id="120" name="page-num"/>
          <p:cNvSpPr>
            <a:spLocks noGrp="1"/>
          </p:cNvSpPr>
          <p:nvPr/>
        </p:nvSpPr>
        <p:spPr>
          <a:xfrm>
            <a:off x="11163300" y="6568440"/>
            <a:ext cx="381000" cy="167640"/>
          </a:xfrm>
          <a:prstGeom prst="rect">
            <a:avLst/>
          </a:prstGeom>
          <a:noFill/>
          <a:ln w="0">
            <a:noFill/>
            <a:prstDash val="solid"/>
          </a:ln>
        </p:spPr>
        <p:txBody>
          <a:bodyPr anchor="t">
            <a:noAutofit/>
          </a:bodyPr>
          <a:lstStyle/>
          <a:p>
            <a:pPr algn="r">
              <a:lnSpc>
                <a:spcPct val="112000"/>
              </a:lnSpc>
              <a:buNone/>
              <a:defRPr sz="975" b="0" i="0">
                <a:solidFill>
                  <a:srgbClr val="777777"/>
                </a:solidFill>
                <a:latin typeface="Aptos"/>
                <a:ea typeface="Aptos"/>
                <a:cs typeface="Aptos"/>
              </a:defRPr>
            </a:pPr>
            <a:r>
              <a:rPr sz="975" b="0">
                <a:solidFill>
                  <a:srgbClr val="777777"/>
                </a:solidFill>
                <a:latin typeface="Aptos"/>
                <a:ea typeface="Aptos"/>
                <a:cs typeface="Aptos"/>
              </a:rPr>
              <a:t>16</a:t>
            </a:r>
          </a:p>
        </p:txBody>
      </p:sp>
    </p:spTree>
    <p:extLst>
      <p:ext uri="{BB962C8B-B14F-4D97-AF65-F5344CB8AC3E}">
        <p14:creationId xmlns:p14="http://schemas.microsoft.com/office/powerpoint/2010/main" val="12345678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3284889"/>
      </p:ext>
    </p:extLst>
  </p:cSld>
  <p:clrMapOvr>
    <a:masterClrMapping/>
  </p:clrMapOvr>
</p:sld>
</file>

<file path=ppt/theme/theme1.xml><?xml version="1.0" encoding="utf-8"?>
<a:theme xmlns:a="http://schemas.openxmlformats.org/drawingml/2006/main" name="SplashVTI">
  <a:themeElements>
    <a:clrScheme name="Custom 11">
      <a:dk1>
        <a:srgbClr val="262626"/>
      </a:dk1>
      <a:lt1>
        <a:sysClr val="window" lastClr="FFFFFF"/>
      </a:lt1>
      <a:dk2>
        <a:srgbClr val="2F333D"/>
      </a:dk2>
      <a:lt2>
        <a:srgbClr val="E9F3F3"/>
      </a:lt2>
      <a:accent1>
        <a:srgbClr val="1EBE9B"/>
      </a:accent1>
      <a:accent2>
        <a:srgbClr val="FD8686"/>
      </a:accent2>
      <a:accent3>
        <a:srgbClr val="0AC8AD"/>
      </a:accent3>
      <a:accent4>
        <a:srgbClr val="E69500"/>
      </a:accent4>
      <a:accent5>
        <a:srgbClr val="EC4E70"/>
      </a:accent5>
      <a:accent6>
        <a:srgbClr val="794DFF"/>
      </a:accent6>
      <a:hlink>
        <a:srgbClr val="3E8FF1"/>
      </a:hlink>
      <a:folHlink>
        <a:srgbClr val="939393"/>
      </a:folHlink>
    </a:clrScheme>
    <a:fontScheme name="Custom 23">
      <a:majorFont>
        <a:latin typeface="Posterama"/>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plashVTI" id="{CD38C481-21EC-466B-953B-A1440B42712A}" vid="{D3E4813C-1D98-48C2-AF59-2D0D78E2550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106</TotalTime>
  <Words>3213</Words>
  <Application>Microsoft Macintosh PowerPoint</Application>
  <PresentationFormat>Widescreen</PresentationFormat>
  <Paragraphs>486</Paragraphs>
  <Slides>17</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Arial</vt:lpstr>
      <vt:lpstr>Avenir Next LT Pro</vt:lpstr>
      <vt:lpstr>Georgia</vt:lpstr>
      <vt:lpstr>Posterama</vt:lpstr>
      <vt:lpstr>SplashVTI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Name of the project</dc:title>
  <dc:creator>Siju Philip</dc:creator>
  <cp:lastModifiedBy>Donghwan Won</cp:lastModifiedBy>
  <cp:revision>13</cp:revision>
  <dcterms:created xsi:type="dcterms:W3CDTF">2023-10-31T05:50:05Z</dcterms:created>
  <dcterms:modified xsi:type="dcterms:W3CDTF">2026-08-05T17:25:26Z</dcterms:modified>
</cp:coreProperties>
</file>