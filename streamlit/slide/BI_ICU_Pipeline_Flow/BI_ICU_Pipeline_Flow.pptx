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40"/>
  </p:normalViewPr>
  <p:slideViewPr>
    <p:cSldViewPr snapToGrid="0" snapToObjects="1">
      <p:cViewPr varScale="1">
        <p:scale>
          <a:sx n="116" d="100"/>
          <a:sy n="116" d="100"/>
        </p:scale>
        <p:origin x="6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200">
                <a:solidFill>
                  <a:srgbClr val="1F6FA8"/>
                </a:solidFill>
                <a:latin typeface="Calibri"/>
              </a:rPr>
              <a:t>BUSINESS NEEDS · WHY THIS PROJECT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ICU teams already hold the data. What they lack is direction — and a way to choose where to concentrate finite attention.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521207"/>
            <a:ext cx="137160" cy="137160"/>
          </a:xfrm>
          <a:prstGeom prst="ellipse">
            <a:avLst/>
          </a:prstGeom>
          <a:solidFill>
            <a:srgbClr val="1F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55096" y="521207"/>
            <a:ext cx="137160" cy="137160"/>
          </a:xfrm>
          <a:prstGeom prst="ellipse">
            <a:avLst/>
          </a:prstGeom>
          <a:solidFill>
            <a:srgbClr val="7C4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74552" y="521207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521207"/>
            <a:ext cx="137160" cy="13716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AF4FB"/>
          </a:solidFill>
          <a:ln w="12700">
            <a:solidFill>
              <a:srgbClr val="8EC9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0664" y="2075688"/>
            <a:ext cx="420624" cy="420624"/>
          </a:xfrm>
          <a:prstGeom prst="ellipse">
            <a:avLst/>
          </a:prstGeom>
          <a:solidFill>
            <a:srgbClr val="1F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Two data 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Every ICU stay produces two kinds of numbers: vital signs streaming off the monitor, and laboratory values from blood draws. Vitals describe where the patient is at this moment.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6FA8"/>
                </a:solidFill>
                <a:latin typeface="Calibri"/>
              </a:rPr>
              <a:t>Vital factors · Lab factors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408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CE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1F6FA8"/>
                </a:solidFill>
                <a:latin typeface="Calibri"/>
              </a:rPr>
              <a:t>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626864"/>
            <a:ext cx="23408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A3F4A"/>
                </a:solidFill>
                <a:latin typeface="Calibri"/>
              </a:rPr>
              <a:t>Only the labs carry biochemistry — perfusion, renal function, inflammation, coagulation — so only the labs can show which way the physiology is actually moving.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Lactate · creatinine · WBC · platelets are already drawn serially in almost every ICU, so no new data collection is required.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94760" y="3127248"/>
            <a:ext cx="640080" cy="0"/>
          </a:xfrm>
          <a:prstGeom prst="line">
            <a:avLst/>
          </a:prstGeom>
          <a:ln w="28575">
            <a:solidFill>
              <a:srgbClr val="8E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3484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AF4FB"/>
          </a:solidFill>
          <a:ln w="12700">
            <a:solidFill>
              <a:srgbClr val="8EC9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72583" y="2075688"/>
            <a:ext cx="420624" cy="420624"/>
          </a:xfrm>
          <a:prstGeom prst="ellipse">
            <a:avLst/>
          </a:prstGeom>
          <a:solidFill>
            <a:srgbClr val="1F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72583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blind spot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3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Give a nurse two patients' lab panels from the same hour and nothing in those numbers says which one is improving and which is deteriorating. A single value has no direction.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72583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6FA8"/>
                </a:solidFill>
                <a:latin typeface="Calibri"/>
              </a:rPr>
              <a:t>One lab value carries no direction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636007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CE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36007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1F6FA8"/>
                </a:solidFill>
                <a:latin typeface="Calibri"/>
              </a:rPr>
              <a:t>WHY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7" y="4626864"/>
            <a:ext cx="23408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A3F4A"/>
                </a:solidFill>
                <a:latin typeface="Calibri"/>
              </a:rPr>
              <a:t>Admission severity scores describe where a patient is, not where they are heading — two patients with identical scores can be moving in opposite directions.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7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This is the gap the project addresses: turn the first 24 hours of change into something readable at a glance.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26679" y="3127248"/>
            <a:ext cx="640081" cy="0"/>
          </a:xfrm>
          <a:prstGeom prst="line">
            <a:avLst/>
          </a:prstGeom>
          <a:ln w="28575">
            <a:solidFill>
              <a:srgbClr val="8EC9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6676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AF4FB"/>
          </a:solidFill>
          <a:ln w="12700">
            <a:solidFill>
              <a:srgbClr val="8EC9F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04504" y="2075688"/>
            <a:ext cx="420624" cy="420624"/>
          </a:xfrm>
          <a:prstGeom prst="ellipse">
            <a:avLst/>
          </a:prstGeom>
          <a:solidFill>
            <a:srgbClr val="1F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0450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Focus limited resources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450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Attention, beds and senior review are finite. If the direction of change collapses into one interpretable label, that label can decide who the team looks at first.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0450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CE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3252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F6FA8"/>
                </a:solidFill>
                <a:latin typeface="Calibri"/>
              </a:rPr>
              <a:t>Concentrate care where it changes outcomes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56792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CE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6792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1F6FA8"/>
                </a:solidFill>
                <a:latin typeface="Calibri"/>
              </a:rPr>
              <a:t>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6568" y="4626864"/>
            <a:ext cx="23408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3A3F4A"/>
                </a:solidFill>
                <a:latin typeface="Calibri"/>
              </a:rPr>
              <a:t>Do the first-24-hour trajectories of four routine labs encode reproducible phenotypes that track short-term mortality?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04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Zero added cost — computed from labs the ICU already collects, and layered on top of SOFA/APACHE rather than replacing them.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658600" y="3127248"/>
            <a:ext cx="560527" cy="0"/>
          </a:xfrm>
          <a:prstGeom prst="line">
            <a:avLst/>
          </a:prstGeom>
          <a:ln w="28575">
            <a:solidFill>
              <a:srgbClr val="8E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Early Biochemical Trajectory Phenotypes · First 24 h of Intensive Care · MIMIC-IV v3.1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635508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sheet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200">
                <a:solidFill>
                  <a:srgbClr val="7C4DA8"/>
                </a:solidFill>
                <a:latin typeface="Calibri"/>
              </a:rPr>
              <a:t>DATA ENGINEERING · PHASE 1 –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Data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From the raw MIMIC-IV v3.1 relational schema to a validated, stay-level trajectory table.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521207"/>
            <a:ext cx="137160" cy="137160"/>
          </a:xfrm>
          <a:prstGeom prst="ellipse">
            <a:avLst/>
          </a:prstGeom>
          <a:solidFill>
            <a:srgbClr val="1F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55096" y="521207"/>
            <a:ext cx="137160" cy="137160"/>
          </a:xfrm>
          <a:prstGeom prst="ellipse">
            <a:avLst/>
          </a:prstGeom>
          <a:solidFill>
            <a:srgbClr val="7C4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74552" y="521207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521207"/>
            <a:ext cx="137160" cy="13716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-27432" y="3127248"/>
            <a:ext cx="530352" cy="0"/>
          </a:xfrm>
          <a:prstGeom prst="line">
            <a:avLst/>
          </a:prstGeom>
          <a:ln w="28575">
            <a:solidFill>
              <a:srgbClr val="C9A6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F4EDFA"/>
          </a:solidFill>
          <a:ln w="12700">
            <a:solidFill>
              <a:srgbClr val="C9A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0664" y="2075688"/>
            <a:ext cx="420624" cy="420624"/>
          </a:xfrm>
          <a:prstGeom prst="ellipse">
            <a:avLst/>
          </a:prstGeom>
          <a:solidFill>
            <a:srgbClr val="7C4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Database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Build the MIMIC-IV v3.1 schema (hosp · icu · derived) in Docker/PostgreSQL, then validate every table's row count against the published reference and the 100-patient 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4DA8"/>
                </a:solidFill>
                <a:latin typeface="Calibri"/>
              </a:rPr>
              <a:t>All tables PASS row-count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408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7C4DA8"/>
                </a:solidFill>
                <a:latin typeface="Calibri"/>
              </a:rP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create.sql · load_gz.sql · constraint.sql · index.sql · validate.sql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7C4DA8"/>
                </a:solidFill>
                <a:latin typeface="Calibri"/>
              </a:rPr>
              <a:t>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run_sql_pipeline.py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chartevents 432,997,491 and labevents 158,374,764 rows verified before any analysis ran.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3127248"/>
            <a:ext cx="640080" cy="0"/>
          </a:xfrm>
          <a:prstGeom prst="line">
            <a:avLst/>
          </a:prstGeom>
          <a:ln w="28575">
            <a:solidFill>
              <a:srgbClr val="C9A6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3484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F4EDFA"/>
          </a:solidFill>
          <a:ln w="12700">
            <a:solidFill>
              <a:srgbClr val="C9A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72583" y="2075688"/>
            <a:ext cx="420624" cy="420624"/>
          </a:xfrm>
          <a:prstGeom prst="ellipse">
            <a:avLst/>
          </a:prstGeom>
          <a:solidFill>
            <a:srgbClr val="7C4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2583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Cohort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3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Filter to adult ICU stays — age ≥ 18 and ICU length of stay ≥ 24 h — and attach 1-, 3- and 7-day mortality labels.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72583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4DA8"/>
                </a:solidFill>
                <a:latin typeface="Calibri"/>
              </a:rPr>
              <a:t>74,829 stays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636007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6007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7C4DA8"/>
                </a:solidFill>
                <a:latin typeface="Calibri"/>
              </a:rPr>
              <a:t>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7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01_validation.sql · 02_cohort.sql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36007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36007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7C4DA8"/>
                </a:solidFill>
                <a:latin typeface="Calibri"/>
              </a:rPr>
              <a:t>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647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13_temporal_features.py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7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Half-open mortality intervals, so no death is counted twice across the three horizons.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26679" y="3127248"/>
            <a:ext cx="640081" cy="0"/>
          </a:xfrm>
          <a:prstGeom prst="line">
            <a:avLst/>
          </a:prstGeom>
          <a:ln w="28575">
            <a:solidFill>
              <a:srgbClr val="C9A6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36676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F4EDFA"/>
          </a:solidFill>
          <a:ln w="12700">
            <a:solidFill>
              <a:srgbClr val="C9A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604504" y="2075688"/>
            <a:ext cx="420624" cy="420624"/>
          </a:xfrm>
          <a:prstGeom prst="ellipse">
            <a:avLst/>
          </a:prstGeom>
          <a:solidFill>
            <a:srgbClr val="7C4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0450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Feature engineering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450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Extract first-24h vitals and labs; build the stay-level trajectory table with deterministic first/last selection and guarded percent-change arithmetic.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0450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3252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4DA8"/>
                </a:solidFill>
                <a:latin typeface="Calibri"/>
              </a:rPr>
              <a:t>19,562,032 rows → 8 core variables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6792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6792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7C4DA8"/>
                </a:solidFill>
                <a:latin typeface="Calibri"/>
              </a:rPr>
              <a:t>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16568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03_vitals.sql · 04_labs.sql · 05_trajectory.sql · 14_outcome_labels.sql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7928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EAD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67928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7C4DA8"/>
                </a:solidFill>
                <a:latin typeface="Calibri"/>
              </a:rPr>
              <a:t>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16568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11_feature_engineering.py · 12_feature_wide.py · 14_outcome_labels.py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473 raw labels unified into one long-format table; 4 markers × [initial value, normalized change].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1658600" y="3127248"/>
            <a:ext cx="560527" cy="0"/>
          </a:xfrm>
          <a:prstGeom prst="line">
            <a:avLst/>
          </a:prstGeom>
          <a:ln w="28575">
            <a:solidFill>
              <a:srgbClr val="C9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Early Biochemical Trajectory Phenotypes · First 24 h of Intensive Care · MIMIC-IV v3.1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635508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sheet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200">
                <a:solidFill>
                  <a:srgbClr val="2E8B57"/>
                </a:solidFill>
                <a:latin typeface="Calibri"/>
              </a:rPr>
              <a:t>STATISTICS &amp; ML · PHASE 4 –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Evaluation &amp; phenotyping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Screen the features, then let unsupervised clustering find the trajectory phenotypes.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521207"/>
            <a:ext cx="137160" cy="137160"/>
          </a:xfrm>
          <a:prstGeom prst="ellipse">
            <a:avLst/>
          </a:prstGeom>
          <a:solidFill>
            <a:srgbClr val="1F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55096" y="521207"/>
            <a:ext cx="137160" cy="137160"/>
          </a:xfrm>
          <a:prstGeom prst="ellipse">
            <a:avLst/>
          </a:prstGeom>
          <a:solidFill>
            <a:srgbClr val="7C4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74552" y="521207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521207"/>
            <a:ext cx="137160" cy="13716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-27432" y="3127248"/>
            <a:ext cx="530352" cy="0"/>
          </a:xfrm>
          <a:prstGeom prst="line">
            <a:avLst/>
          </a:prstGeom>
          <a:ln w="28575">
            <a:solidFill>
              <a:srgbClr val="A8E6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BF7EA"/>
          </a:solidFill>
          <a:ln w="12700">
            <a:solidFill>
              <a:srgbClr val="A8E6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0664" y="2075688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Data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Distributions, missingness and 1.5×IQR outlier flags; winsorize at the 1st/99th percentile, median-impute, robust-scale; carve out the complete-case cohort.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8B57"/>
                </a:solidFill>
                <a:latin typeface="Calibri"/>
              </a:rPr>
              <a:t>24,799 eligible · 24,034 complete-case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408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07_missingness.sql · 08_variable_distribution.sql · 09_outlier_detection.sql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17_clustering_preprocessing.py · 21B_trajectory_cohort_selection.py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67% attrition from the eligibility filter — the phenotyped population is more monitored, and often sicker, than all ICU stays.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3127248"/>
            <a:ext cx="640080" cy="0"/>
          </a:xfrm>
          <a:prstGeom prst="line">
            <a:avLst/>
          </a:prstGeom>
          <a:ln w="28575">
            <a:solidFill>
              <a:srgbClr val="A8E6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3484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BF7EA"/>
          </a:solidFill>
          <a:ln w="12700">
            <a:solidFill>
              <a:srgbClr val="A8E6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72583" y="2075688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2583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Clustering &amp; model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3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Explore HDBSCAN and Gaussian Mixture, then run K-means k = 2–6 on the 8-dim feature set; score silhouette, Calinski–Harabasz, Davies–Bouldin and smallest-cluster size.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72583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8B57"/>
                </a:solidFill>
                <a:latin typeface="Calibri"/>
              </a:rPr>
              <a:t>k = 2 · silhouette 0.385 · 76.3% / 23.7%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636007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6007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7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36007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36007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647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21A_trajectory_feature_engineering.py · 21C_trajectory_sensitivity_cohort.py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7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Two runs exist in the record (Step 22 vs. 22B) — 22B is canonical; retire Step 22.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26679" y="3127248"/>
            <a:ext cx="640081" cy="0"/>
          </a:xfrm>
          <a:prstGeom prst="line">
            <a:avLst/>
          </a:prstGeom>
          <a:ln w="28575">
            <a:solidFill>
              <a:srgbClr val="A8E6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36676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BF7EA"/>
          </a:solidFill>
          <a:ln w="12700">
            <a:solidFill>
              <a:srgbClr val="A8E6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604504" y="2075688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0450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Characterization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450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Mann–Whitney U tests per marker dimension, then a direction call (improving / stable / deteriorating) that gives each cluster a coherent clinical identity.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0450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3252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8B57"/>
                </a:solidFill>
                <a:latin typeface="Calibri"/>
              </a:rPr>
              <a:t>RBT vs. RIWT clinical signatures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6792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6792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16568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7928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67928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16568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22B_pure_trajectory_clustering.py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Silhouette 0.385 is modest, so the phenotypes are framed as risk stratification — not discrete biological subtypes.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1658600" y="3127248"/>
            <a:ext cx="560527" cy="0"/>
          </a:xfrm>
          <a:prstGeom prst="line">
            <a:avLst/>
          </a:prstGeom>
          <a:ln w="28575">
            <a:solidFill>
              <a:srgbClr val="A8E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Early Biochemical Trajectory Phenotypes · First 24 h of Intensive Care · MIMIC-IV v3.1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635508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sheet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200">
                <a:solidFill>
                  <a:srgbClr val="2E8B57"/>
                </a:solidFill>
                <a:latin typeface="Calibri"/>
              </a:rPr>
              <a:t>STATISTICS &amp; ML · PHASE 7 –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Outcome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Does phenotype membership actually track short-term mortality — and does it survive adjustment and re-running?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521207"/>
            <a:ext cx="137160" cy="137160"/>
          </a:xfrm>
          <a:prstGeom prst="ellipse">
            <a:avLst/>
          </a:prstGeom>
          <a:solidFill>
            <a:srgbClr val="1F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55096" y="521207"/>
            <a:ext cx="137160" cy="137160"/>
          </a:xfrm>
          <a:prstGeom prst="ellipse">
            <a:avLst/>
          </a:prstGeom>
          <a:solidFill>
            <a:srgbClr val="7C4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74552" y="521207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521207"/>
            <a:ext cx="137160" cy="13716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-27432" y="3127248"/>
            <a:ext cx="530352" cy="0"/>
          </a:xfrm>
          <a:prstGeom prst="line">
            <a:avLst/>
          </a:prstGeom>
          <a:ln w="28575">
            <a:solidFill>
              <a:srgbClr val="A8E6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BF7EA"/>
          </a:solidFill>
          <a:ln w="12700">
            <a:solidFill>
              <a:srgbClr val="A8E6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0664" y="2075688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Unadjusted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Cluster-specific event rates with relative risk, odds ratio, absolute risk difference, 95% CI and Fisher exact tests at 1, 3 and 7 days, RBT as reference.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8B57"/>
                </a:solidFill>
                <a:latin typeface="Calibri"/>
              </a:rPr>
              <a:t>7-day RR 1.37 (1.26–1.49)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408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14_outcome_labels.sql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23B_pure_trajectory_characterization.py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The 1-day endpoint overlaps the 24 h trajectory window, so it is reported as exploratory rather than confirmatory.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3127248"/>
            <a:ext cx="640080" cy="0"/>
          </a:xfrm>
          <a:prstGeom prst="line">
            <a:avLst/>
          </a:prstGeom>
          <a:ln w="28575">
            <a:solidFill>
              <a:srgbClr val="A8E6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3484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BF7EA"/>
          </a:solidFill>
          <a:ln w="12700">
            <a:solidFill>
              <a:srgbClr val="A8E6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72583" y="2075688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2583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Adjusted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3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Sequential logistic regression: RIWT alone, then + age and sex, + ICU type, + baseline biomarkers (Models 1–4).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72583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8B57"/>
                </a:solidFill>
                <a:latin typeface="Calibri"/>
              </a:rPr>
              <a:t>7-day OR 1.42 → 2.14 · AIC 15,663 → 13,068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636007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6007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7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36007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36007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647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24_clinical_outcome_validation.py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7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v1 silently failed the demographic join (Models 1–3 byte-identical) — caught and fixed as Step 26 V2.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26679" y="3127248"/>
            <a:ext cx="640081" cy="0"/>
          </a:xfrm>
          <a:prstGeom prst="line">
            <a:avLst/>
          </a:prstGeom>
          <a:ln w="28575">
            <a:solidFill>
              <a:srgbClr val="A8E6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36676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BF7EA"/>
          </a:solidFill>
          <a:ln w="12700">
            <a:solidFill>
              <a:srgbClr val="A8E6A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604504" y="2075688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0450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Sensitivity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450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Repeat the entire clustering and validation chain on the complete-case cohort (n = 24,034, no imputed trajectory feature).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0450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3252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E8B57"/>
                </a:solidFill>
                <a:latin typeface="Calibri"/>
              </a:rPr>
              <a:t>ARI 0.998 · 99.97% membership agreement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6792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6792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16568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7928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D6EF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67928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2E8B57"/>
                </a:solidFill>
                <a:latin typeface="Calibri"/>
              </a:rPr>
              <a:t>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16568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25_clinical_interpretation_framework.py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Complete-case 7-day RR 1.33 vs. 1.37 primary — the phenotypes are not an artifact of imputation.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1658600" y="3127248"/>
            <a:ext cx="560527" cy="0"/>
          </a:xfrm>
          <a:prstGeom prst="line">
            <a:avLst/>
          </a:prstGeom>
          <a:ln w="28575">
            <a:solidFill>
              <a:srgbClr val="A8E6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Early Biochemical Trajectory Phenotypes · First 24 h of Intensive Care · MIMIC-IV v3.1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635508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sheet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200">
                <a:solidFill>
                  <a:srgbClr val="B8860B"/>
                </a:solidFill>
                <a:latin typeface="Calibri"/>
              </a:rPr>
              <a:t>BI INTELLIGENCE · PHASE 10 –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Reporting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Consolidate what the pipeline found, then expose the phenotype where clinicians actually work.</a:t>
            </a:r>
          </a:p>
        </p:txBody>
      </p:sp>
      <p:sp>
        <p:nvSpPr>
          <p:cNvPr id="5" name="Oval 4"/>
          <p:cNvSpPr/>
          <p:nvPr/>
        </p:nvSpPr>
        <p:spPr>
          <a:xfrm>
            <a:off x="10835640" y="521207"/>
            <a:ext cx="137160" cy="137160"/>
          </a:xfrm>
          <a:prstGeom prst="ellipse">
            <a:avLst/>
          </a:prstGeom>
          <a:solidFill>
            <a:srgbClr val="1F6F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55096" y="521207"/>
            <a:ext cx="137160" cy="137160"/>
          </a:xfrm>
          <a:prstGeom prst="ellipse">
            <a:avLst/>
          </a:prstGeom>
          <a:solidFill>
            <a:srgbClr val="7C4D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74552" y="521207"/>
            <a:ext cx="137160" cy="1371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94008" y="521207"/>
            <a:ext cx="137160" cy="13716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-27432" y="3127248"/>
            <a:ext cx="530352" cy="0"/>
          </a:xfrm>
          <a:prstGeom prst="line">
            <a:avLst/>
          </a:prstGeom>
          <a:ln w="28575">
            <a:solidFill>
              <a:srgbClr val="FFF0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FDF8E2"/>
          </a:solidFill>
          <a:ln w="12700">
            <a:solidFill>
              <a:srgbClr val="FFF09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0664" y="2075688"/>
            <a:ext cx="420624" cy="420624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Review &amp;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Code-level review, a consolidated findings register ranked by severity, and the manuscript write-up with prioritized fixes.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F7E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8860B"/>
                </a:solidFill>
                <a:latin typeface="Calibri"/>
              </a:rPr>
              <a:t>Findings register + prioritized fixes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4088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F7E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B8860B"/>
                </a:solidFill>
                <a:latin typeface="Calibri"/>
              </a:rP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F7E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B8860B"/>
                </a:solidFill>
                <a:latin typeface="Calibri"/>
              </a:rPr>
              <a:t>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26_adjusted_clinical_validation.py  (V2)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Top open item: re-run Model 4 with SOFA or first-hour vitals in place of the four label-defining labs.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3127248"/>
            <a:ext cx="640080" cy="0"/>
          </a:xfrm>
          <a:prstGeom prst="line">
            <a:avLst/>
          </a:prstGeom>
          <a:ln w="28575">
            <a:solidFill>
              <a:srgbClr val="FFF0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3484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FDF8E2"/>
          </a:solidFill>
          <a:ln w="12700">
            <a:solidFill>
              <a:srgbClr val="FFF09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72583" y="2075688"/>
            <a:ext cx="420624" cy="420624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2583" y="2148839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2093976"/>
            <a:ext cx="22677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Business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3" y="2624327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Ship it as ICU Trajectory Intelligence — a bedside-facing early-warning view layered on existing severity scores, with inputs limited to four labs already drawn in routine care.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72583" y="3721608"/>
            <a:ext cx="2816352" cy="502920"/>
          </a:xfrm>
          <a:prstGeom prst="roundRect">
            <a:avLst>
              <a:gd name="adj" fmla="val 14545"/>
            </a:avLst>
          </a:prstGeom>
          <a:solidFill>
            <a:srgbClr val="F7E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372160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8860B"/>
                </a:solidFill>
                <a:latin typeface="Calibri"/>
              </a:rPr>
              <a:t>Triage flag — not a diagnosis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636007" y="465429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F7E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6007" y="465429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B8860B"/>
                </a:solidFill>
                <a:latin typeface="Calibri"/>
              </a:rPr>
              <a:t>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7" y="4626864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36007" y="510235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F7E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36007" y="51023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spc="60">
                <a:solidFill>
                  <a:srgbClr val="B8860B"/>
                </a:solidFill>
                <a:latin typeface="Calibri"/>
              </a:rPr>
              <a:t>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647" y="5074920"/>
            <a:ext cx="234086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A3F4A"/>
                </a:solidFill>
                <a:latin typeface="Consolas"/>
              </a:rPr>
              <a:t>streamlit_app.py · 26_model4_risk_app.py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7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Before clinical use: resolve the biomarker-adjustment caveat and complete external, multi-center validation.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Early Biochemical Trajectory Phenotypes · First 24 h of Intensive Care · MIMIC-IV v3.1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635508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sheet 5 of 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66760" y="1874519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04504" y="2093976"/>
            <a:ext cx="2816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6B7280"/>
                </a:solidFill>
                <a:latin typeface="Calibri"/>
              </a:rPr>
              <a:t>KEY METRICS AS EXECUTED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4504" y="2532887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Adult ICU cohort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50424" y="2532887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Calibri"/>
              </a:rPr>
              <a:t>74,829 stays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04504" y="2756915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Eligible / complete-case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0424" y="2756915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Calibri"/>
              </a:rPr>
              <a:t>24,799 / 24,034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04504" y="29809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k · silhouette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50424" y="2980944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Calibri"/>
              </a:rPr>
              <a:t>2 · 0.3845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4504" y="3204971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Calinski–H. · Davies–B.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50424" y="3204971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Calibri"/>
              </a:rPr>
              <a:t>5,708 · 1.275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04504" y="3428999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RBT / RIWT split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50424" y="3428999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Calibri"/>
              </a:rPr>
              <a:t>76.33% / 23.67%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04504" y="3653027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7-day mortality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50424" y="3653027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Calibri"/>
              </a:rPr>
              <a:t>8.85% → 12.11%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4504" y="3877055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7-day RR · OR (adj.)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50424" y="3877055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Calibri"/>
              </a:rPr>
              <a:t>1.37 · 2.14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04504" y="4101083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Reproducibility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50424" y="4101083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A1A1A"/>
                </a:solidFill>
                <a:latin typeface="Calibri"/>
              </a:rPr>
              <a:t>ARI 0.9981 · 99.97%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66760" y="4526280"/>
            <a:ext cx="3291840" cy="1051560"/>
          </a:xfrm>
          <a:prstGeom prst="roundRect">
            <a:avLst>
              <a:gd name="adj" fmla="val 6956"/>
            </a:avLst>
          </a:prstGeom>
          <a:solidFill>
            <a:srgbClr val="F7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67928" y="4672584"/>
            <a:ext cx="288950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3A3F4A"/>
                </a:solidFill>
                <a:latin typeface="Calibri"/>
              </a:rPr>
              <a:t>Reproducibility controls: fixed random seed, pinned n_init, numerical libraries forced to a single thread, silhouette scored on a fixed 5,000-stay subsample.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5048" y="5687568"/>
            <a:ext cx="325526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Every figure on these five sheets is reproducible from the numbered SQL + Python pipeline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1460</Words>
  <Application>Microsoft Macintosh PowerPoint</Application>
  <PresentationFormat>Widescreen</PresentationFormat>
  <Paragraphs>164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Donghwan Won</cp:lastModifiedBy>
  <cp:revision>1</cp:revision>
  <dcterms:created xsi:type="dcterms:W3CDTF">2013-01-27T09:14:16Z</dcterms:created>
  <dcterms:modified xsi:type="dcterms:W3CDTF">2026-08-07T20:32:49Z</dcterms:modified>
  <cp:category/>
</cp:coreProperties>
</file>